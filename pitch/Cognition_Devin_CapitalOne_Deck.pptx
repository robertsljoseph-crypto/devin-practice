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81" r:id="rId32"/>
    <p:sldId id="282" r:id="rId33"/>
    <p:sldId id="258" r:id="rId8"/>
    <p:sldId id="259" r:id="rId9"/>
    <p:sldId id="260" r:id="rId10"/>
    <p:sldId id="261" r:id="rId11"/>
    <p:sldId id="262" r:id="rId12"/>
    <p:sldId id="283" r:id="rId34"/>
    <p:sldId id="284" r:id="rId35"/>
    <p:sldId id="263" r:id="rId13"/>
    <p:sldId id="264" r:id="rId14"/>
    <p:sldId id="265" r:id="rId15"/>
    <p:sldId id="266" r:id="rId16"/>
    <p:sldId id="267" r:id="rId17"/>
    <p:sldId id="285" r:id="rId36"/>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1" roundtripDataSignature="AMtx7mjWhnMYQMSqADwLksjfXSSoTOa3A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customschemas.google.com/relationships/presentationmetadata" Target="metadata"/><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warmly. Thank the CTO/CISO for their time. Set the frame: 'This is a discovery conversation, not a demo. My goal is to understand your world first, then show only what is relevant.' Confirm time available and who is in the room.</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agenda quickly. Ask: 'Is there anything you want to make sure we cover, or anything you'd rather skip?' Adjust in real time. Emphasize that section 1 is the longest on purpose.</a:t>
            </a:r>
            <a:endParaRPr/>
          </a:p>
        </p:txBody>
      </p:sp>
      <p:sp>
        <p:nvSpPr>
          <p:cNvPr id="91" name="Google Shape;9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45b0e18ed2441d3a_0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h45b0e18ed2441d3a_0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Founded in 2023 by a team of competitive programming </a:t>
            </a:r>
            <a:r>
              <a:rPr lang="en-US" sz="1300">
                <a:solidFill>
                  <a:schemeClr val="dk1"/>
                </a:solidFill>
                <a:latin typeface="Times New Roman"/>
                <a:ea typeface="Times New Roman"/>
                <a:cs typeface="Times New Roman"/>
                <a:sym typeface="Times New Roman"/>
              </a:rPr>
              <a:t>champions</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Cognition has grown rapidly to become a leader in AI-powered software engineering</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Launched Devin in 2024—our flagship AI software engineer product that can autonomously handle real engineering work like investigating codebases, fixing bugs, and executing complex development workflows independently</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Expanded globally across multiple regions and customer bases, including Fortune 500 enterprises</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Crossed $1 billion in revenue as of September 2026—demonstrating product-market fit and strong enterprise adoption</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300">
                <a:solidFill>
                  <a:srgbClr val="1F4D78"/>
                </a:solidFill>
                <a:latin typeface="Times New Roman"/>
                <a:ea typeface="Times New Roman"/>
                <a:cs typeface="Times New Roman"/>
                <a:sym typeface="Times New Roman"/>
              </a:rPr>
              <a:t>Core Mission</a:t>
            </a:r>
            <a:endParaRPr sz="13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Build a collaborative team of AI teammates that genuinely expand what engineering teams can ship—not just assist individuals, but transform how teams work at scale</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Move beyond the "AI copilot" model (autocomplete and suggestions) to create true autonomous agents that take ownership of real work</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Empower engineering leaders to tackle bottlenecks that headcount alone cannot solve—modernization work, technical debt, and high-volume routine tasks</a:t>
            </a:r>
            <a:endParaRPr sz="1300">
              <a:solidFill>
                <a:schemeClr val="dk1"/>
              </a:solidFill>
              <a:latin typeface="Times New Roman"/>
              <a:ea typeface="Times New Roman"/>
              <a:cs typeface="Times New Roman"/>
              <a:sym typeface="Times New Roman"/>
            </a:endParaRPr>
          </a:p>
          <a:p>
            <a:pPr indent="0" lvl="0" marL="0" rtl="0" algn="l">
              <a:spcBef>
                <a:spcPts val="1500"/>
              </a:spcBef>
              <a:spcAft>
                <a:spcPts val="0"/>
              </a:spcAft>
              <a:buNone/>
            </a:pPr>
            <a:r>
              <a:t/>
            </a:r>
            <a:endParaRPr/>
          </a:p>
        </p:txBody>
      </p:sp>
      <p:sp>
        <p:nvSpPr>
          <p:cNvPr id="116" name="Google Shape;116;h45b0e18ed2441d3a_0_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'I'd like to spend the first 10-15 minutes listening.'</a:t>
            </a:r>
            <a:endParaRPr/>
          </a:p>
        </p:txBody>
      </p:sp>
      <p:sp>
        <p:nvSpPr>
          <p:cNvPr id="157" name="Google Shape;157;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45b0e18ed2441d3a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h45b0e18ed2441d3a_0_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Engineering Time Allocation Problem</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40% of engineering time is spent on maintenance rather than building new features or shipping roadmap items—this is a systemic drain on productivity</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Maintenance work is unglamorous but necessary: refactoring legacy code, fixing security vulnerabilities, updating deprecated dependencies, handling PR backlogs</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Technical Debt Economics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Technical debt has a profound cost to enterprises—not just in slowed velocity, but in risk, compliance exposure, and inability to modernize</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Legacy systems (COBOL, older monoliths) require specialized knowledge that's disappearing: 47% of organizations cannot find COBOL developers, 92% plan retirement by 2030</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Traditional COBOL modernization projects fail 68% of the time—they're complex, risky, and resource-intensive</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Onboarding &amp; Knowledge Gaps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New engineers take months to become productive in large, complex legacy codebases—they must learn undocumented systems, understand business logic embedded in code, and figure out architectural decisions made years ago</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Subject matter experts are bottlenecks: you need them to explain the system, answer questions, and validate changes—pulling them from other work</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Why Headcount Doesn't Solve This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Hiring more engineers doesn't automatically reduce the percentage of time spent on maintenance—it just scales the problem</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New hires still need to be onboarded, managed, and coordinated. The cost-per-engineer increases, but productivity gains diminish</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You need a multiplier on engineer capability and time allocation, not just more engineers</a:t>
            </a:r>
            <a:endParaRPr sz="1000">
              <a:solidFill>
                <a:schemeClr val="dk1"/>
              </a:solidFill>
              <a:latin typeface="Times New Roman"/>
              <a:ea typeface="Times New Roman"/>
              <a:cs typeface="Times New Roman"/>
              <a:sym typeface="Times New Roman"/>
            </a:endParaRPr>
          </a:p>
          <a:p>
            <a:pPr indent="0" lvl="0" marL="0" rtl="0" algn="l">
              <a:spcBef>
                <a:spcPts val="1500"/>
              </a:spcBef>
              <a:spcAft>
                <a:spcPts val="0"/>
              </a:spcAft>
              <a:buNone/>
            </a:pPr>
            <a:r>
              <a:t/>
            </a:r>
            <a:endParaRPr/>
          </a:p>
        </p:txBody>
      </p:sp>
      <p:sp>
        <p:nvSpPr>
          <p:cNvPr id="164" name="Google Shape;164;h45b0e18ed2441d3a_0_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 name="Google Shape;18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Reactive vs. Proactive Culture</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Teams are trapped in reactive mode: fighting fires, fixing bugs, addressing urgent requests—leaving little bandwidth for strategic roadmap work</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Maintenance work expands to fill the available time, crowding out innovation and long-term strategic initiatives</a:t>
            </a:r>
            <a:endParaRPr sz="12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Execution Bottleneck</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The real constraint is not ideas or strategy—it's execution capacity. Teams have roadmaps they can't ship because they don't have the engineering bandwidth</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Headcount constraints are real: hiring is expensive, long-term, and doesn't immediately increase productive capacity</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CTOs are looking for ways to multiply the output of their existing team, not just hire more people</a:t>
            </a:r>
            <a:endParaRPr sz="12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Compounding Technical Debt</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Technical debt doesn't stay static—it compounds. Delayed refactoring makes systems harder to modify, slowing velocity further</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This creates a vicious cycle: more debt means slower development, which means less time to address debt, which means more debt accumulates</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None/>
            </a:pPr>
            <a:r>
              <a:rPr lang="en-US" sz="1200">
                <a:solidFill>
                  <a:schemeClr val="dk1"/>
                </a:solidFill>
                <a:latin typeface="Times New Roman"/>
                <a:ea typeface="Times New Roman"/>
                <a:cs typeface="Times New Roman"/>
                <a:sym typeface="Times New Roman"/>
              </a:rPr>
              <a:t>• Engineering leaders feel the urgency but lack the resources to break the cycle</a:t>
            </a:r>
            <a:endParaRPr sz="1200"/>
          </a:p>
          <a:p>
            <a:pPr indent="0" lvl="0" marL="0" rtl="0" algn="l">
              <a:spcBef>
                <a:spcPts val="1500"/>
              </a:spcBef>
              <a:spcAft>
                <a:spcPts val="0"/>
              </a:spcAft>
              <a:buNone/>
            </a:pPr>
            <a:r>
              <a:t/>
            </a:r>
            <a:endParaRPr/>
          </a:p>
          <a:p>
            <a:pPr indent="0" lvl="0" marL="0" rtl="0" algn="l">
              <a:spcBef>
                <a:spcPts val="0"/>
              </a:spcBef>
              <a:spcAft>
                <a:spcPts val="0"/>
              </a:spcAft>
              <a:buNone/>
            </a:pPr>
            <a:r>
              <a:rPr lang="en-US"/>
              <a:t>Bridge: 'Does any of this resonate? Which one is loudest for you?' Do not move on until they have picked at least one. Their pick becomes the anchor for the rest of the deck.</a:t>
            </a:r>
            <a:endParaRPr/>
          </a:p>
        </p:txBody>
      </p:sp>
      <p:sp>
        <p:nvSpPr>
          <p:cNvPr id="184" name="Google Shape;18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the CTO: 'How many of your open tickets could be handed to a capable junior engineer with a clear spec?' That is the addressable pool.</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Gen 1: AI Copilots (Autocomplete)</a:t>
            </a:r>
            <a:endParaRPr sz="1300">
              <a:solidFill>
                <a:schemeClr val="dk1"/>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These assist individual developers in real-time within their IDE—providing code suggestions, completing variable names, generating simple functions</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They amplify the skills of experienced developers but require a human to direct every step: write the spec, review the suggestion, validate the output, run tests, handle failures</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Useful for individual productivity but doesn't solve the team bottleneck or free up senior engineers to focus on higher-value work</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Gen 2: Agentic AI Software Engineers (Devin)</a:t>
            </a:r>
            <a:endParaRPr sz="1300">
              <a:solidFill>
                <a:schemeClr val="dk1"/>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Devin is not an autocomplete tool. It's an agent you can actually delegate real engineering work to and walk away from</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You tag Devin in Slack/Linear/GitHub with a ticket ("Refactor the auth module" or "Fix security vulnerability XYZ"), and it plans, executes, tests, and opens a PR—autonomously</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Devin reads your codebase, understands your architecture, drafts an editable plan, executes code in an isolated sandbox, fixes failing CI/tests, self-reviews, and delivers a production-ready PR</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Runs async across your environment—doesn't require hand-holding or continuous supervision. Engineers can review the PR and merge it</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None/>
            </a:pPr>
            <a:r>
              <a:t/>
            </a:r>
            <a:endParaRPr/>
          </a:p>
        </p:txBody>
      </p:sp>
      <p:sp>
        <p:nvSpPr>
          <p:cNvPr id="218" name="Google Shape;21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1" name="Google Shape;24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If demoing live, this is the moment. Otherwise, walk a concrete example: 'Add is_debug() helper to a framework, with tests.' Emphasize the PR is the unit of delivery.</a:t>
            </a:r>
            <a:endParaRPr/>
          </a:p>
          <a:p>
            <a:pPr indent="0" lvl="0" marL="0" rtl="0" algn="l">
              <a:spcBef>
                <a:spcPts val="0"/>
              </a:spcBef>
              <a:spcAft>
                <a:spcPts val="0"/>
              </a:spcAft>
              <a:buNone/>
            </a:pPr>
            <a:r>
              <a:t/>
            </a:r>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Devin is Cognition's AI software engineer - an agent you can actually delegate a real engineering task to.</a:t>
            </a:r>
            <a:endParaRPr sz="1500">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It is a fully autonomous, cloud-based agent. what that means in practice is…you hand it a task — via chat, Slack, Linear, Jira, GitHub, or the API — and it works asynchronously in its own sandboxed environment (Linux shell, code editor, browser), planning, writing, testing, and shipping a pull request without a human watching every step.</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It plans the work, writes the code, tests it, and opens a pull request inside your existing GitHub, Slack, and Linear workflows — the same way a new hire would. </a:t>
            </a:r>
            <a:endParaRPr sz="1500">
              <a:solidFill>
                <a:schemeClr val="dk1"/>
              </a:solidFill>
            </a:endParaRPr>
          </a:p>
          <a:p>
            <a:pPr indent="0" lvl="0" marL="0" rtl="0" algn="l">
              <a:spcBef>
                <a:spcPts val="1500"/>
              </a:spcBef>
              <a:spcAft>
                <a:spcPts val="0"/>
              </a:spcAft>
              <a:buNone/>
            </a:pPr>
            <a:r>
              <a:t/>
            </a:r>
            <a:endParaRPr/>
          </a:p>
        </p:txBody>
      </p:sp>
      <p:sp>
        <p:nvSpPr>
          <p:cNvPr id="242" name="Google Shape;24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9" name="Google Shape;26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Desktop is for the engineer in the loop; Devin is for the work you want off your plate. Most customers start with Devin on a well-defined class of tasks.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And it's not just Devin the cloud agent — it's a full platform: </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lang="en-US" sz="1200">
                <a:solidFill>
                  <a:schemeClr val="dk1"/>
                </a:solidFill>
              </a:rPr>
              <a:t>Devin Desktop for local development with the Agent Command Center so you can manage local and cloud based agents, PRs in one place.</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lang="en-US" sz="1200">
                <a:solidFill>
                  <a:schemeClr val="dk1"/>
                </a:solidFill>
              </a:rPr>
              <a:t>There is also Devin Review for PR and visual QA, DeepWiki for auto-generated documentation </a:t>
            </a:r>
            <a:r>
              <a:rPr lang="en-US" sz="1100">
                <a:solidFill>
                  <a:schemeClr val="dk1"/>
                </a:solidFill>
              </a:rPr>
              <a:t>and architecture diagrams for any codebase</a:t>
            </a:r>
            <a:r>
              <a:rPr lang="en-US" sz="1200">
                <a:solidFill>
                  <a:schemeClr val="dk1"/>
                </a:solidFill>
              </a:rPr>
              <a:t>, </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t/>
            </a:r>
            <a:endParaRPr sz="1200">
              <a:solidFill>
                <a:schemeClr val="dk1"/>
              </a:solidFill>
            </a:endParaRPr>
          </a:p>
          <a:p>
            <a:pPr indent="0" lvl="0" marL="0" rtl="0" algn="l">
              <a:lnSpc>
                <a:spcPct val="115000"/>
              </a:lnSpc>
              <a:spcBef>
                <a:spcPts val="1500"/>
              </a:spcBef>
              <a:spcAft>
                <a:spcPts val="0"/>
              </a:spcAft>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304800" lvl="0" marL="457200" rtl="0" algn="l">
              <a:lnSpc>
                <a:spcPct val="115000"/>
              </a:lnSpc>
              <a:spcBef>
                <a:spcPts val="1500"/>
              </a:spcBef>
              <a:spcAft>
                <a:spcPts val="0"/>
              </a:spcAft>
              <a:buClr>
                <a:schemeClr val="dk1"/>
              </a:buClr>
              <a:buSzPts val="1200"/>
              <a:buChar char="●"/>
            </a:pPr>
            <a:r>
              <a:rPr lang="en-US" sz="1200">
                <a:solidFill>
                  <a:schemeClr val="dk1"/>
                </a:solidFill>
              </a:rPr>
              <a:t>We're so confident in the ROI that our Enterprise plan comes with a productivity guarantee — if Devin doesn't deliver more engineering value than you're paying for, we credit the difference, up to $10 million</a:t>
            </a:r>
            <a:endParaRPr sz="1500">
              <a:solidFill>
                <a:schemeClr val="dk1"/>
              </a:solidFill>
            </a:endParaRPr>
          </a:p>
          <a:p>
            <a:pPr indent="0" lvl="0" marL="0" rtl="0" algn="l">
              <a:spcBef>
                <a:spcPts val="1500"/>
              </a:spcBef>
              <a:spcAft>
                <a:spcPts val="0"/>
              </a:spcAft>
              <a:buNone/>
            </a:pPr>
            <a:r>
              <a:t/>
            </a:r>
            <a:endParaRPr/>
          </a:p>
        </p:txBody>
      </p:sp>
      <p:sp>
        <p:nvSpPr>
          <p:cNvPr id="270" name="Google Shape;27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the CTO: the reproducible environment is what separates a toy from an engineer. For migrations, parallelism is the headline: 1,000 repos in a week, not a year.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Where it really shines for large organizations is the unglamorous, high-volume work engineers dread: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legacy code migrations,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refactors,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security-vulnerability fixes, and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PR backlog.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Mercedes-Benz used it to cut an 8-month COBOL modernization down to 8 days.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Nubank saw an 8-to-12x efficiency gain refactoring a 6-million-line ETL monolith. </a:t>
            </a:r>
            <a:endParaRPr sz="1200">
              <a:solidFill>
                <a:schemeClr val="dk1"/>
              </a:solidFill>
            </a:endParaRPr>
          </a:p>
          <a:p>
            <a:pPr indent="0" lvl="0" marL="457200" rtl="0" algn="l">
              <a:spcBef>
                <a:spcPts val="1500"/>
              </a:spcBef>
              <a:spcAft>
                <a:spcPts val="0"/>
              </a:spcAft>
              <a:buNone/>
            </a:pPr>
            <a:r>
              <a:t/>
            </a:r>
            <a:endParaRPr/>
          </a:p>
          <a:p>
            <a:pPr indent="0" lvl="0" marL="457200" rtl="0" algn="l">
              <a:lnSpc>
                <a:spcPct val="115000"/>
              </a:lnSpc>
              <a:spcBef>
                <a:spcPts val="0"/>
              </a:spcBef>
              <a:spcAft>
                <a:spcPts val="0"/>
              </a:spcAft>
              <a:buClr>
                <a:schemeClr val="dk1"/>
              </a:buClr>
              <a:buSzPts val="1100"/>
              <a:buFont typeface="Arial"/>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0" lvl="0" marL="0" rtl="0" algn="l">
              <a:spcBef>
                <a:spcPts val="1500"/>
              </a:spcBef>
              <a:spcAft>
                <a:spcPts val="0"/>
              </a:spcAft>
              <a:buNone/>
            </a:pPr>
            <a:r>
              <a:t/>
            </a:r>
            <a:endParaRPr/>
          </a:p>
        </p:txBody>
      </p:sp>
      <p:sp>
        <p:nvSpPr>
          <p:cNvPr id="300" name="Google Shape;300;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Circle the one or two that match the pain they named. Say it explicitly: 'You mentioned the Java 8 migration. That is exactly the shape of work Devin does best.'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Where it really shines for large organizations is the unglamorous, high-volume work engineers dread: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legacy code migrations,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refactors,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security-vulnerability fixes, and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PR backlog.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Mercedes-Benz used it to cut an 8-month COBOL modernization down to 8 days.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Nubank saw an 8-to-12x efficiency gain refactoring a 6-million-line ETL monolith. </a:t>
            </a:r>
            <a:endParaRPr sz="1200">
              <a:solidFill>
                <a:schemeClr val="dk1"/>
              </a:solidFill>
            </a:endParaRPr>
          </a:p>
          <a:p>
            <a:pPr indent="0" lvl="0" marL="457200" rtl="0" algn="l">
              <a:spcBef>
                <a:spcPts val="1500"/>
              </a:spcBef>
              <a:spcAft>
                <a:spcPts val="0"/>
              </a:spcAft>
              <a:buClr>
                <a:schemeClr val="dk1"/>
              </a:buClr>
              <a:buSzPts val="1100"/>
              <a:buFont typeface="Arial"/>
              <a:buNone/>
            </a:pPr>
            <a:r>
              <a:t/>
            </a:r>
            <a:endParaRPr>
              <a:solidFill>
                <a:schemeClr val="dk1"/>
              </a:solidFill>
            </a:endParaRPr>
          </a:p>
          <a:p>
            <a:pPr indent="0" lvl="0" marL="457200" rtl="0" algn="l">
              <a:lnSpc>
                <a:spcPct val="115000"/>
              </a:lnSpc>
              <a:spcBef>
                <a:spcPts val="0"/>
              </a:spcBef>
              <a:spcAft>
                <a:spcPts val="0"/>
              </a:spcAft>
              <a:buClr>
                <a:schemeClr val="dk1"/>
              </a:buClr>
              <a:buSzPts val="1100"/>
              <a:buFont typeface="Arial"/>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0" lvl="0" marL="0" rtl="0" algn="l">
              <a:spcBef>
                <a:spcPts val="1500"/>
              </a:spcBef>
              <a:spcAft>
                <a:spcPts val="0"/>
              </a:spcAft>
              <a:buNone/>
            </a:pPr>
            <a:r>
              <a:t/>
            </a:r>
            <a:endParaRPr/>
          </a:p>
        </p:txBody>
      </p:sp>
      <p:sp>
        <p:nvSpPr>
          <p:cNvPr id="322" name="Google Shape;32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5" name="Google Shape;35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you show you are a partner, not a tool vendor. Tie step 1 back to the pain they named in discovery.</a:t>
            </a:r>
            <a:endParaRPr/>
          </a:p>
        </p:txBody>
      </p:sp>
      <p:sp>
        <p:nvSpPr>
          <p:cNvPr id="356" name="Google Shape;356;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Public case study on cognition.ai. Key line: 'The bank's engineers stayed in control; Devin did the volume.' Ties directly to the CISO's concern about oversight.</a:t>
            </a:r>
            <a:endParaRPr/>
          </a:p>
        </p:txBody>
      </p:sp>
      <p:sp>
        <p:nvSpPr>
          <p:cNvPr id="391" name="Google Shape;391;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9" name="Google Shape;409;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Choose the story closest to the prospect's industry and tell it in detail; mention the others in one sentence. Interview note: the Goldman Sachs pilot was reported publicly in July 2025; other details are drawn from Cognition's public customer references and should be refreshed before a real pitch.</a:t>
            </a:r>
            <a:endParaRPr/>
          </a:p>
        </p:txBody>
      </p:sp>
      <p:sp>
        <p:nvSpPr>
          <p:cNvPr id="410" name="Google Shape;410;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5" name="Google Shape;4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 not over-claim. Use the customer's own numbers from discovery: team size, toil %, fully loaded cost per engineer. Let them do the math out loud.</a:t>
            </a:r>
            <a:endParaRPr/>
          </a:p>
        </p:txBody>
      </p:sp>
      <p:sp>
        <p:nvSpPr>
          <p:cNvPr id="436" name="Google Shape;4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5" name="Google Shape;475;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ask concrete and small. Suggest specific dates. Confirm the sponsor in the room. Offer to send the security package today.</a:t>
            </a:r>
            <a:endParaRPr/>
          </a:p>
        </p:txBody>
      </p:sp>
      <p:sp>
        <p:nvSpPr>
          <p:cNvPr id="476" name="Google Shape;476;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a question, not a statement: 'Does a two-week window work for the security review? Who should I coordinate with on your side?' Then stop talking.</a:t>
            </a:r>
            <a:endParaRPr/>
          </a:p>
        </p:txBody>
      </p:sp>
      <p:sp>
        <p:nvSpPr>
          <p:cNvPr id="500" name="Google Shape;500;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h1bbba60e94861fb1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h1bbba60e94861fb1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6" name="Google Shape;51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 3-4 questions, do not read the slide. Listen for: migration projects, test debt, slow onboarding, senior engineers buried in review. Write down their exact words; you will echo them back in the proposal.</a:t>
            </a:r>
            <a:endParaRPr/>
          </a:p>
        </p:txBody>
      </p:sp>
      <p:sp>
        <p:nvSpPr>
          <p:cNvPr id="517" name="Google Shape;517;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the CISO, lead with respect for the concern. Surface deal-breakers early: data residency, training on code, deployment model. Note which controls are 'must-have' vs 'nice-to-have'. This shapes the pilot scope.</a:t>
            </a:r>
            <a:endParaRPr/>
          </a:p>
        </p:txBody>
      </p:sp>
      <p:sp>
        <p:nvSpPr>
          <p:cNvPr id="535" name="Google Shape;53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2" name="Google Shape;552;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Address the CISO directly here. Offer the security package (SOC 2 report, pen test summary, DPA) as an immediate next step. Note for interview: confirm current certifications (SOC 2, ISO, HIPAA readiness) on cognition.ai/security before presenting.</a:t>
            </a:r>
            <a:endParaRPr/>
          </a:p>
        </p:txBody>
      </p:sp>
      <p:sp>
        <p:nvSpPr>
          <p:cNvPr id="553" name="Google Shape;553;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Backup slide for Q&amp;A. Pricing changes frequently; check cognition.ai/pricing before the interview and be ready to state current Core / Team / Enterprise tiers.</a:t>
            </a:r>
            <a:endParaRPr/>
          </a:p>
        </p:txBody>
      </p:sp>
      <p:sp>
        <p:nvSpPr>
          <p:cNvPr id="575" name="Google Shape;575;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Spend 6-8 minutes here. Read the three columns in 60 seconds, then STOP and ask. Goal: the CIO names a real constraint (ideally the Discover integration) and the CISO names an approval bar. Write their words down and reuse them on the value slides and in the pilot proposal. Facts to re-verify the morning of: latest revenue and account counts, Discover integration milestones, names of the current CIO and Chief Technology Risk Officer, current AI product names.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bridge slide. Each row is one initiative you recapped; the third column names the Devin surface you will demo for it. Say explicitly: 'Everything in the demo maps to a row on this table.' If the CIO named a different constraint on the recap slide, add it verbally here as row six.</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Pre-empt the 'toy repo' objection: this is Capital One's own library, used for sensitive-data detection. Note that the same workflow applies to any internal repo; DataProfiler is the one everyone in the room can see.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Timing: ~15 minutes total. Start the Session FIRST (before demo steps 1-2) so it is finishing by the time you reach step 2; narrate the plan and the live PR. Always have a completed session and PR from the night before as a fallback. Call out the 'Ties to' line on each step out loud: that is what the exercise is grading.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Capital One engineers already use GitHub Copilot at scale and likely have Cursor and Claude Code pilots. Do NOT attack them. The line: 'Those tools make your engineers faster. Devin adds engineers.' Then the three differentiators: (1) autonomous, parallel, sandboxed execution to a merged PR; (2) org-wide compounding knowledge (Wiki, Knowledge, Review) instead of per-user context; (3) enterprise control plane (audit, VPC, scoping, automations) the CISO can govern. Competitor rows are high-level and should be double-checked against current product pages before the meeting.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6"/>
          <p:cNvSpPr/>
          <p:nvPr>
            <p:ph idx="2" type="pic"/>
          </p:nvPr>
        </p:nvSpPr>
        <p:spPr>
          <a:xfrm>
            <a:off x="1792288" y="612775"/>
            <a:ext cx="5486400" cy="4114800"/>
          </a:xfrm>
          <a:prstGeom prst="rect">
            <a:avLst/>
          </a:prstGeom>
          <a:noFill/>
          <a:ln>
            <a:noFill/>
          </a:ln>
        </p:spPr>
      </p:sp>
      <p:sp>
        <p:nvSpPr>
          <p:cNvPr id="64" name="Google Shape;64;p3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17.png"/><Relationship Id="rId11" Type="http://schemas.openxmlformats.org/officeDocument/2006/relationships/image" Target="../media/image12.png"/><Relationship Id="rId12" Type="http://schemas.openxmlformats.org/officeDocument/2006/relationships/image" Target="../media/image10.png"/><Relationship Id="rId13" Type="http://schemas.openxmlformats.org/officeDocument/2006/relationships/image" Target="../media/image1.png"/><Relationship Id="rId14" Type="http://schemas.openxmlformats.org/officeDocument/2006/relationships/image" Target="../media/image5.png"/><Relationship Id="rId15" Type="http://schemas.openxmlformats.org/officeDocument/2006/relationships/image" Target="../media/image15.png"/><Relationship Id="rId1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84" name="Shape 84"/>
        <p:cNvGrpSpPr/>
        <p:nvPr/>
      </p:nvGrpSpPr>
      <p:grpSpPr>
        <a:xfrm>
          <a:off x="0" y="0"/>
          <a:ext cx="0" cy="0"/>
          <a:chOff x="0" y="0"/>
          <a:chExt cx="0" cy="0"/>
        </a:xfrm>
      </p:grpSpPr>
      <p:sp>
        <p:nvSpPr>
          <p:cNvPr id="85" name="Google Shape;85;p1"/>
          <p:cNvSpPr/>
          <p:nvPr/>
        </p:nvSpPr>
        <p:spPr>
          <a:xfrm>
            <a:off x="0" y="0"/>
            <a:ext cx="228600" cy="68580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838035" y="3958430"/>
            <a:ext cx="105156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Devin: The AI Software Engineer</a:t>
            </a:r>
            <a:endParaRPr/>
          </a:p>
        </p:txBody>
      </p:sp>
      <p:pic>
        <p:nvPicPr>
          <p:cNvPr id="87" name="Google Shape;87;p1" title="brand-logo-cognition-1.png"/>
          <p:cNvPicPr preferRelativeResize="0"/>
          <p:nvPr/>
        </p:nvPicPr>
        <p:blipFill>
          <a:blip r:embed="rId3">
            <a:alphaModFix/>
          </a:blip>
          <a:stretch>
            <a:fillRect/>
          </a:stretch>
        </p:blipFill>
        <p:spPr>
          <a:xfrm>
            <a:off x="838025" y="2365576"/>
            <a:ext cx="5255373" cy="1016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 name="Shape 92"/>
        <p:cNvGrpSpPr/>
        <p:nvPr/>
      </p:nvGrpSpPr>
      <p:grpSpPr>
        <a:xfrm>
          <a:off x="0" y="0"/>
          <a:ext cx="0" cy="0"/>
          <a:chOff x="0" y="0"/>
          <a:chExt cx="0" cy="0"/>
        </a:xfrm>
      </p:grpSpPr>
      <p:sp>
        <p:nvSpPr>
          <p:cNvPr id="93" name="Google Shape;93;p2"/>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 name="Google Shape;94;p2"/>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TODAY</a:t>
            </a:r>
            <a:endParaRPr/>
          </a:p>
        </p:txBody>
      </p:sp>
      <p:sp>
        <p:nvSpPr>
          <p:cNvPr id="95" name="Google Shape;95;p2"/>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Agenda</a:t>
            </a:r>
            <a:endParaRPr/>
          </a:p>
        </p:txBody>
      </p:sp>
      <p:sp>
        <p:nvSpPr>
          <p:cNvPr id="96" name="Google Shape;96;p2"/>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97" name="Google Shape;97;p2"/>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a:t>
            </a:r>
            <a:endParaRPr/>
          </a:p>
        </p:txBody>
      </p:sp>
      <p:sp>
        <p:nvSpPr>
          <p:cNvPr id="98" name="Google Shape;98;p2"/>
          <p:cNvSpPr txBox="1"/>
          <p:nvPr/>
        </p:nvSpPr>
        <p:spPr>
          <a:xfrm>
            <a:off x="1061951" y="2541651"/>
            <a:ext cx="39672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2000">
                <a:solidFill>
                  <a:srgbClr val="141B2D"/>
                </a:solidFill>
                <a:latin typeface="Calibri"/>
                <a:ea typeface="Calibri"/>
                <a:cs typeface="Calibri"/>
                <a:sym typeface="Calibri"/>
              </a:rPr>
              <a:t>Market Environment &amp; </a:t>
            </a:r>
            <a:r>
              <a:rPr b="1" lang="en-US" sz="2000">
                <a:solidFill>
                  <a:srgbClr val="141B2D"/>
                </a:solidFill>
                <a:latin typeface="Calibri"/>
                <a:ea typeface="Calibri"/>
                <a:cs typeface="Calibri"/>
                <a:sym typeface="Calibri"/>
              </a:rPr>
              <a:t>Challenges  </a:t>
            </a:r>
            <a:endParaRPr/>
          </a:p>
        </p:txBody>
      </p:sp>
      <p:sp>
        <p:nvSpPr>
          <p:cNvPr id="99" name="Google Shape;99;p2"/>
          <p:cNvSpPr txBox="1"/>
          <p:nvPr/>
        </p:nvSpPr>
        <p:spPr>
          <a:xfrm>
            <a:off x="4899700" y="2577980"/>
            <a:ext cx="6675000" cy="2862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lang="en-US" sz="1500">
                <a:solidFill>
                  <a:srgbClr val="6B7280"/>
                </a:solidFill>
                <a:latin typeface="Calibri"/>
                <a:ea typeface="Calibri"/>
                <a:cs typeface="Calibri"/>
                <a:sym typeface="Calibri"/>
              </a:rPr>
              <a:t>Why software delivery is the bottleneck, and why now</a:t>
            </a:r>
            <a:endParaRPr sz="1500">
              <a:solidFill>
                <a:srgbClr val="6B7280"/>
              </a:solidFill>
              <a:latin typeface="Calibri"/>
              <a:ea typeface="Calibri"/>
              <a:cs typeface="Calibri"/>
              <a:sym typeface="Calibri"/>
            </a:endParaRPr>
          </a:p>
        </p:txBody>
      </p:sp>
      <p:sp>
        <p:nvSpPr>
          <p:cNvPr id="100" name="Google Shape;100;p2"/>
          <p:cNvSpPr txBox="1"/>
          <p:nvPr/>
        </p:nvSpPr>
        <p:spPr>
          <a:xfrm>
            <a:off x="1146965" y="1784793"/>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Cognition </a:t>
            </a:r>
            <a:r>
              <a:rPr b="1" lang="en-US" sz="2000">
                <a:solidFill>
                  <a:srgbClr val="141B2D"/>
                </a:solidFill>
                <a:latin typeface="Calibri"/>
                <a:ea typeface="Calibri"/>
                <a:cs typeface="Calibri"/>
                <a:sym typeface="Calibri"/>
              </a:rPr>
              <a:t>Overview</a:t>
            </a:r>
            <a:endParaRPr/>
          </a:p>
        </p:txBody>
      </p:sp>
      <p:sp>
        <p:nvSpPr>
          <p:cNvPr id="101" name="Google Shape;101;p2"/>
          <p:cNvSpPr txBox="1"/>
          <p:nvPr/>
        </p:nvSpPr>
        <p:spPr>
          <a:xfrm>
            <a:off x="4315335" y="189182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30,000-foot view of the company, products, and how we serve customers</a:t>
            </a:r>
            <a:endParaRPr/>
          </a:p>
        </p:txBody>
      </p:sp>
      <p:sp>
        <p:nvSpPr>
          <p:cNvPr id="102" name="Google Shape;102;p2"/>
          <p:cNvSpPr txBox="1"/>
          <p:nvPr/>
        </p:nvSpPr>
        <p:spPr>
          <a:xfrm>
            <a:off x="548655" y="329259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3</a:t>
            </a:r>
            <a:endParaRPr/>
          </a:p>
        </p:txBody>
      </p:sp>
      <p:sp>
        <p:nvSpPr>
          <p:cNvPr id="103" name="Google Shape;103;p2"/>
          <p:cNvSpPr txBox="1"/>
          <p:nvPr/>
        </p:nvSpPr>
        <p:spPr>
          <a:xfrm>
            <a:off x="1216740" y="3330695"/>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2000">
                <a:solidFill>
                  <a:srgbClr val="141B2D"/>
                </a:solidFill>
                <a:latin typeface="Calibri"/>
                <a:ea typeface="Calibri"/>
                <a:cs typeface="Calibri"/>
                <a:sym typeface="Calibri"/>
              </a:rPr>
              <a:t>Meet</a:t>
            </a:r>
            <a:r>
              <a:rPr b="1" i="0" lang="en-US" sz="2000" u="none" cap="none" strike="noStrike">
                <a:solidFill>
                  <a:srgbClr val="141B2D"/>
                </a:solidFill>
                <a:latin typeface="Calibri"/>
                <a:ea typeface="Calibri"/>
                <a:cs typeface="Calibri"/>
                <a:sym typeface="Calibri"/>
              </a:rPr>
              <a:t> Devin</a:t>
            </a:r>
            <a:r>
              <a:rPr b="1" lang="en-US" sz="2000">
                <a:solidFill>
                  <a:srgbClr val="141B2D"/>
                </a:solidFill>
                <a:latin typeface="Calibri"/>
                <a:ea typeface="Calibri"/>
                <a:cs typeface="Calibri"/>
                <a:sym typeface="Calibri"/>
              </a:rPr>
              <a:t>!</a:t>
            </a:r>
            <a:endParaRPr/>
          </a:p>
        </p:txBody>
      </p:sp>
      <p:sp>
        <p:nvSpPr>
          <p:cNvPr id="104" name="Google Shape;104;p2"/>
          <p:cNvSpPr txBox="1"/>
          <p:nvPr/>
        </p:nvSpPr>
        <p:spPr>
          <a:xfrm>
            <a:off x="4804585" y="3392340"/>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Architecture, workflow, security model, and live examples</a:t>
            </a:r>
            <a:endParaRPr/>
          </a:p>
        </p:txBody>
      </p:sp>
      <p:sp>
        <p:nvSpPr>
          <p:cNvPr id="105" name="Google Shape;105;p2"/>
          <p:cNvSpPr txBox="1"/>
          <p:nvPr/>
        </p:nvSpPr>
        <p:spPr>
          <a:xfrm>
            <a:off x="548650" y="416052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4</a:t>
            </a:r>
            <a:endParaRPr/>
          </a:p>
        </p:txBody>
      </p:sp>
      <p:sp>
        <p:nvSpPr>
          <p:cNvPr id="106" name="Google Shape;106;p2"/>
          <p:cNvSpPr txBox="1"/>
          <p:nvPr/>
        </p:nvSpPr>
        <p:spPr>
          <a:xfrm>
            <a:off x="1308240" y="4206728"/>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Customer Impact</a:t>
            </a:r>
            <a:endParaRPr/>
          </a:p>
        </p:txBody>
      </p:sp>
      <p:sp>
        <p:nvSpPr>
          <p:cNvPr id="107" name="Google Shape;107;p2"/>
          <p:cNvSpPr txBox="1"/>
          <p:nvPr/>
        </p:nvSpPr>
        <p:spPr>
          <a:xfrm>
            <a:off x="4861660" y="424528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Stories and measurable outcomes</a:t>
            </a:r>
            <a:endParaRPr/>
          </a:p>
        </p:txBody>
      </p:sp>
      <p:sp>
        <p:nvSpPr>
          <p:cNvPr id="108" name="Google Shape;108;p2"/>
          <p:cNvSpPr txBox="1"/>
          <p:nvPr/>
        </p:nvSpPr>
        <p:spPr>
          <a:xfrm>
            <a:off x="548655" y="5028460"/>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5</a:t>
            </a:r>
            <a:endParaRPr/>
          </a:p>
        </p:txBody>
      </p:sp>
      <p:sp>
        <p:nvSpPr>
          <p:cNvPr id="109" name="Google Shape;109;p2"/>
          <p:cNvSpPr txBox="1"/>
          <p:nvPr/>
        </p:nvSpPr>
        <p:spPr>
          <a:xfrm>
            <a:off x="1371540" y="5074660"/>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Next Steps</a:t>
            </a:r>
            <a:endParaRPr/>
          </a:p>
        </p:txBody>
      </p:sp>
      <p:sp>
        <p:nvSpPr>
          <p:cNvPr id="110" name="Google Shape;110;p2"/>
          <p:cNvSpPr txBox="1"/>
          <p:nvPr/>
        </p:nvSpPr>
        <p:spPr>
          <a:xfrm>
            <a:off x="4899698" y="512085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lang="en-US" sz="1500">
                <a:solidFill>
                  <a:srgbClr val="6B7280"/>
                </a:solidFill>
                <a:latin typeface="Calibri"/>
                <a:ea typeface="Calibri"/>
                <a:cs typeface="Calibri"/>
                <a:sym typeface="Calibri"/>
              </a:rPr>
              <a:t>How to get started?</a:t>
            </a:r>
            <a:endParaRPr/>
          </a:p>
        </p:txBody>
      </p:sp>
      <p:sp>
        <p:nvSpPr>
          <p:cNvPr id="111" name="Google Shape;111;p2"/>
          <p:cNvSpPr txBox="1"/>
          <p:nvPr/>
        </p:nvSpPr>
        <p:spPr>
          <a:xfrm>
            <a:off x="548655" y="1698320"/>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1</a:t>
            </a:r>
            <a:endParaRPr/>
          </a:p>
        </p:txBody>
      </p:sp>
      <p:sp>
        <p:nvSpPr>
          <p:cNvPr id="112" name="Google Shape;112;p2"/>
          <p:cNvSpPr txBox="1"/>
          <p:nvPr/>
        </p:nvSpPr>
        <p:spPr>
          <a:xfrm>
            <a:off x="548655" y="249249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117" name="Shape 117"/>
        <p:cNvGrpSpPr/>
        <p:nvPr/>
      </p:nvGrpSpPr>
      <p:grpSpPr>
        <a:xfrm>
          <a:off x="0" y="0"/>
          <a:ext cx="0" cy="0"/>
          <a:chOff x="0" y="0"/>
          <a:chExt cx="0" cy="0"/>
        </a:xfrm>
      </p:grpSpPr>
      <p:sp>
        <p:nvSpPr>
          <p:cNvPr id="118" name="Google Shape;118;h45b0e18ed2441d3a_0_1"/>
          <p:cNvSpPr/>
          <p:nvPr/>
        </p:nvSpPr>
        <p:spPr>
          <a:xfrm>
            <a:off x="0" y="0"/>
            <a:ext cx="12191700" cy="1098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h45b0e18ed2441d3a_0_1"/>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WHO WE ARE</a:t>
            </a:r>
            <a:endParaRPr/>
          </a:p>
        </p:txBody>
      </p:sp>
      <p:sp>
        <p:nvSpPr>
          <p:cNvPr id="120" name="Google Shape;120;h45b0e18ed2441d3a_0_1"/>
          <p:cNvSpPr txBox="1"/>
          <p:nvPr/>
        </p:nvSpPr>
        <p:spPr>
          <a:xfrm>
            <a:off x="2827040" y="820760"/>
            <a:ext cx="11155800" cy="517200"/>
          </a:xfrm>
          <a:prstGeom prst="rect">
            <a:avLst/>
          </a:prstGeom>
          <a:noFill/>
          <a:ln>
            <a:noFill/>
          </a:ln>
        </p:spPr>
        <p:txBody>
          <a:bodyPr anchorCtr="0" anchor="t" bIns="27425" lIns="45700" spcFirstLastPara="1" rIns="45700" wrap="square" tIns="27425">
            <a:spAutoFit/>
          </a:bodyPr>
          <a:lstStyle/>
          <a:p>
            <a:pPr indent="-419100" lvl="0" marL="457200" marR="0" rtl="0" algn="l">
              <a:spcBef>
                <a:spcPts val="0"/>
              </a:spcBef>
              <a:spcAft>
                <a:spcPts val="0"/>
              </a:spcAft>
              <a:buClr>
                <a:srgbClr val="FFFFFF"/>
              </a:buClr>
              <a:buSzPts val="3000"/>
              <a:buFont typeface="Calibri"/>
              <a:buChar char="-"/>
            </a:pPr>
            <a:r>
              <a:rPr b="1" i="0" lang="en-US" sz="3000" u="none" cap="none" strike="noStrike">
                <a:solidFill>
                  <a:srgbClr val="FFFFFF"/>
                </a:solidFill>
                <a:latin typeface="Calibri"/>
                <a:ea typeface="Calibri"/>
                <a:cs typeface="Calibri"/>
                <a:sym typeface="Calibri"/>
              </a:rPr>
              <a:t>the applied AI lab behind Devin</a:t>
            </a:r>
            <a:endParaRPr/>
          </a:p>
        </p:txBody>
      </p:sp>
      <p:sp>
        <p:nvSpPr>
          <p:cNvPr id="121" name="Google Shape;121;h45b0e18ed2441d3a_0_1"/>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22" name="Google Shape;122;h45b0e18ed2441d3a_0_1"/>
          <p:cNvSpPr txBox="1"/>
          <p:nvPr/>
        </p:nvSpPr>
        <p:spPr>
          <a:xfrm>
            <a:off x="10789920" y="6446520"/>
            <a:ext cx="914400" cy="20940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8</a:t>
            </a:r>
            <a:endParaRPr/>
          </a:p>
        </p:txBody>
      </p:sp>
      <p:sp>
        <p:nvSpPr>
          <p:cNvPr id="123" name="Google Shape;123;h45b0e18ed2441d3a_0_1"/>
          <p:cNvSpPr txBox="1"/>
          <p:nvPr/>
        </p:nvSpPr>
        <p:spPr>
          <a:xfrm>
            <a:off x="607275" y="1805699"/>
            <a:ext cx="5366700" cy="15945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t/>
            </a:r>
            <a:endParaRPr/>
          </a:p>
          <a:p>
            <a:pPr indent="0" lvl="0" marL="0" marR="0" rtl="0" algn="l">
              <a:spcBef>
                <a:spcPts val="0"/>
              </a:spcBef>
              <a:spcAft>
                <a:spcPts val="0"/>
              </a:spcAft>
              <a:buNone/>
            </a:pPr>
            <a:r>
              <a:t/>
            </a:r>
            <a:endParaRPr b="0" i="0" sz="16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1" i="0" lang="en-US" sz="2000" u="none" cap="none" strike="noStrike">
                <a:solidFill>
                  <a:srgbClr val="D9DDE5"/>
                </a:solidFill>
                <a:latin typeface="Calibri"/>
                <a:ea typeface="Calibri"/>
                <a:cs typeface="Calibri"/>
                <a:sym typeface="Calibri"/>
              </a:rPr>
              <a:t>Mission</a:t>
            </a:r>
            <a:r>
              <a:rPr b="0" i="0" lang="en-US" sz="2000" u="none" cap="none" strike="noStrike">
                <a:solidFill>
                  <a:srgbClr val="D9DDE5"/>
                </a:solidFill>
                <a:latin typeface="Calibri"/>
                <a:ea typeface="Calibri"/>
                <a:cs typeface="Calibri"/>
                <a:sym typeface="Calibri"/>
              </a:rPr>
              <a:t>: build collaborative AI teammates that expand what engineering teams can ship.</a:t>
            </a:r>
            <a:endParaRPr sz="1800"/>
          </a:p>
          <a:p>
            <a:pPr indent="0" lvl="0" marL="0" marR="0" rtl="0" algn="l">
              <a:spcBef>
                <a:spcPts val="0"/>
              </a:spcBef>
              <a:spcAft>
                <a:spcPts val="0"/>
              </a:spcAft>
              <a:buNone/>
            </a:pPr>
            <a:r>
              <a:t/>
            </a:r>
            <a:endParaRPr b="0" i="0" sz="16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t/>
            </a:r>
            <a:endParaRPr/>
          </a:p>
        </p:txBody>
      </p:sp>
      <p:sp>
        <p:nvSpPr>
          <p:cNvPr id="124" name="Google Shape;124;h45b0e18ed2441d3a_0_1"/>
          <p:cNvSpPr txBox="1"/>
          <p:nvPr/>
        </p:nvSpPr>
        <p:spPr>
          <a:xfrm>
            <a:off x="6719666" y="1988775"/>
            <a:ext cx="11181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Nov </a:t>
            </a:r>
            <a:r>
              <a:rPr b="1" i="0" lang="en-US" sz="1266" u="none" cap="none" strike="noStrike">
                <a:solidFill>
                  <a:srgbClr val="22C55E"/>
                </a:solidFill>
                <a:latin typeface="Calibri"/>
                <a:ea typeface="Calibri"/>
                <a:cs typeface="Calibri"/>
                <a:sym typeface="Calibri"/>
              </a:rPr>
              <a:t>2023</a:t>
            </a:r>
            <a:endParaRPr sz="1266"/>
          </a:p>
        </p:txBody>
      </p:sp>
      <p:sp>
        <p:nvSpPr>
          <p:cNvPr id="125" name="Google Shape;125;h45b0e18ed2441d3a_0_1"/>
          <p:cNvSpPr txBox="1"/>
          <p:nvPr/>
        </p:nvSpPr>
        <p:spPr>
          <a:xfrm>
            <a:off x="6352899" y="2196919"/>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0" i="0" lang="en-US" sz="675" u="none" cap="none" strike="noStrike">
                <a:solidFill>
                  <a:srgbClr val="D9DDE5"/>
                </a:solidFill>
                <a:latin typeface="Calibri"/>
                <a:ea typeface="Calibri"/>
                <a:cs typeface="Calibri"/>
                <a:sym typeface="Calibri"/>
              </a:rPr>
              <a:t>Founded</a:t>
            </a:r>
            <a:endParaRPr sz="759"/>
          </a:p>
        </p:txBody>
      </p:sp>
      <p:sp>
        <p:nvSpPr>
          <p:cNvPr id="126" name="Google Shape;126;h45b0e18ed2441d3a_0_1"/>
          <p:cNvSpPr txBox="1"/>
          <p:nvPr/>
        </p:nvSpPr>
        <p:spPr>
          <a:xfrm>
            <a:off x="7290564" y="3140804"/>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March </a:t>
            </a:r>
            <a:r>
              <a:rPr b="1" i="0" lang="en-US" sz="1266" u="none" cap="none" strike="noStrike">
                <a:solidFill>
                  <a:srgbClr val="22C55E"/>
                </a:solidFill>
                <a:latin typeface="Calibri"/>
                <a:ea typeface="Calibri"/>
                <a:cs typeface="Calibri"/>
                <a:sym typeface="Calibri"/>
              </a:rPr>
              <a:t>2024</a:t>
            </a:r>
            <a:endParaRPr sz="1266"/>
          </a:p>
        </p:txBody>
      </p:sp>
      <p:sp>
        <p:nvSpPr>
          <p:cNvPr id="127" name="Google Shape;127;h45b0e18ed2441d3a_0_1"/>
          <p:cNvSpPr txBox="1"/>
          <p:nvPr/>
        </p:nvSpPr>
        <p:spPr>
          <a:xfrm>
            <a:off x="10611512" y="1978425"/>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Sept 2026</a:t>
            </a:r>
            <a:endParaRPr sz="1266"/>
          </a:p>
        </p:txBody>
      </p:sp>
      <p:sp>
        <p:nvSpPr>
          <p:cNvPr id="128" name="Google Shape;128;h45b0e18ed2441d3a_0_1"/>
          <p:cNvSpPr txBox="1"/>
          <p:nvPr/>
        </p:nvSpPr>
        <p:spPr>
          <a:xfrm>
            <a:off x="10581640" y="2212987"/>
            <a:ext cx="1911300" cy="202500"/>
          </a:xfrm>
          <a:prstGeom prst="rect">
            <a:avLst/>
          </a:prstGeom>
          <a:noFill/>
          <a:ln>
            <a:noFill/>
          </a:ln>
        </p:spPr>
        <p:txBody>
          <a:bodyPr anchorCtr="0" anchor="t" bIns="23150" lIns="38575" spcFirstLastPara="1" rIns="38575" wrap="square" tIns="23150">
            <a:spAutoFit/>
          </a:bodyPr>
          <a:lstStyle/>
          <a:p>
            <a:pPr indent="0" lvl="0" marL="0" rtl="0" algn="ctr">
              <a:spcBef>
                <a:spcPts val="0"/>
              </a:spcBef>
              <a:spcAft>
                <a:spcPts val="0"/>
              </a:spcAft>
              <a:buNone/>
            </a:pPr>
            <a:r>
              <a:rPr b="1" lang="en-US" sz="1012">
                <a:solidFill>
                  <a:srgbClr val="22C55E"/>
                </a:solidFill>
                <a:latin typeface="Calibri"/>
                <a:ea typeface="Calibri"/>
                <a:cs typeface="Calibri"/>
                <a:sym typeface="Calibri"/>
              </a:rPr>
              <a:t>$1B+</a:t>
            </a:r>
            <a:r>
              <a:rPr lang="en-US" sz="1012">
                <a:solidFill>
                  <a:schemeClr val="dk1"/>
                </a:solidFill>
              </a:rPr>
              <a:t> </a:t>
            </a:r>
            <a:r>
              <a:rPr lang="en-US" sz="675">
                <a:solidFill>
                  <a:srgbClr val="D9DDE5"/>
                </a:solidFill>
                <a:latin typeface="Calibri"/>
                <a:ea typeface="Calibri"/>
                <a:cs typeface="Calibri"/>
                <a:sym typeface="Calibri"/>
              </a:rPr>
              <a:t>Revenue</a:t>
            </a:r>
            <a:r>
              <a:rPr b="0" i="0" lang="en-US" sz="675" u="none" cap="none" strike="noStrike">
                <a:solidFill>
                  <a:srgbClr val="D9DDE5"/>
                </a:solidFill>
                <a:latin typeface="Calibri"/>
                <a:ea typeface="Calibri"/>
                <a:cs typeface="Calibri"/>
                <a:sym typeface="Calibri"/>
              </a:rPr>
              <a:t> </a:t>
            </a:r>
            <a:endParaRPr sz="759"/>
          </a:p>
        </p:txBody>
      </p:sp>
      <p:sp>
        <p:nvSpPr>
          <p:cNvPr id="129" name="Google Shape;129;h45b0e18ed2441d3a_0_1"/>
          <p:cNvSpPr txBox="1"/>
          <p:nvPr/>
        </p:nvSpPr>
        <p:spPr>
          <a:xfrm>
            <a:off x="9532941" y="3125768"/>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i="0" lang="en-US" sz="1266" u="none" cap="none" strike="noStrike">
                <a:solidFill>
                  <a:srgbClr val="22C55E"/>
                </a:solidFill>
                <a:latin typeface="Calibri"/>
                <a:ea typeface="Calibri"/>
                <a:cs typeface="Calibri"/>
                <a:sym typeface="Calibri"/>
              </a:rPr>
              <a:t>Global Expansion</a:t>
            </a:r>
            <a:endParaRPr sz="1266"/>
          </a:p>
        </p:txBody>
      </p:sp>
      <p:sp>
        <p:nvSpPr>
          <p:cNvPr id="130" name="Google Shape;130;h45b0e18ed2441d3a_0_1"/>
          <p:cNvSpPr txBox="1"/>
          <p:nvPr/>
        </p:nvSpPr>
        <p:spPr>
          <a:xfrm>
            <a:off x="9570508" y="3012527"/>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0" i="0" lang="en-US" sz="675" u="none" cap="none" strike="noStrike">
                <a:solidFill>
                  <a:srgbClr val="D9DDE5"/>
                </a:solidFill>
                <a:latin typeface="Calibri"/>
                <a:ea typeface="Calibri"/>
                <a:cs typeface="Calibri"/>
                <a:sym typeface="Calibri"/>
              </a:rPr>
              <a:t>Banks, fintech, SaaS customers</a:t>
            </a:r>
            <a:endParaRPr sz="759"/>
          </a:p>
        </p:txBody>
      </p:sp>
      <p:pic>
        <p:nvPicPr>
          <p:cNvPr id="131" name="Google Shape;131;h45b0e18ed2441d3a_0_1" title="Screenshot 2026-09-25 at 4.42.04 PM.png"/>
          <p:cNvPicPr preferRelativeResize="0"/>
          <p:nvPr/>
        </p:nvPicPr>
        <p:blipFill rotWithShape="1">
          <a:blip r:embed="rId3">
            <a:alphaModFix/>
          </a:blip>
          <a:srcRect b="-125260" l="-12000" r="12000" t="125260"/>
          <a:stretch/>
        </p:blipFill>
        <p:spPr>
          <a:xfrm>
            <a:off x="5880613" y="3613188"/>
            <a:ext cx="7743825" cy="3800475"/>
          </a:xfrm>
          <a:prstGeom prst="rect">
            <a:avLst/>
          </a:prstGeom>
          <a:noFill/>
          <a:ln>
            <a:noFill/>
          </a:ln>
        </p:spPr>
      </p:pic>
      <p:cxnSp>
        <p:nvCxnSpPr>
          <p:cNvPr id="132" name="Google Shape;132;h45b0e18ed2441d3a_0_1"/>
          <p:cNvCxnSpPr/>
          <p:nvPr/>
        </p:nvCxnSpPr>
        <p:spPr>
          <a:xfrm>
            <a:off x="7245243" y="2692870"/>
            <a:ext cx="4334400" cy="18000"/>
          </a:xfrm>
          <a:prstGeom prst="straightConnector1">
            <a:avLst/>
          </a:prstGeom>
          <a:noFill/>
          <a:ln cap="flat" cmpd="sng" w="96450">
            <a:solidFill>
              <a:schemeClr val="lt1"/>
            </a:solidFill>
            <a:prstDash val="solid"/>
            <a:round/>
            <a:headEnd len="med" w="med" type="none"/>
            <a:tailEnd len="med" w="med" type="none"/>
          </a:ln>
        </p:spPr>
      </p:cxnSp>
      <p:cxnSp>
        <p:nvCxnSpPr>
          <p:cNvPr id="133" name="Google Shape;133;h45b0e18ed2441d3a_0_1"/>
          <p:cNvCxnSpPr/>
          <p:nvPr/>
        </p:nvCxnSpPr>
        <p:spPr>
          <a:xfrm flipH="1" rot="10800000">
            <a:off x="7245246" y="2451901"/>
            <a:ext cx="1500" cy="302100"/>
          </a:xfrm>
          <a:prstGeom prst="straightConnector1">
            <a:avLst/>
          </a:prstGeom>
          <a:noFill/>
          <a:ln cap="flat" cmpd="sng" w="96450">
            <a:solidFill>
              <a:schemeClr val="lt1"/>
            </a:solidFill>
            <a:prstDash val="solid"/>
            <a:round/>
            <a:headEnd len="med" w="med" type="none"/>
            <a:tailEnd len="med" w="med" type="none"/>
          </a:ln>
        </p:spPr>
      </p:cxnSp>
      <p:cxnSp>
        <p:nvCxnSpPr>
          <p:cNvPr id="134" name="Google Shape;134;h45b0e18ed2441d3a_0_1"/>
          <p:cNvCxnSpPr/>
          <p:nvPr/>
        </p:nvCxnSpPr>
        <p:spPr>
          <a:xfrm>
            <a:off x="8216353" y="2692869"/>
            <a:ext cx="0" cy="285900"/>
          </a:xfrm>
          <a:prstGeom prst="straightConnector1">
            <a:avLst/>
          </a:prstGeom>
          <a:noFill/>
          <a:ln cap="flat" cmpd="sng" w="96450">
            <a:solidFill>
              <a:schemeClr val="lt1"/>
            </a:solidFill>
            <a:prstDash val="solid"/>
            <a:round/>
            <a:headEnd len="med" w="med" type="none"/>
            <a:tailEnd len="med" w="med" type="none"/>
          </a:ln>
        </p:spPr>
      </p:cxnSp>
      <p:sp>
        <p:nvSpPr>
          <p:cNvPr id="135" name="Google Shape;135;h45b0e18ed2441d3a_0_1"/>
          <p:cNvSpPr txBox="1"/>
          <p:nvPr/>
        </p:nvSpPr>
        <p:spPr>
          <a:xfrm>
            <a:off x="7290577" y="2999573"/>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lang="en-US" sz="675">
                <a:solidFill>
                  <a:srgbClr val="D9DDE5"/>
                </a:solidFill>
                <a:latin typeface="Calibri"/>
                <a:ea typeface="Calibri"/>
                <a:cs typeface="Calibri"/>
                <a:sym typeface="Calibri"/>
              </a:rPr>
              <a:t>Devin Launched</a:t>
            </a:r>
            <a:endParaRPr sz="759"/>
          </a:p>
        </p:txBody>
      </p:sp>
      <p:sp>
        <p:nvSpPr>
          <p:cNvPr id="136" name="Google Shape;136;h45b0e18ed2441d3a_0_1"/>
          <p:cNvSpPr txBox="1"/>
          <p:nvPr/>
        </p:nvSpPr>
        <p:spPr>
          <a:xfrm>
            <a:off x="8405804" y="1988771"/>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July</a:t>
            </a:r>
            <a:r>
              <a:rPr b="1" lang="en-US" sz="1266">
                <a:solidFill>
                  <a:srgbClr val="22C55E"/>
                </a:solidFill>
                <a:latin typeface="Calibri"/>
                <a:ea typeface="Calibri"/>
                <a:cs typeface="Calibri"/>
                <a:sym typeface="Calibri"/>
              </a:rPr>
              <a:t> </a:t>
            </a:r>
            <a:r>
              <a:rPr b="1" i="0" lang="en-US" sz="1266" u="none" cap="none" strike="noStrike">
                <a:solidFill>
                  <a:srgbClr val="22C55E"/>
                </a:solidFill>
                <a:latin typeface="Calibri"/>
                <a:ea typeface="Calibri"/>
                <a:cs typeface="Calibri"/>
                <a:sym typeface="Calibri"/>
              </a:rPr>
              <a:t>202</a:t>
            </a:r>
            <a:r>
              <a:rPr b="1" lang="en-US" sz="1266">
                <a:solidFill>
                  <a:srgbClr val="22C55E"/>
                </a:solidFill>
                <a:latin typeface="Calibri"/>
                <a:ea typeface="Calibri"/>
                <a:cs typeface="Calibri"/>
                <a:sym typeface="Calibri"/>
              </a:rPr>
              <a:t>5</a:t>
            </a:r>
            <a:endParaRPr sz="1266"/>
          </a:p>
        </p:txBody>
      </p:sp>
      <p:sp>
        <p:nvSpPr>
          <p:cNvPr id="137" name="Google Shape;137;h45b0e18ed2441d3a_0_1"/>
          <p:cNvSpPr txBox="1"/>
          <p:nvPr/>
        </p:nvSpPr>
        <p:spPr>
          <a:xfrm>
            <a:off x="8405817" y="2219416"/>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lang="en-US" sz="675">
                <a:solidFill>
                  <a:srgbClr val="D9DDE5"/>
                </a:solidFill>
                <a:latin typeface="Calibri"/>
                <a:ea typeface="Calibri"/>
                <a:cs typeface="Calibri"/>
                <a:sym typeface="Calibri"/>
              </a:rPr>
              <a:t>Windsurf Acquisition</a:t>
            </a:r>
            <a:endParaRPr sz="759"/>
          </a:p>
        </p:txBody>
      </p:sp>
      <p:cxnSp>
        <p:nvCxnSpPr>
          <p:cNvPr id="138" name="Google Shape;138;h45b0e18ed2441d3a_0_1"/>
          <p:cNvCxnSpPr/>
          <p:nvPr/>
        </p:nvCxnSpPr>
        <p:spPr>
          <a:xfrm>
            <a:off x="11537289" y="2436617"/>
            <a:ext cx="0" cy="285900"/>
          </a:xfrm>
          <a:prstGeom prst="straightConnector1">
            <a:avLst/>
          </a:prstGeom>
          <a:noFill/>
          <a:ln cap="flat" cmpd="sng" w="96450">
            <a:solidFill>
              <a:schemeClr val="lt1"/>
            </a:solidFill>
            <a:prstDash val="solid"/>
            <a:round/>
            <a:headEnd len="med" w="med" type="none"/>
            <a:tailEnd len="med" w="med" type="none"/>
          </a:ln>
        </p:spPr>
      </p:cxnSp>
      <p:cxnSp>
        <p:nvCxnSpPr>
          <p:cNvPr id="139" name="Google Shape;139;h45b0e18ed2441d3a_0_1"/>
          <p:cNvCxnSpPr/>
          <p:nvPr/>
        </p:nvCxnSpPr>
        <p:spPr>
          <a:xfrm>
            <a:off x="10458730" y="2659911"/>
            <a:ext cx="0" cy="285900"/>
          </a:xfrm>
          <a:prstGeom prst="straightConnector1">
            <a:avLst/>
          </a:prstGeom>
          <a:noFill/>
          <a:ln cap="flat" cmpd="sng" w="96450">
            <a:solidFill>
              <a:schemeClr val="lt1"/>
            </a:solidFill>
            <a:prstDash val="solid"/>
            <a:round/>
            <a:headEnd len="med" w="med" type="none"/>
            <a:tailEnd len="med" w="med" type="none"/>
          </a:ln>
        </p:spPr>
      </p:cxnSp>
      <p:cxnSp>
        <p:nvCxnSpPr>
          <p:cNvPr id="140" name="Google Shape;140;h45b0e18ed2441d3a_0_1"/>
          <p:cNvCxnSpPr/>
          <p:nvPr/>
        </p:nvCxnSpPr>
        <p:spPr>
          <a:xfrm>
            <a:off x="9331593" y="2436617"/>
            <a:ext cx="0" cy="285900"/>
          </a:xfrm>
          <a:prstGeom prst="straightConnector1">
            <a:avLst/>
          </a:prstGeom>
          <a:noFill/>
          <a:ln cap="flat" cmpd="sng" w="96450">
            <a:solidFill>
              <a:schemeClr val="lt1"/>
            </a:solidFill>
            <a:prstDash val="solid"/>
            <a:round/>
            <a:headEnd len="med" w="med" type="none"/>
            <a:tailEnd len="med" w="med" type="none"/>
          </a:ln>
        </p:spPr>
      </p:cxnSp>
      <p:pic>
        <p:nvPicPr>
          <p:cNvPr id="141" name="Google Shape;141;h45b0e18ed2441d3a_0_1" title="brand-logo-cognition-1.png"/>
          <p:cNvPicPr preferRelativeResize="0"/>
          <p:nvPr/>
        </p:nvPicPr>
        <p:blipFill>
          <a:blip r:embed="rId4">
            <a:alphaModFix/>
          </a:blip>
          <a:stretch>
            <a:fillRect/>
          </a:stretch>
        </p:blipFill>
        <p:spPr>
          <a:xfrm>
            <a:off x="632550" y="882439"/>
            <a:ext cx="2194499" cy="424328"/>
          </a:xfrm>
          <a:prstGeom prst="rect">
            <a:avLst/>
          </a:prstGeom>
          <a:noFill/>
          <a:ln>
            <a:noFill/>
          </a:ln>
        </p:spPr>
      </p:pic>
      <p:pic>
        <p:nvPicPr>
          <p:cNvPr id="142" name="Google Shape;142;h45b0e18ed2441d3a_0_1" title="ATT-Logo.png"/>
          <p:cNvPicPr preferRelativeResize="0"/>
          <p:nvPr/>
        </p:nvPicPr>
        <p:blipFill>
          <a:blip r:embed="rId5">
            <a:alphaModFix/>
          </a:blip>
          <a:stretch>
            <a:fillRect/>
          </a:stretch>
        </p:blipFill>
        <p:spPr>
          <a:xfrm>
            <a:off x="505762" y="5574537"/>
            <a:ext cx="1167974" cy="657000"/>
          </a:xfrm>
          <a:prstGeom prst="rect">
            <a:avLst/>
          </a:prstGeom>
          <a:noFill/>
          <a:ln>
            <a:noFill/>
          </a:ln>
        </p:spPr>
      </p:pic>
      <p:pic>
        <p:nvPicPr>
          <p:cNvPr id="143" name="Google Shape;143;h45b0e18ed2441d3a_0_1" title="mercedes-benz-logo-png_seeklogo-190348.png"/>
          <p:cNvPicPr preferRelativeResize="0"/>
          <p:nvPr/>
        </p:nvPicPr>
        <p:blipFill>
          <a:blip r:embed="rId6">
            <a:alphaModFix/>
          </a:blip>
          <a:stretch>
            <a:fillRect/>
          </a:stretch>
        </p:blipFill>
        <p:spPr>
          <a:xfrm>
            <a:off x="2140813" y="4274113"/>
            <a:ext cx="1032600" cy="1032600"/>
          </a:xfrm>
          <a:prstGeom prst="rect">
            <a:avLst/>
          </a:prstGeom>
          <a:noFill/>
          <a:ln>
            <a:noFill/>
          </a:ln>
        </p:spPr>
      </p:pic>
      <p:pic>
        <p:nvPicPr>
          <p:cNvPr id="144" name="Google Shape;144;h45b0e18ed2441d3a_0_1" title="Goldman-Sachs-Logo.png"/>
          <p:cNvPicPr preferRelativeResize="0"/>
          <p:nvPr/>
        </p:nvPicPr>
        <p:blipFill>
          <a:blip r:embed="rId7">
            <a:alphaModFix/>
          </a:blip>
          <a:stretch>
            <a:fillRect/>
          </a:stretch>
        </p:blipFill>
        <p:spPr>
          <a:xfrm>
            <a:off x="4022938" y="4417736"/>
            <a:ext cx="1325100" cy="745377"/>
          </a:xfrm>
          <a:prstGeom prst="rect">
            <a:avLst/>
          </a:prstGeom>
          <a:noFill/>
          <a:ln>
            <a:noFill/>
          </a:ln>
        </p:spPr>
      </p:pic>
      <p:pic>
        <p:nvPicPr>
          <p:cNvPr id="145" name="Google Shape;145;h45b0e18ed2441d3a_0_1" title="Lowes-Logo.png"/>
          <p:cNvPicPr preferRelativeResize="0"/>
          <p:nvPr/>
        </p:nvPicPr>
        <p:blipFill>
          <a:blip r:embed="rId8">
            <a:alphaModFix/>
          </a:blip>
          <a:stretch>
            <a:fillRect/>
          </a:stretch>
        </p:blipFill>
        <p:spPr>
          <a:xfrm>
            <a:off x="6283850" y="4417744"/>
            <a:ext cx="1325102" cy="745356"/>
          </a:xfrm>
          <a:prstGeom prst="rect">
            <a:avLst/>
          </a:prstGeom>
          <a:noFill/>
          <a:ln>
            <a:noFill/>
          </a:ln>
        </p:spPr>
      </p:pic>
      <p:pic>
        <p:nvPicPr>
          <p:cNvPr id="146" name="Google Shape;146;h45b0e18ed2441d3a_0_1" title="200310-A-UM169-001.png"/>
          <p:cNvPicPr preferRelativeResize="0"/>
          <p:nvPr/>
        </p:nvPicPr>
        <p:blipFill>
          <a:blip r:embed="rId9">
            <a:alphaModFix/>
          </a:blip>
          <a:stretch>
            <a:fillRect/>
          </a:stretch>
        </p:blipFill>
        <p:spPr>
          <a:xfrm>
            <a:off x="8759024" y="4417726"/>
            <a:ext cx="650351" cy="868275"/>
          </a:xfrm>
          <a:prstGeom prst="rect">
            <a:avLst/>
          </a:prstGeom>
          <a:noFill/>
          <a:ln>
            <a:noFill/>
          </a:ln>
        </p:spPr>
      </p:pic>
      <p:pic>
        <p:nvPicPr>
          <p:cNvPr id="147" name="Google Shape;147;h45b0e18ed2441d3a_0_1" title="Rivian-Logo.png"/>
          <p:cNvPicPr preferRelativeResize="0"/>
          <p:nvPr/>
        </p:nvPicPr>
        <p:blipFill>
          <a:blip r:embed="rId10">
            <a:alphaModFix/>
          </a:blip>
          <a:stretch>
            <a:fillRect/>
          </a:stretch>
        </p:blipFill>
        <p:spPr>
          <a:xfrm>
            <a:off x="6273275" y="5530670"/>
            <a:ext cx="1325102" cy="744720"/>
          </a:xfrm>
          <a:prstGeom prst="rect">
            <a:avLst/>
          </a:prstGeom>
          <a:noFill/>
          <a:ln>
            <a:noFill/>
          </a:ln>
        </p:spPr>
      </p:pic>
      <p:pic>
        <p:nvPicPr>
          <p:cNvPr id="148" name="Google Shape;148;h45b0e18ed2441d3a_0_1" title="nubank-brandlogo.net_.png"/>
          <p:cNvPicPr preferRelativeResize="0"/>
          <p:nvPr/>
        </p:nvPicPr>
        <p:blipFill>
          <a:blip r:embed="rId11">
            <a:alphaModFix/>
          </a:blip>
          <a:stretch>
            <a:fillRect/>
          </a:stretch>
        </p:blipFill>
        <p:spPr>
          <a:xfrm>
            <a:off x="2073137" y="5319062"/>
            <a:ext cx="1167975" cy="1167975"/>
          </a:xfrm>
          <a:prstGeom prst="rect">
            <a:avLst/>
          </a:prstGeom>
          <a:noFill/>
          <a:ln>
            <a:noFill/>
          </a:ln>
        </p:spPr>
      </p:pic>
      <p:pic>
        <p:nvPicPr>
          <p:cNvPr id="149" name="Google Shape;149;h45b0e18ed2441d3a_0_1" title="NASA-Logo-1975.png"/>
          <p:cNvPicPr preferRelativeResize="0"/>
          <p:nvPr/>
        </p:nvPicPr>
        <p:blipFill>
          <a:blip r:embed="rId12">
            <a:alphaModFix/>
          </a:blip>
          <a:stretch>
            <a:fillRect/>
          </a:stretch>
        </p:blipFill>
        <p:spPr>
          <a:xfrm>
            <a:off x="3855524" y="5436189"/>
            <a:ext cx="1659950" cy="933699"/>
          </a:xfrm>
          <a:prstGeom prst="rect">
            <a:avLst/>
          </a:prstGeom>
          <a:noFill/>
          <a:ln>
            <a:noFill/>
          </a:ln>
        </p:spPr>
      </p:pic>
      <p:pic>
        <p:nvPicPr>
          <p:cNvPr id="150" name="Google Shape;150;h45b0e18ed2441d3a_0_1" title="Emblem_of_the_United_States_Navy.png"/>
          <p:cNvPicPr preferRelativeResize="0"/>
          <p:nvPr/>
        </p:nvPicPr>
        <p:blipFill>
          <a:blip r:embed="rId13">
            <a:alphaModFix/>
          </a:blip>
          <a:stretch>
            <a:fillRect/>
          </a:stretch>
        </p:blipFill>
        <p:spPr>
          <a:xfrm>
            <a:off x="10719368" y="4417727"/>
            <a:ext cx="745420" cy="745400"/>
          </a:xfrm>
          <a:prstGeom prst="rect">
            <a:avLst/>
          </a:prstGeom>
          <a:noFill/>
          <a:ln>
            <a:noFill/>
          </a:ln>
        </p:spPr>
      </p:pic>
      <p:pic>
        <p:nvPicPr>
          <p:cNvPr id="151" name="Google Shape;151;h45b0e18ed2441d3a_0_1" title="Santander_Logo.png"/>
          <p:cNvPicPr preferRelativeResize="0"/>
          <p:nvPr/>
        </p:nvPicPr>
        <p:blipFill>
          <a:blip r:embed="rId14">
            <a:alphaModFix/>
          </a:blip>
          <a:stretch>
            <a:fillRect/>
          </a:stretch>
        </p:blipFill>
        <p:spPr>
          <a:xfrm>
            <a:off x="8166675" y="5648473"/>
            <a:ext cx="1751624" cy="626928"/>
          </a:xfrm>
          <a:prstGeom prst="rect">
            <a:avLst/>
          </a:prstGeom>
          <a:noFill/>
          <a:ln>
            <a:noFill/>
          </a:ln>
        </p:spPr>
      </p:pic>
      <p:pic>
        <p:nvPicPr>
          <p:cNvPr id="152" name="Google Shape;152;h45b0e18ed2441d3a_0_1" title="ServiceNow_logo.png"/>
          <p:cNvPicPr preferRelativeResize="0"/>
          <p:nvPr/>
        </p:nvPicPr>
        <p:blipFill>
          <a:blip r:embed="rId15">
            <a:alphaModFix/>
          </a:blip>
          <a:stretch>
            <a:fillRect/>
          </a:stretch>
        </p:blipFill>
        <p:spPr>
          <a:xfrm>
            <a:off x="10283617" y="5783057"/>
            <a:ext cx="1616916" cy="240000"/>
          </a:xfrm>
          <a:prstGeom prst="rect">
            <a:avLst/>
          </a:prstGeom>
          <a:noFill/>
          <a:ln>
            <a:noFill/>
          </a:ln>
        </p:spPr>
      </p:pic>
      <p:pic>
        <p:nvPicPr>
          <p:cNvPr id="153" name="Google Shape;153;h45b0e18ed2441d3a_0_1" title="Citigroup.png"/>
          <p:cNvPicPr preferRelativeResize="0"/>
          <p:nvPr/>
        </p:nvPicPr>
        <p:blipFill>
          <a:blip r:embed="rId16">
            <a:alphaModFix/>
          </a:blip>
          <a:stretch>
            <a:fillRect/>
          </a:stretch>
        </p:blipFill>
        <p:spPr>
          <a:xfrm>
            <a:off x="607150" y="4498938"/>
            <a:ext cx="965163" cy="5829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158" name="Shape 158"/>
        <p:cNvGrpSpPr/>
        <p:nvPr/>
      </p:nvGrpSpPr>
      <p:grpSpPr>
        <a:xfrm>
          <a:off x="0" y="0"/>
          <a:ext cx="0" cy="0"/>
          <a:chOff x="0" y="0"/>
          <a:chExt cx="0" cy="0"/>
        </a:xfrm>
      </p:grpSpPr>
      <p:sp>
        <p:nvSpPr>
          <p:cNvPr id="159" name="Google Shape;159;p3"/>
          <p:cNvSpPr txBox="1"/>
          <p:nvPr/>
        </p:nvSpPr>
        <p:spPr>
          <a:xfrm>
            <a:off x="81035" y="75590"/>
            <a:ext cx="36576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01</a:t>
            </a:r>
            <a:endParaRPr/>
          </a:p>
        </p:txBody>
      </p:sp>
      <p:sp>
        <p:nvSpPr>
          <p:cNvPr id="160" name="Google Shape;160;p3"/>
          <p:cNvSpPr txBox="1"/>
          <p:nvPr/>
        </p:nvSpPr>
        <p:spPr>
          <a:xfrm>
            <a:off x="1317585" y="2634890"/>
            <a:ext cx="10058400" cy="7941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lang="en-US" sz="4800">
                <a:solidFill>
                  <a:srgbClr val="FFFFFF"/>
                </a:solidFill>
                <a:latin typeface="Calibri"/>
                <a:ea typeface="Calibri"/>
                <a:cs typeface="Calibri"/>
                <a:sym typeface="Calibri"/>
              </a:rPr>
              <a:t>Market Environment &amp; </a:t>
            </a:r>
            <a:r>
              <a:rPr b="1" lang="en-US" sz="4800">
                <a:solidFill>
                  <a:schemeClr val="lt1"/>
                </a:solidFill>
                <a:latin typeface="Calibri"/>
                <a:ea typeface="Calibri"/>
                <a:cs typeface="Calibri"/>
                <a:sym typeface="Calibri"/>
              </a:rPr>
              <a:t>Challenges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5" name="Shape 165"/>
        <p:cNvGrpSpPr/>
        <p:nvPr/>
      </p:nvGrpSpPr>
      <p:grpSpPr>
        <a:xfrm>
          <a:off x="0" y="0"/>
          <a:ext cx="0" cy="0"/>
          <a:chOff x="0" y="0"/>
          <a:chExt cx="0" cy="0"/>
        </a:xfrm>
      </p:grpSpPr>
      <p:sp>
        <p:nvSpPr>
          <p:cNvPr id="166" name="Google Shape;166;h45b0e18ed2441d3a_0_35"/>
          <p:cNvSpPr/>
          <p:nvPr/>
        </p:nvSpPr>
        <p:spPr>
          <a:xfrm>
            <a:off x="0" y="0"/>
            <a:ext cx="12191700" cy="1098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h45b0e18ed2441d3a_0_35"/>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THE MARKET </a:t>
            </a:r>
            <a:r>
              <a:rPr b="1" lang="en-US" sz="1200">
                <a:solidFill>
                  <a:srgbClr val="3B82F6"/>
                </a:solidFill>
                <a:latin typeface="Calibri"/>
                <a:ea typeface="Calibri"/>
                <a:cs typeface="Calibri"/>
                <a:sym typeface="Calibri"/>
              </a:rPr>
              <a:t>CHALLENGES</a:t>
            </a:r>
            <a:endParaRPr/>
          </a:p>
        </p:txBody>
      </p:sp>
      <p:sp>
        <p:nvSpPr>
          <p:cNvPr id="168" name="Google Shape;168;h45b0e18ed2441d3a_0_35"/>
          <p:cNvSpPr txBox="1"/>
          <p:nvPr/>
        </p:nvSpPr>
        <p:spPr>
          <a:xfrm>
            <a:off x="548640" y="731520"/>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Engineering is every business's bottleneck</a:t>
            </a:r>
            <a:endParaRPr>
              <a:solidFill>
                <a:srgbClr val="141B2D"/>
              </a:solidFill>
            </a:endParaRPr>
          </a:p>
        </p:txBody>
      </p:sp>
      <p:sp>
        <p:nvSpPr>
          <p:cNvPr id="169" name="Google Shape;169;h45b0e18ed2441d3a_0_35"/>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70" name="Google Shape;170;h45b0e18ed2441d3a_0_35"/>
          <p:cNvSpPr txBox="1"/>
          <p:nvPr/>
        </p:nvSpPr>
        <p:spPr>
          <a:xfrm>
            <a:off x="10789920" y="6446520"/>
            <a:ext cx="914400" cy="20940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12</a:t>
            </a:r>
            <a:endParaRPr/>
          </a:p>
        </p:txBody>
      </p:sp>
      <p:sp>
        <p:nvSpPr>
          <p:cNvPr id="171" name="Google Shape;171;h45b0e18ed2441d3a_0_35"/>
          <p:cNvSpPr txBox="1"/>
          <p:nvPr/>
        </p:nvSpPr>
        <p:spPr>
          <a:xfrm>
            <a:off x="548640" y="1737360"/>
            <a:ext cx="2743200" cy="7326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~40%</a:t>
            </a:r>
            <a:endParaRPr/>
          </a:p>
        </p:txBody>
      </p:sp>
      <p:sp>
        <p:nvSpPr>
          <p:cNvPr id="172" name="Google Shape;172;h45b0e18ed2441d3a_0_35"/>
          <p:cNvSpPr txBox="1"/>
          <p:nvPr/>
        </p:nvSpPr>
        <p:spPr>
          <a:xfrm>
            <a:off x="548640" y="2560320"/>
            <a:ext cx="2743200" cy="6558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of developer time is spent on maintenance and toil rather than buildin</a:t>
            </a:r>
            <a:r>
              <a:rPr lang="en-US" sz="1300">
                <a:solidFill>
                  <a:srgbClr val="141B2D"/>
                </a:solidFill>
                <a:latin typeface="Calibri"/>
                <a:ea typeface="Calibri"/>
                <a:cs typeface="Calibri"/>
                <a:sym typeface="Calibri"/>
              </a:rPr>
              <a:t>g</a:t>
            </a:r>
            <a:r>
              <a:rPr i="1" lang="en-US" sz="1100">
                <a:solidFill>
                  <a:srgbClr val="141B2D"/>
                </a:solidFill>
                <a:latin typeface="Calibri"/>
                <a:ea typeface="Calibri"/>
                <a:cs typeface="Calibri"/>
                <a:sym typeface="Calibri"/>
              </a:rPr>
              <a:t> </a:t>
            </a:r>
            <a:r>
              <a:rPr b="0" i="1" lang="en-US" sz="1100" u="none" cap="none" strike="noStrike">
                <a:solidFill>
                  <a:srgbClr val="141B2D"/>
                </a:solidFill>
                <a:latin typeface="Calibri"/>
                <a:ea typeface="Calibri"/>
                <a:cs typeface="Calibri"/>
                <a:sym typeface="Calibri"/>
              </a:rPr>
              <a:t>(</a:t>
            </a:r>
            <a:r>
              <a:rPr i="1" lang="en-US" sz="1100">
                <a:solidFill>
                  <a:srgbClr val="141B2D"/>
                </a:solidFill>
                <a:latin typeface="Calibri"/>
                <a:ea typeface="Calibri"/>
                <a:cs typeface="Calibri"/>
                <a:sym typeface="Calibri"/>
              </a:rPr>
              <a:t>McKinsey</a:t>
            </a:r>
            <a:r>
              <a:rPr b="0" i="1" lang="en-US" sz="1100" u="none" cap="none" strike="noStrike">
                <a:solidFill>
                  <a:srgbClr val="141B2D"/>
                </a:solidFill>
                <a:latin typeface="Calibri"/>
                <a:ea typeface="Calibri"/>
                <a:cs typeface="Calibri"/>
                <a:sym typeface="Calibri"/>
              </a:rPr>
              <a:t>)</a:t>
            </a:r>
            <a:endParaRPr i="1" sz="1100">
              <a:solidFill>
                <a:srgbClr val="141B2D"/>
              </a:solidFill>
            </a:endParaRPr>
          </a:p>
        </p:txBody>
      </p:sp>
      <p:sp>
        <p:nvSpPr>
          <p:cNvPr id="173" name="Google Shape;173;h45b0e18ed2441d3a_0_35"/>
          <p:cNvSpPr txBox="1"/>
          <p:nvPr/>
        </p:nvSpPr>
        <p:spPr>
          <a:xfrm>
            <a:off x="3383280" y="1737360"/>
            <a:ext cx="2743200" cy="7326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$85B+</a:t>
            </a:r>
            <a:endParaRPr/>
          </a:p>
        </p:txBody>
      </p:sp>
      <p:sp>
        <p:nvSpPr>
          <p:cNvPr id="174" name="Google Shape;174;h45b0e18ed2441d3a_0_35"/>
          <p:cNvSpPr txBox="1"/>
          <p:nvPr/>
        </p:nvSpPr>
        <p:spPr>
          <a:xfrm>
            <a:off x="338328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estimated annual cost of technical debt to enterprises</a:t>
            </a:r>
            <a:endParaRPr>
              <a:solidFill>
                <a:srgbClr val="141B2D"/>
              </a:solidFill>
            </a:endParaRPr>
          </a:p>
        </p:txBody>
      </p:sp>
      <p:sp>
        <p:nvSpPr>
          <p:cNvPr id="175" name="Google Shape;175;h45b0e18ed2441d3a_0_35"/>
          <p:cNvSpPr txBox="1"/>
          <p:nvPr/>
        </p:nvSpPr>
        <p:spPr>
          <a:xfrm>
            <a:off x="6217908" y="1853710"/>
            <a:ext cx="2743200" cy="5634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300" u="none" cap="none" strike="noStrike">
                <a:solidFill>
                  <a:srgbClr val="22C55E"/>
                </a:solidFill>
                <a:latin typeface="Calibri"/>
                <a:ea typeface="Calibri"/>
                <a:cs typeface="Calibri"/>
                <a:sym typeface="Calibri"/>
              </a:rPr>
              <a:t>Months</a:t>
            </a:r>
            <a:endParaRPr sz="1700"/>
          </a:p>
        </p:txBody>
      </p:sp>
      <p:sp>
        <p:nvSpPr>
          <p:cNvPr id="176" name="Google Shape;176;h45b0e18ed2441d3a_0_35"/>
          <p:cNvSpPr txBox="1"/>
          <p:nvPr/>
        </p:nvSpPr>
        <p:spPr>
          <a:xfrm>
            <a:off x="621792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to onboard a new engineer to a large legacy codebase</a:t>
            </a:r>
            <a:endParaRPr>
              <a:solidFill>
                <a:srgbClr val="141B2D"/>
              </a:solidFill>
            </a:endParaRPr>
          </a:p>
        </p:txBody>
      </p:sp>
      <p:sp>
        <p:nvSpPr>
          <p:cNvPr id="177" name="Google Shape;177;h45b0e18ed2441d3a_0_35"/>
          <p:cNvSpPr txBox="1"/>
          <p:nvPr/>
        </p:nvSpPr>
        <p:spPr>
          <a:xfrm>
            <a:off x="9052535" y="1815310"/>
            <a:ext cx="2743200" cy="5940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500" u="none" cap="none" strike="noStrike">
                <a:solidFill>
                  <a:srgbClr val="22C55E"/>
                </a:solidFill>
                <a:latin typeface="Calibri"/>
                <a:ea typeface="Calibri"/>
                <a:cs typeface="Calibri"/>
                <a:sym typeface="Calibri"/>
              </a:rPr>
              <a:t>Weeks</a:t>
            </a:r>
            <a:endParaRPr sz="500"/>
          </a:p>
        </p:txBody>
      </p:sp>
      <p:sp>
        <p:nvSpPr>
          <p:cNvPr id="178" name="Google Shape;178;h45b0e18ed2441d3a_0_35"/>
          <p:cNvSpPr txBox="1"/>
          <p:nvPr/>
        </p:nvSpPr>
        <p:spPr>
          <a:xfrm>
            <a:off x="905256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median time known CVEs stay unpatched in production dependencies</a:t>
            </a:r>
            <a:endParaRPr>
              <a:solidFill>
                <a:srgbClr val="141B2D"/>
              </a:solidFill>
            </a:endParaRPr>
          </a:p>
        </p:txBody>
      </p:sp>
      <p:sp>
        <p:nvSpPr>
          <p:cNvPr id="179" name="Google Shape;179;h45b0e18ed2441d3a_0_35"/>
          <p:cNvSpPr/>
          <p:nvPr/>
        </p:nvSpPr>
        <p:spPr>
          <a:xfrm>
            <a:off x="548640" y="3840480"/>
            <a:ext cx="11064300" cy="18300"/>
          </a:xfrm>
          <a:prstGeom prst="rect">
            <a:avLst/>
          </a:prstGeom>
          <a:solidFill>
            <a:srgbClr val="6B728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h45b0e18ed2441d3a_0_35"/>
          <p:cNvSpPr txBox="1"/>
          <p:nvPr/>
        </p:nvSpPr>
        <p:spPr>
          <a:xfrm>
            <a:off x="548640" y="4114800"/>
            <a:ext cx="10972800" cy="167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600" u="none" cap="none" strike="noStrike">
                <a:solidFill>
                  <a:srgbClr val="141B2D"/>
                </a:solidFill>
                <a:latin typeface="Calibri"/>
                <a:ea typeface="Calibri"/>
                <a:cs typeface="Calibri"/>
                <a:sym typeface="Calibri"/>
              </a:rPr>
              <a:t>▪  Every company is now a software company, but headcount growth cannot match demand for software.</a:t>
            </a:r>
            <a:endParaRPr>
              <a:solidFill>
                <a:srgbClr val="141B2D"/>
              </a:solidFill>
            </a:endParaRPr>
          </a:p>
          <a:p>
            <a:pPr indent="0" lvl="0" marL="0" marR="0" rtl="0" algn="l">
              <a:spcBef>
                <a:spcPts val="600"/>
              </a:spcBef>
              <a:spcAft>
                <a:spcPts val="0"/>
              </a:spcAft>
              <a:buNone/>
            </a:pPr>
            <a:r>
              <a:rPr b="0" i="0" lang="en-US" sz="1600" u="none" cap="none" strike="noStrike">
                <a:solidFill>
                  <a:srgbClr val="141B2D"/>
                </a:solidFill>
                <a:latin typeface="Calibri"/>
                <a:ea typeface="Calibri"/>
                <a:cs typeface="Calibri"/>
                <a:sym typeface="Calibri"/>
              </a:rPr>
              <a:t>▪  Legacy systems, migrations, and compliance work consume the most experienced engineers.</a:t>
            </a:r>
            <a:endParaRPr>
              <a:solidFill>
                <a:srgbClr val="141B2D"/>
              </a:solidFill>
            </a:endParaRPr>
          </a:p>
          <a:p>
            <a:pPr indent="0" lvl="0" marL="0" marR="0" rtl="0" algn="l">
              <a:spcBef>
                <a:spcPts val="600"/>
              </a:spcBef>
              <a:spcAft>
                <a:spcPts val="0"/>
              </a:spcAft>
              <a:buNone/>
            </a:pPr>
            <a:r>
              <a:rPr b="0" i="0" lang="en-US" sz="1600" u="none" cap="none" strike="noStrike">
                <a:solidFill>
                  <a:srgbClr val="141B2D"/>
                </a:solidFill>
                <a:latin typeface="Calibri"/>
                <a:ea typeface="Calibri"/>
                <a:cs typeface="Calibri"/>
                <a:sym typeface="Calibri"/>
              </a:rPr>
              <a:t>▪  Security teams inherit vulnerability debt they cannot fix themselves.</a:t>
            </a:r>
            <a:endParaRPr>
              <a:solidFill>
                <a:srgbClr val="141B2D"/>
              </a:solidFill>
            </a:endParaRPr>
          </a:p>
          <a:p>
            <a:pPr indent="0" lvl="0" marL="0" marR="0" rtl="0" algn="l">
              <a:spcBef>
                <a:spcPts val="600"/>
              </a:spcBef>
              <a:spcAft>
                <a:spcPts val="0"/>
              </a:spcAft>
              <a:buNone/>
            </a:pPr>
            <a:r>
              <a:t/>
            </a:r>
            <a:endParaRPr sz="1600">
              <a:solidFill>
                <a:srgbClr val="141B2D"/>
              </a:solidFill>
              <a:latin typeface="Calibri"/>
              <a:ea typeface="Calibri"/>
              <a:cs typeface="Calibri"/>
              <a:sym typeface="Calibri"/>
            </a:endParaRPr>
          </a:p>
          <a:p>
            <a:pPr indent="0" lvl="0" marL="0" marR="0" rtl="0" algn="ctr">
              <a:spcBef>
                <a:spcPts val="600"/>
              </a:spcBef>
              <a:spcAft>
                <a:spcPts val="0"/>
              </a:spcAft>
              <a:buNone/>
            </a:pPr>
            <a:r>
              <a:rPr b="1" i="1" lang="en-US" sz="1900">
                <a:solidFill>
                  <a:srgbClr val="141B2D"/>
                </a:solidFill>
                <a:latin typeface="Calibri"/>
                <a:ea typeface="Calibri"/>
                <a:cs typeface="Calibri"/>
                <a:sym typeface="Calibri"/>
              </a:rPr>
              <a:t>Enterprises need a multiplier on engineer </a:t>
            </a:r>
            <a:r>
              <a:rPr b="1" i="1" lang="en-US" sz="1900">
                <a:solidFill>
                  <a:srgbClr val="141B2D"/>
                </a:solidFill>
                <a:latin typeface="Calibri"/>
                <a:ea typeface="Calibri"/>
                <a:cs typeface="Calibri"/>
                <a:sym typeface="Calibri"/>
              </a:rPr>
              <a:t>capability</a:t>
            </a:r>
            <a:r>
              <a:rPr b="1" i="1" lang="en-US" sz="1900">
                <a:solidFill>
                  <a:srgbClr val="141B2D"/>
                </a:solidFill>
                <a:latin typeface="Calibri"/>
                <a:ea typeface="Calibri"/>
                <a:cs typeface="Calibri"/>
                <a:sym typeface="Calibri"/>
              </a:rPr>
              <a:t> and time allocation</a:t>
            </a:r>
            <a:endParaRPr b="1" i="1" sz="1900">
              <a:solidFill>
                <a:srgbClr val="141B2D"/>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6"/>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200">
                <a:solidFill>
                  <a:srgbClr val="3B82F6"/>
                </a:solidFill>
                <a:latin typeface="Calibri"/>
                <a:ea typeface="Calibri"/>
                <a:cs typeface="Calibri"/>
                <a:sym typeface="Calibri"/>
              </a:rPr>
              <a:t>TEAM CHALLENGES</a:t>
            </a:r>
            <a:endParaRPr/>
          </a:p>
        </p:txBody>
      </p:sp>
      <p:sp>
        <p:nvSpPr>
          <p:cNvPr id="188" name="Google Shape;188;p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What we hear from engineering leaders</a:t>
            </a:r>
            <a:endParaRPr/>
          </a:p>
        </p:txBody>
      </p:sp>
      <p:sp>
        <p:nvSpPr>
          <p:cNvPr id="189" name="Google Shape;189;p6"/>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90" name="Google Shape;190;p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6</a:t>
            </a:r>
            <a:endParaRPr/>
          </a:p>
        </p:txBody>
      </p:sp>
      <p:sp>
        <p:nvSpPr>
          <p:cNvPr id="191" name="Google Shape;191;p6"/>
          <p:cNvSpPr/>
          <p:nvPr/>
        </p:nvSpPr>
        <p:spPr>
          <a:xfrm>
            <a:off x="548640"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6"/>
          <p:cNvSpPr/>
          <p:nvPr/>
        </p:nvSpPr>
        <p:spPr>
          <a:xfrm>
            <a:off x="548640"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6"/>
          <p:cNvSpPr txBox="1"/>
          <p:nvPr/>
        </p:nvSpPr>
        <p:spPr>
          <a:xfrm>
            <a:off x="777240" y="187452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Reactive </a:t>
            </a:r>
            <a:endParaRPr/>
          </a:p>
        </p:txBody>
      </p:sp>
      <p:sp>
        <p:nvSpPr>
          <p:cNvPr id="194" name="Google Shape;194;p6"/>
          <p:cNvSpPr txBox="1"/>
          <p:nvPr/>
        </p:nvSpPr>
        <p:spPr>
          <a:xfrm>
            <a:off x="777240" y="2331720"/>
            <a:ext cx="3200400" cy="6558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40-60% of engineering time goes to maintenance, migrations, and toil, not roadmap.</a:t>
            </a:r>
            <a:endParaRPr/>
          </a:p>
        </p:txBody>
      </p:sp>
      <p:sp>
        <p:nvSpPr>
          <p:cNvPr id="195" name="Google Shape;195;p6"/>
          <p:cNvSpPr/>
          <p:nvPr/>
        </p:nvSpPr>
        <p:spPr>
          <a:xfrm>
            <a:off x="4297679"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6"/>
          <p:cNvSpPr/>
          <p:nvPr/>
        </p:nvSpPr>
        <p:spPr>
          <a:xfrm>
            <a:off x="4297679"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6"/>
          <p:cNvSpPr txBox="1"/>
          <p:nvPr/>
        </p:nvSpPr>
        <p:spPr>
          <a:xfrm>
            <a:off x="4526279" y="187452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Execution</a:t>
            </a:r>
            <a:r>
              <a:rPr b="1" i="0" lang="en-US" sz="1600" u="none" cap="none" strike="noStrike">
                <a:solidFill>
                  <a:srgbClr val="141B2D"/>
                </a:solidFill>
                <a:latin typeface="Calibri"/>
                <a:ea typeface="Calibri"/>
                <a:cs typeface="Calibri"/>
                <a:sym typeface="Calibri"/>
              </a:rPr>
              <a:t> bottleneck</a:t>
            </a:r>
            <a:endParaRPr/>
          </a:p>
        </p:txBody>
      </p:sp>
      <p:sp>
        <p:nvSpPr>
          <p:cNvPr id="198" name="Google Shape;198;p6"/>
          <p:cNvSpPr txBox="1"/>
          <p:nvPr/>
        </p:nvSpPr>
        <p:spPr>
          <a:xfrm>
            <a:off x="4526279" y="2331720"/>
            <a:ext cx="3200400" cy="18408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Teams</a:t>
            </a:r>
            <a:r>
              <a:rPr i="0" lang="en-US" sz="1300" u="none" cap="none" strike="noStrike">
                <a:solidFill>
                  <a:srgbClr val="141B2D"/>
                </a:solidFill>
                <a:latin typeface="Calibri"/>
                <a:ea typeface="Calibri"/>
                <a:cs typeface="Calibri"/>
                <a:sym typeface="Calibri"/>
              </a:rPr>
              <a:t> are the constraint by headcount</a:t>
            </a:r>
            <a:endParaRPr i="0" sz="1300" u="none" cap="none" strike="noStrike">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Headcount constraints are real</a:t>
            </a:r>
            <a:endParaRPr sz="1300">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Team is stuck doing repetitive, low-value work.</a:t>
            </a:r>
            <a:endParaRPr sz="1300">
              <a:solidFill>
                <a:srgbClr val="141B2D"/>
              </a:solidFill>
              <a:latin typeface="Calibri"/>
              <a:ea typeface="Calibri"/>
              <a:cs typeface="Calibri"/>
              <a:sym typeface="Calibri"/>
            </a:endParaRPr>
          </a:p>
          <a:p>
            <a:pPr indent="0" lvl="0" marL="457200" rtl="0" algn="l">
              <a:spcBef>
                <a:spcPts val="1000"/>
              </a:spcBef>
              <a:spcAft>
                <a:spcPts val="0"/>
              </a:spcAft>
              <a:buNone/>
            </a:pPr>
            <a:r>
              <a:t/>
            </a:r>
            <a:endParaRPr sz="1300">
              <a:solidFill>
                <a:srgbClr val="141B2D"/>
              </a:solidFill>
              <a:latin typeface="Calibri"/>
              <a:ea typeface="Calibri"/>
              <a:cs typeface="Calibri"/>
              <a:sym typeface="Calibri"/>
            </a:endParaRPr>
          </a:p>
          <a:p>
            <a:pPr indent="0" lvl="0" marL="457200" marR="0" rtl="0" algn="l">
              <a:spcBef>
                <a:spcPts val="0"/>
              </a:spcBef>
              <a:spcAft>
                <a:spcPts val="0"/>
              </a:spcAft>
              <a:buNone/>
            </a:pPr>
            <a:r>
              <a:t/>
            </a:r>
            <a:endParaRPr sz="1300">
              <a:solidFill>
                <a:srgbClr val="141B2D"/>
              </a:solidFill>
              <a:latin typeface="Calibri"/>
              <a:ea typeface="Calibri"/>
              <a:cs typeface="Calibri"/>
              <a:sym typeface="Calibri"/>
            </a:endParaRPr>
          </a:p>
          <a:p>
            <a:pPr indent="0" lvl="0" marL="0" marR="0" rtl="0" algn="l">
              <a:spcBef>
                <a:spcPts val="0"/>
              </a:spcBef>
              <a:spcAft>
                <a:spcPts val="0"/>
              </a:spcAft>
              <a:buNone/>
            </a:pPr>
            <a:r>
              <a:t/>
            </a:r>
            <a:endParaRPr sz="1300">
              <a:solidFill>
                <a:srgbClr val="141B2D"/>
              </a:solidFill>
              <a:latin typeface="Calibri"/>
              <a:ea typeface="Calibri"/>
              <a:cs typeface="Calibri"/>
              <a:sym typeface="Calibri"/>
            </a:endParaRPr>
          </a:p>
        </p:txBody>
      </p:sp>
      <p:sp>
        <p:nvSpPr>
          <p:cNvPr id="199" name="Google Shape;199;p6"/>
          <p:cNvSpPr/>
          <p:nvPr/>
        </p:nvSpPr>
        <p:spPr>
          <a:xfrm>
            <a:off x="8046718"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6"/>
          <p:cNvSpPr/>
          <p:nvPr/>
        </p:nvSpPr>
        <p:spPr>
          <a:xfrm>
            <a:off x="8046718"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6"/>
          <p:cNvSpPr txBox="1"/>
          <p:nvPr/>
        </p:nvSpPr>
        <p:spPr>
          <a:xfrm>
            <a:off x="8275318" y="1874520"/>
            <a:ext cx="3200400" cy="3018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Clr>
                <a:schemeClr val="dk1"/>
              </a:buClr>
              <a:buFont typeface="Arial"/>
              <a:buNone/>
            </a:pPr>
            <a:r>
              <a:rPr b="1" lang="en-US" sz="1600">
                <a:solidFill>
                  <a:srgbClr val="141B2D"/>
                </a:solidFill>
                <a:latin typeface="Calibri"/>
                <a:ea typeface="Calibri"/>
                <a:cs typeface="Calibri"/>
                <a:sym typeface="Calibri"/>
              </a:rPr>
              <a:t>C</a:t>
            </a:r>
            <a:r>
              <a:rPr b="1" lang="en-US" sz="1600">
                <a:solidFill>
                  <a:srgbClr val="141B2D"/>
                </a:solidFill>
                <a:latin typeface="Calibri"/>
                <a:ea typeface="Calibri"/>
                <a:cs typeface="Calibri"/>
                <a:sym typeface="Calibri"/>
              </a:rPr>
              <a:t>ontext Switching</a:t>
            </a:r>
            <a:endParaRPr/>
          </a:p>
        </p:txBody>
      </p:sp>
      <p:sp>
        <p:nvSpPr>
          <p:cNvPr id="202" name="Google Shape;202;p6"/>
          <p:cNvSpPr txBox="1"/>
          <p:nvPr/>
        </p:nvSpPr>
        <p:spPr>
          <a:xfrm>
            <a:off x="8275318" y="2331720"/>
            <a:ext cx="3200400" cy="783900"/>
          </a:xfrm>
          <a:prstGeom prst="rect">
            <a:avLst/>
          </a:prstGeom>
          <a:noFill/>
          <a:ln>
            <a:noFill/>
          </a:ln>
        </p:spPr>
        <p:txBody>
          <a:bodyPr anchorCtr="0" anchor="t" bIns="27425" lIns="45700" spcFirstLastPara="1" rIns="45700" wrap="square" tIns="27425">
            <a:spAutoFit/>
          </a:bodyPr>
          <a:lstStyle/>
          <a:p>
            <a:pPr indent="-311150" lvl="0" marL="45720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Meetings &amp; interruptions hinder deep productivity</a:t>
            </a:r>
            <a:endParaRPr sz="1300">
              <a:solidFill>
                <a:srgbClr val="141B2D"/>
              </a:solidFill>
              <a:latin typeface="Calibri"/>
              <a:ea typeface="Calibri"/>
              <a:cs typeface="Calibri"/>
              <a:sym typeface="Calibri"/>
            </a:endParaRPr>
          </a:p>
          <a:p>
            <a:pPr indent="0" lvl="0" marL="0" marR="0" rtl="0" algn="l">
              <a:spcBef>
                <a:spcPts val="1000"/>
              </a:spcBef>
              <a:spcAft>
                <a:spcPts val="0"/>
              </a:spcAft>
              <a:buNone/>
            </a:pPr>
            <a:r>
              <a:t/>
            </a:r>
            <a:endParaRPr sz="1300">
              <a:solidFill>
                <a:srgbClr val="141B2D"/>
              </a:solidFill>
              <a:latin typeface="Calibri"/>
              <a:ea typeface="Calibri"/>
              <a:cs typeface="Calibri"/>
              <a:sym typeface="Calibri"/>
            </a:endParaRPr>
          </a:p>
        </p:txBody>
      </p:sp>
      <p:sp>
        <p:nvSpPr>
          <p:cNvPr id="203" name="Google Shape;203;p6"/>
          <p:cNvSpPr/>
          <p:nvPr/>
        </p:nvSpPr>
        <p:spPr>
          <a:xfrm>
            <a:off x="548640"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6"/>
          <p:cNvSpPr/>
          <p:nvPr/>
        </p:nvSpPr>
        <p:spPr>
          <a:xfrm>
            <a:off x="548640"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6"/>
          <p:cNvSpPr txBox="1"/>
          <p:nvPr/>
        </p:nvSpPr>
        <p:spPr>
          <a:xfrm>
            <a:off x="777240" y="411480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Technical</a:t>
            </a:r>
            <a:r>
              <a:rPr b="1" i="0" lang="en-US" sz="1600" u="none" cap="none" strike="noStrike">
                <a:solidFill>
                  <a:srgbClr val="141B2D"/>
                </a:solidFill>
                <a:latin typeface="Calibri"/>
                <a:ea typeface="Calibri"/>
                <a:cs typeface="Calibri"/>
                <a:sym typeface="Calibri"/>
              </a:rPr>
              <a:t> debt</a:t>
            </a:r>
            <a:endParaRPr/>
          </a:p>
        </p:txBody>
      </p:sp>
      <p:sp>
        <p:nvSpPr>
          <p:cNvPr id="206" name="Google Shape;206;p6"/>
          <p:cNvSpPr txBox="1"/>
          <p:nvPr/>
        </p:nvSpPr>
        <p:spPr>
          <a:xfrm>
            <a:off x="777240" y="4517136"/>
            <a:ext cx="3200400" cy="1512600"/>
          </a:xfrm>
          <a:prstGeom prst="rect">
            <a:avLst/>
          </a:prstGeom>
          <a:noFill/>
          <a:ln>
            <a:noFill/>
          </a:ln>
        </p:spPr>
        <p:txBody>
          <a:bodyPr anchorCtr="0" anchor="t" bIns="27425" lIns="45700" spcFirstLastPara="1" rIns="45700" wrap="square" tIns="27425">
            <a:spAutoFit/>
          </a:bodyPr>
          <a:lstStyle/>
          <a:p>
            <a:pPr indent="-304800" lvl="0" marL="457200" marR="0" rtl="0" algn="l">
              <a:spcBef>
                <a:spcPts val="0"/>
              </a:spcBef>
              <a:spcAft>
                <a:spcPts val="0"/>
              </a:spcAft>
              <a:buClr>
                <a:srgbClr val="1A233A"/>
              </a:buClr>
              <a:buSzPts val="1200"/>
              <a:buFont typeface="Calibri"/>
              <a:buChar char="●"/>
            </a:pPr>
            <a:r>
              <a:rPr lang="en-US" sz="1300">
                <a:solidFill>
                  <a:srgbClr val="1A233A"/>
                </a:solidFill>
                <a:latin typeface="Calibri"/>
                <a:ea typeface="Calibri"/>
                <a:cs typeface="Calibri"/>
                <a:sym typeface="Calibri"/>
              </a:rPr>
              <a:t>Compounds &amp; delayed refactoring makes systems harder to modify</a:t>
            </a:r>
            <a:endParaRPr sz="1300">
              <a:solidFill>
                <a:srgbClr val="1A233A"/>
              </a:solidFill>
              <a:latin typeface="Calibri"/>
              <a:ea typeface="Calibri"/>
              <a:cs typeface="Calibri"/>
              <a:sym typeface="Calibri"/>
            </a:endParaRPr>
          </a:p>
          <a:p>
            <a:pPr indent="-304800" lvl="0" marL="457200" marR="0" rtl="0" algn="l">
              <a:spcBef>
                <a:spcPts val="1000"/>
              </a:spcBef>
              <a:spcAft>
                <a:spcPts val="0"/>
              </a:spcAft>
              <a:buClr>
                <a:srgbClr val="1A233A"/>
              </a:buClr>
              <a:buSzPts val="1200"/>
              <a:buFont typeface="Calibri"/>
              <a:buChar char="●"/>
            </a:pPr>
            <a:r>
              <a:rPr lang="en-US" sz="1300">
                <a:solidFill>
                  <a:srgbClr val="1A233A"/>
                </a:solidFill>
                <a:latin typeface="Calibri"/>
                <a:ea typeface="Calibri"/>
                <a:cs typeface="Calibri"/>
                <a:sym typeface="Calibri"/>
              </a:rPr>
              <a:t>B</a:t>
            </a:r>
            <a:r>
              <a:rPr i="0" lang="en-US" sz="1300" u="none" cap="none" strike="noStrike">
                <a:solidFill>
                  <a:srgbClr val="1A233A"/>
                </a:solidFill>
                <a:latin typeface="Calibri"/>
                <a:ea typeface="Calibri"/>
                <a:cs typeface="Calibri"/>
                <a:sym typeface="Calibri"/>
              </a:rPr>
              <a:t>andwidth</a:t>
            </a:r>
            <a:r>
              <a:rPr lang="en-US" sz="1300">
                <a:solidFill>
                  <a:srgbClr val="1A233A"/>
                </a:solidFill>
                <a:latin typeface="Calibri"/>
                <a:ea typeface="Calibri"/>
                <a:cs typeface="Calibri"/>
                <a:sym typeface="Calibri"/>
              </a:rPr>
              <a:t> limitations → </a:t>
            </a:r>
            <a:r>
              <a:rPr lang="en-US" sz="1300">
                <a:solidFill>
                  <a:srgbClr val="1A233A"/>
                </a:solidFill>
                <a:latin typeface="Calibri"/>
                <a:ea typeface="Calibri"/>
                <a:cs typeface="Calibri"/>
                <a:sym typeface="Calibri"/>
              </a:rPr>
              <a:t>Dependency upgrades and CVE patches are 'known and deferred' </a:t>
            </a:r>
            <a:endParaRPr sz="1300">
              <a:solidFill>
                <a:srgbClr val="1A233A"/>
              </a:solidFill>
              <a:latin typeface="Calibri"/>
              <a:ea typeface="Calibri"/>
              <a:cs typeface="Calibri"/>
              <a:sym typeface="Calibri"/>
            </a:endParaRPr>
          </a:p>
          <a:p>
            <a:pPr indent="-304800" lvl="0" marL="457200" marR="0" rtl="0" algn="l">
              <a:spcBef>
                <a:spcPts val="1000"/>
              </a:spcBef>
              <a:spcAft>
                <a:spcPts val="1000"/>
              </a:spcAft>
              <a:buClr>
                <a:srgbClr val="1A233A"/>
              </a:buClr>
              <a:buSzPts val="1200"/>
              <a:buFont typeface="Calibri"/>
              <a:buChar char="●"/>
            </a:pPr>
            <a:r>
              <a:rPr lang="en-US" sz="1300">
                <a:solidFill>
                  <a:srgbClr val="1A233A"/>
                </a:solidFill>
                <a:latin typeface="Calibri"/>
                <a:ea typeface="Calibri"/>
                <a:cs typeface="Calibri"/>
                <a:sym typeface="Calibri"/>
              </a:rPr>
              <a:t>Legacy systems slow shipping velocity</a:t>
            </a:r>
            <a:endParaRPr sz="1300">
              <a:solidFill>
                <a:srgbClr val="1A233A"/>
              </a:solidFill>
              <a:latin typeface="Calibri"/>
              <a:ea typeface="Calibri"/>
              <a:cs typeface="Calibri"/>
              <a:sym typeface="Calibri"/>
            </a:endParaRPr>
          </a:p>
        </p:txBody>
      </p:sp>
      <p:sp>
        <p:nvSpPr>
          <p:cNvPr id="207" name="Google Shape;207;p6"/>
          <p:cNvSpPr/>
          <p:nvPr/>
        </p:nvSpPr>
        <p:spPr>
          <a:xfrm>
            <a:off x="4297679"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 name="Google Shape;208;p6"/>
          <p:cNvSpPr/>
          <p:nvPr/>
        </p:nvSpPr>
        <p:spPr>
          <a:xfrm>
            <a:off x="4297679"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6"/>
          <p:cNvSpPr txBox="1"/>
          <p:nvPr/>
        </p:nvSpPr>
        <p:spPr>
          <a:xfrm>
            <a:off x="4526279" y="411480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Security &amp; Compliance</a:t>
            </a:r>
            <a:endParaRPr/>
          </a:p>
        </p:txBody>
      </p:sp>
      <p:sp>
        <p:nvSpPr>
          <p:cNvPr id="210" name="Google Shape;210;p6"/>
          <p:cNvSpPr txBox="1"/>
          <p:nvPr/>
        </p:nvSpPr>
        <p:spPr>
          <a:xfrm>
            <a:off x="4526279" y="4572000"/>
            <a:ext cx="3200400" cy="11124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Essential but </a:t>
            </a:r>
            <a:r>
              <a:rPr lang="en-US" sz="1300">
                <a:solidFill>
                  <a:srgbClr val="141B2D"/>
                </a:solidFill>
                <a:latin typeface="Calibri"/>
                <a:ea typeface="Calibri"/>
                <a:cs typeface="Calibri"/>
                <a:sym typeface="Calibri"/>
              </a:rPr>
              <a:t>time</a:t>
            </a:r>
            <a:r>
              <a:rPr lang="en-US" sz="1300">
                <a:solidFill>
                  <a:srgbClr val="141B2D"/>
                </a:solidFill>
                <a:latin typeface="Calibri"/>
                <a:ea typeface="Calibri"/>
                <a:cs typeface="Calibri"/>
                <a:sym typeface="Calibri"/>
              </a:rPr>
              <a:t> consuming</a:t>
            </a:r>
            <a:endParaRPr sz="1300">
              <a:solidFill>
                <a:srgbClr val="141B2D"/>
              </a:solidFill>
              <a:latin typeface="Calibri"/>
              <a:ea typeface="Calibri"/>
              <a:cs typeface="Calibri"/>
              <a:sym typeface="Calibri"/>
            </a:endParaRPr>
          </a:p>
          <a:p>
            <a:pPr indent="-311150" lvl="0" marL="457200" marR="0" rtl="0" algn="l">
              <a:spcBef>
                <a:spcPts val="100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Engineers already paste code into consumer AI tools. </a:t>
            </a:r>
            <a:endParaRPr b="0" i="0" sz="1300" u="none" cap="none" strike="noStrike">
              <a:solidFill>
                <a:srgbClr val="141B2D"/>
              </a:solidFill>
              <a:latin typeface="Calibri"/>
              <a:ea typeface="Calibri"/>
              <a:cs typeface="Calibri"/>
              <a:sym typeface="Calibri"/>
            </a:endParaRPr>
          </a:p>
          <a:p>
            <a:pPr indent="-311150" lvl="0" marL="457200" marR="0" rtl="0" algn="l">
              <a:spcBef>
                <a:spcPts val="1000"/>
              </a:spcBef>
              <a:spcAft>
                <a:spcPts val="100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Security has limited visibility or control.</a:t>
            </a:r>
            <a:endParaRPr>
              <a:solidFill>
                <a:srgbClr val="141B2D"/>
              </a:solidFill>
            </a:endParaRPr>
          </a:p>
        </p:txBody>
      </p:sp>
      <p:sp>
        <p:nvSpPr>
          <p:cNvPr id="211" name="Google Shape;211;p6"/>
          <p:cNvSpPr/>
          <p:nvPr/>
        </p:nvSpPr>
        <p:spPr>
          <a:xfrm>
            <a:off x="8046718"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6"/>
          <p:cNvSpPr/>
          <p:nvPr/>
        </p:nvSpPr>
        <p:spPr>
          <a:xfrm>
            <a:off x="8046718"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6"/>
          <p:cNvSpPr txBox="1"/>
          <p:nvPr/>
        </p:nvSpPr>
        <p:spPr>
          <a:xfrm>
            <a:off x="8275325" y="4114800"/>
            <a:ext cx="34290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Quality vs Speed </a:t>
            </a:r>
            <a:endParaRPr/>
          </a:p>
        </p:txBody>
      </p:sp>
      <p:sp>
        <p:nvSpPr>
          <p:cNvPr id="214" name="Google Shape;214;p6"/>
          <p:cNvSpPr txBox="1"/>
          <p:nvPr/>
        </p:nvSpPr>
        <p:spPr>
          <a:xfrm>
            <a:off x="8275318" y="4572000"/>
            <a:ext cx="3200400" cy="1440600"/>
          </a:xfrm>
          <a:prstGeom prst="rect">
            <a:avLst/>
          </a:prstGeom>
          <a:noFill/>
          <a:ln>
            <a:noFill/>
          </a:ln>
        </p:spPr>
        <p:txBody>
          <a:bodyPr anchorCtr="0" anchor="t" bIns="27425" lIns="45700" spcFirstLastPara="1" rIns="45700" wrap="square" tIns="27425">
            <a:spAutoFit/>
          </a:bodyPr>
          <a:lstStyle/>
          <a:p>
            <a:pPr indent="-311150" lvl="0" marL="45720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Pressure to ship</a:t>
            </a:r>
            <a:endParaRPr sz="1300">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Keep pace with revenue demands</a:t>
            </a:r>
            <a:endParaRPr sz="1300">
              <a:solidFill>
                <a:srgbClr val="141B2D"/>
              </a:solidFill>
              <a:latin typeface="Calibri"/>
              <a:ea typeface="Calibri"/>
              <a:cs typeface="Calibri"/>
              <a:sym typeface="Calibri"/>
            </a:endParaRPr>
          </a:p>
          <a:p>
            <a:pPr indent="-311150" lvl="0" marL="457200" marR="0" rtl="0" algn="l">
              <a:spcBef>
                <a:spcPts val="100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Copilots help type faster but do not take work off the board.</a:t>
            </a:r>
            <a:endParaRPr b="0" i="0" sz="1300" u="none" cap="none" strike="noStrike">
              <a:solidFill>
                <a:srgbClr val="141B2D"/>
              </a:solidFill>
              <a:latin typeface="Calibri"/>
              <a:ea typeface="Calibri"/>
              <a:cs typeface="Calibri"/>
              <a:sym typeface="Calibri"/>
            </a:endParaRPr>
          </a:p>
          <a:p>
            <a:pPr indent="0" lvl="0" marL="457200" marR="0" rtl="0" algn="l">
              <a:spcBef>
                <a:spcPts val="1000"/>
              </a:spcBef>
              <a:spcAft>
                <a:spcPts val="1000"/>
              </a:spcAft>
              <a:buNone/>
            </a:pPr>
            <a:r>
              <a:t/>
            </a:r>
            <a:endParaRPr sz="1300">
              <a:solidFill>
                <a:srgbClr val="141B2D"/>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3"/>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13"/>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THE SHIFT</a:t>
            </a:r>
            <a:endParaRPr/>
          </a:p>
        </p:txBody>
      </p:sp>
      <p:sp>
        <p:nvSpPr>
          <p:cNvPr id="222" name="Google Shape;222;p13"/>
          <p:cNvSpPr txBox="1"/>
          <p:nvPr/>
        </p:nvSpPr>
        <p:spPr>
          <a:xfrm>
            <a:off x="548640" y="731520"/>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3000">
                <a:solidFill>
                  <a:srgbClr val="141B2D"/>
                </a:solidFill>
                <a:latin typeface="Calibri"/>
                <a:ea typeface="Calibri"/>
                <a:cs typeface="Calibri"/>
                <a:sym typeface="Calibri"/>
              </a:rPr>
              <a:t>Copilot → Colleague </a:t>
            </a:r>
            <a:endParaRPr/>
          </a:p>
        </p:txBody>
      </p:sp>
      <p:sp>
        <p:nvSpPr>
          <p:cNvPr id="223" name="Google Shape;223;p13"/>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24" name="Google Shape;224;p13"/>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13</a:t>
            </a:r>
            <a:endParaRPr/>
          </a:p>
        </p:txBody>
      </p:sp>
      <p:sp>
        <p:nvSpPr>
          <p:cNvPr id="225" name="Google Shape;225;p13"/>
          <p:cNvSpPr/>
          <p:nvPr/>
        </p:nvSpPr>
        <p:spPr>
          <a:xfrm>
            <a:off x="548640" y="1737360"/>
            <a:ext cx="5394960" cy="4297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 name="Google Shape;226;p13"/>
          <p:cNvSpPr txBox="1"/>
          <p:nvPr/>
        </p:nvSpPr>
        <p:spPr>
          <a:xfrm>
            <a:off x="822960" y="1920240"/>
            <a:ext cx="484632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6B7280"/>
                </a:solidFill>
                <a:latin typeface="Calibri"/>
                <a:ea typeface="Calibri"/>
                <a:cs typeface="Calibri"/>
                <a:sym typeface="Calibri"/>
              </a:rPr>
              <a:t>AI Copilot (Gen 1)</a:t>
            </a:r>
            <a:endParaRPr/>
          </a:p>
        </p:txBody>
      </p:sp>
      <p:sp>
        <p:nvSpPr>
          <p:cNvPr id="227" name="Google Shape;227;p13"/>
          <p:cNvSpPr txBox="1"/>
          <p:nvPr/>
        </p:nvSpPr>
        <p:spPr>
          <a:xfrm>
            <a:off x="822960" y="2468880"/>
            <a:ext cx="4846320" cy="347472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  Suggests the next line inside the editor</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Requires a human at the keyboard for every step</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No environment: cannot run tests or fix CI</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Productivity gain: ~10-20% per developer</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Backlog size unchanged</a:t>
            </a:r>
            <a:endParaRPr/>
          </a:p>
        </p:txBody>
      </p:sp>
      <p:sp>
        <p:nvSpPr>
          <p:cNvPr id="228" name="Google Shape;228;p13"/>
          <p:cNvSpPr/>
          <p:nvPr/>
        </p:nvSpPr>
        <p:spPr>
          <a:xfrm>
            <a:off x="6217920" y="1737360"/>
            <a:ext cx="5394960" cy="4297680"/>
          </a:xfrm>
          <a:prstGeom prst="roundRect">
            <a:avLst>
              <a:gd fmla="val 16667"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p13"/>
          <p:cNvSpPr txBox="1"/>
          <p:nvPr/>
        </p:nvSpPr>
        <p:spPr>
          <a:xfrm>
            <a:off x="6492240" y="1920240"/>
            <a:ext cx="48462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22C55E"/>
                </a:solidFill>
                <a:latin typeface="Calibri"/>
                <a:ea typeface="Calibri"/>
                <a:cs typeface="Calibri"/>
                <a:sym typeface="Calibri"/>
              </a:rPr>
              <a:t>AI Software Engineer (</a:t>
            </a:r>
            <a:r>
              <a:rPr b="1" lang="en-US" sz="2000">
                <a:solidFill>
                  <a:srgbClr val="22C55E"/>
                </a:solidFill>
                <a:latin typeface="Calibri"/>
                <a:ea typeface="Calibri"/>
                <a:cs typeface="Calibri"/>
                <a:sym typeface="Calibri"/>
              </a:rPr>
              <a:t>Gen 2)</a:t>
            </a:r>
            <a:endParaRPr/>
          </a:p>
        </p:txBody>
      </p:sp>
      <p:sp>
        <p:nvSpPr>
          <p:cNvPr id="230" name="Google Shape;230;p13"/>
          <p:cNvSpPr txBox="1"/>
          <p:nvPr/>
        </p:nvSpPr>
        <p:spPr>
          <a:xfrm>
            <a:off x="6492240" y="2468880"/>
            <a:ext cx="4846200" cy="1554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Takes a ticket and returns a tested pull request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Works asynchronously and in parallel: many </a:t>
            </a:r>
            <a:r>
              <a:rPr lang="en-US" sz="1500">
                <a:solidFill>
                  <a:srgbClr val="FFFFFF"/>
                </a:solidFill>
                <a:latin typeface="Calibri"/>
                <a:ea typeface="Calibri"/>
                <a:cs typeface="Calibri"/>
                <a:sym typeface="Calibri"/>
              </a:rPr>
              <a:t>agents</a:t>
            </a:r>
            <a:r>
              <a:rPr b="0" i="0" lang="en-US" sz="1500" u="none" cap="none" strike="noStrike">
                <a:solidFill>
                  <a:srgbClr val="FFFFFF"/>
                </a:solidFill>
                <a:latin typeface="Calibri"/>
                <a:ea typeface="Calibri"/>
                <a:cs typeface="Calibri"/>
                <a:sym typeface="Calibri"/>
              </a:rPr>
              <a:t> at once</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Own sandboxed machine: shell, browser, CI, deployment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Human shifts to reviewer and architect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Backlog actually shrinks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234" name="Shape 234"/>
        <p:cNvGrpSpPr/>
        <p:nvPr/>
      </p:nvGrpSpPr>
      <p:grpSpPr>
        <a:xfrm>
          <a:off x="0" y="0"/>
          <a:ext cx="0" cy="0"/>
          <a:chOff x="0" y="0"/>
          <a:chExt cx="0" cy="0"/>
        </a:xfrm>
      </p:grpSpPr>
      <p:sp>
        <p:nvSpPr>
          <p:cNvPr id="235" name="Google Shape;235;p7"/>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02</a:t>
            </a:r>
            <a:endParaRPr/>
          </a:p>
        </p:txBody>
      </p:sp>
      <p:sp>
        <p:nvSpPr>
          <p:cNvPr id="236" name="Google Shape;236;p7"/>
          <p:cNvSpPr txBox="1"/>
          <p:nvPr/>
        </p:nvSpPr>
        <p:spPr>
          <a:xfrm>
            <a:off x="822960" y="2871603"/>
            <a:ext cx="100584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4800">
                <a:solidFill>
                  <a:srgbClr val="FFFFFF"/>
                </a:solidFill>
                <a:latin typeface="Calibri"/>
                <a:ea typeface="Calibri"/>
                <a:cs typeface="Calibri"/>
                <a:sym typeface="Calibri"/>
              </a:rPr>
              <a:t>Meet </a:t>
            </a:r>
            <a:endParaRPr/>
          </a:p>
        </p:txBody>
      </p:sp>
      <p:pic>
        <p:nvPicPr>
          <p:cNvPr id="237" name="Google Shape;237;p7" title="brand-logo-devin-1.png"/>
          <p:cNvPicPr preferRelativeResize="0"/>
          <p:nvPr/>
        </p:nvPicPr>
        <p:blipFill>
          <a:blip r:embed="rId3">
            <a:alphaModFix/>
          </a:blip>
          <a:stretch>
            <a:fillRect/>
          </a:stretch>
        </p:blipFill>
        <p:spPr>
          <a:xfrm>
            <a:off x="2615550" y="2900975"/>
            <a:ext cx="2763549" cy="735350"/>
          </a:xfrm>
          <a:prstGeom prst="rect">
            <a:avLst/>
          </a:prstGeom>
          <a:noFill/>
          <a:ln>
            <a:noFill/>
          </a:ln>
        </p:spPr>
      </p:pic>
      <p:pic>
        <p:nvPicPr>
          <p:cNvPr id="238" name="Google Shape;238;p7" title="devin.png"/>
          <p:cNvPicPr preferRelativeResize="0"/>
          <p:nvPr/>
        </p:nvPicPr>
        <p:blipFill>
          <a:blip r:embed="rId4">
            <a:alphaModFix/>
          </a:blip>
          <a:stretch>
            <a:fillRect/>
          </a:stretch>
        </p:blipFill>
        <p:spPr>
          <a:xfrm>
            <a:off x="1269975" y="3916437"/>
            <a:ext cx="2763550" cy="253143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p15"/>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5" name="Google Shape;245;p15"/>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200">
                <a:solidFill>
                  <a:srgbClr val="3B82F6"/>
                </a:solidFill>
                <a:latin typeface="Calibri"/>
                <a:ea typeface="Calibri"/>
                <a:cs typeface="Calibri"/>
                <a:sym typeface="Calibri"/>
              </a:rPr>
              <a:t>MEET DEVIN</a:t>
            </a:r>
            <a:endParaRPr/>
          </a:p>
        </p:txBody>
      </p:sp>
      <p:sp>
        <p:nvSpPr>
          <p:cNvPr id="246" name="Google Shape;246;p15"/>
          <p:cNvSpPr txBox="1"/>
          <p:nvPr/>
        </p:nvSpPr>
        <p:spPr>
          <a:xfrm>
            <a:off x="548590" y="934932"/>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3000">
                <a:solidFill>
                  <a:srgbClr val="141B2D"/>
                </a:solidFill>
                <a:latin typeface="Calibri"/>
                <a:ea typeface="Calibri"/>
                <a:cs typeface="Calibri"/>
                <a:sym typeface="Calibri"/>
              </a:rPr>
              <a:t>T</a:t>
            </a:r>
            <a:r>
              <a:rPr b="1" i="0" lang="en-US" sz="3000" u="none" cap="none" strike="noStrike">
                <a:solidFill>
                  <a:srgbClr val="141B2D"/>
                </a:solidFill>
                <a:latin typeface="Calibri"/>
                <a:ea typeface="Calibri"/>
                <a:cs typeface="Calibri"/>
                <a:sym typeface="Calibri"/>
              </a:rPr>
              <a:t>icket </a:t>
            </a:r>
            <a:r>
              <a:rPr b="1" lang="en-US" sz="3000">
                <a:solidFill>
                  <a:srgbClr val="141B2D"/>
                </a:solidFill>
                <a:latin typeface="Calibri"/>
                <a:ea typeface="Calibri"/>
                <a:cs typeface="Calibri"/>
                <a:sym typeface="Calibri"/>
              </a:rPr>
              <a:t>→</a:t>
            </a:r>
            <a:r>
              <a:rPr b="1" i="0" lang="en-US" sz="3000" u="none" cap="none" strike="noStrike">
                <a:solidFill>
                  <a:srgbClr val="141B2D"/>
                </a:solidFill>
                <a:latin typeface="Calibri"/>
                <a:ea typeface="Calibri"/>
                <a:cs typeface="Calibri"/>
                <a:sym typeface="Calibri"/>
              </a:rPr>
              <a:t> </a:t>
            </a:r>
            <a:r>
              <a:rPr b="1" lang="en-US" sz="3000">
                <a:solidFill>
                  <a:srgbClr val="141B2D"/>
                </a:solidFill>
                <a:latin typeface="Calibri"/>
                <a:ea typeface="Calibri"/>
                <a:cs typeface="Calibri"/>
                <a:sym typeface="Calibri"/>
              </a:rPr>
              <a:t>M</a:t>
            </a:r>
            <a:r>
              <a:rPr b="1" i="0" lang="en-US" sz="3000" u="none" cap="none" strike="noStrike">
                <a:solidFill>
                  <a:srgbClr val="141B2D"/>
                </a:solidFill>
                <a:latin typeface="Calibri"/>
                <a:ea typeface="Calibri"/>
                <a:cs typeface="Calibri"/>
                <a:sym typeface="Calibri"/>
              </a:rPr>
              <a:t>erged PR</a:t>
            </a:r>
            <a:endParaRPr/>
          </a:p>
        </p:txBody>
      </p:sp>
      <p:sp>
        <p:nvSpPr>
          <p:cNvPr id="247" name="Google Shape;247;p15"/>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48" name="Google Shape;248;p15"/>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15</a:t>
            </a:r>
            <a:endParaRPr/>
          </a:p>
        </p:txBody>
      </p:sp>
      <p:sp>
        <p:nvSpPr>
          <p:cNvPr id="249" name="Google Shape;249;p15"/>
          <p:cNvSpPr/>
          <p:nvPr/>
        </p:nvSpPr>
        <p:spPr>
          <a:xfrm>
            <a:off x="548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0" name="Google Shape;250;p15"/>
          <p:cNvSpPr txBox="1"/>
          <p:nvPr/>
        </p:nvSpPr>
        <p:spPr>
          <a:xfrm>
            <a:off x="822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Assign</a:t>
            </a:r>
            <a:endParaRPr/>
          </a:p>
        </p:txBody>
      </p:sp>
      <p:sp>
        <p:nvSpPr>
          <p:cNvPr id="251" name="Google Shape;251;p15"/>
          <p:cNvSpPr txBox="1"/>
          <p:nvPr/>
        </p:nvSpPr>
        <p:spPr>
          <a:xfrm>
            <a:off x="548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Tag @Devin in Slack, Jira, Linear, or GitHub. Or run on a schedule.</a:t>
            </a:r>
            <a:endParaRPr/>
          </a:p>
        </p:txBody>
      </p:sp>
      <p:sp>
        <p:nvSpPr>
          <p:cNvPr id="252" name="Google Shape;252;p15"/>
          <p:cNvSpPr/>
          <p:nvPr/>
        </p:nvSpPr>
        <p:spPr>
          <a:xfrm>
            <a:off x="2834640" y="1920240"/>
            <a:ext cx="2011680" cy="822960"/>
          </a:xfrm>
          <a:prstGeom prst="chevron">
            <a:avLst>
              <a:gd fmla="val 50000"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15"/>
          <p:cNvSpPr txBox="1"/>
          <p:nvPr/>
        </p:nvSpPr>
        <p:spPr>
          <a:xfrm>
            <a:off x="3108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Plan</a:t>
            </a:r>
            <a:endParaRPr/>
          </a:p>
        </p:txBody>
      </p:sp>
      <p:sp>
        <p:nvSpPr>
          <p:cNvPr id="254" name="Google Shape;254;p15"/>
          <p:cNvSpPr txBox="1"/>
          <p:nvPr/>
        </p:nvSpPr>
        <p:spPr>
          <a:xfrm>
            <a:off x="2834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Devin reads the codebase, Wiki, and Knowledge; drafts a plan you can edit.</a:t>
            </a:r>
            <a:endParaRPr/>
          </a:p>
        </p:txBody>
      </p:sp>
      <p:sp>
        <p:nvSpPr>
          <p:cNvPr id="255" name="Google Shape;255;p15"/>
          <p:cNvSpPr/>
          <p:nvPr/>
        </p:nvSpPr>
        <p:spPr>
          <a:xfrm>
            <a:off x="5120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p15"/>
          <p:cNvSpPr txBox="1"/>
          <p:nvPr/>
        </p:nvSpPr>
        <p:spPr>
          <a:xfrm>
            <a:off x="5394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Execute</a:t>
            </a:r>
            <a:endParaRPr/>
          </a:p>
        </p:txBody>
      </p:sp>
      <p:sp>
        <p:nvSpPr>
          <p:cNvPr id="257" name="Google Shape;257;p15"/>
          <p:cNvSpPr txBox="1"/>
          <p:nvPr/>
        </p:nvSpPr>
        <p:spPr>
          <a:xfrm>
            <a:off x="5120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Codes in a sandboxed VM with shell, editor, and browser. Runs tests and lint.</a:t>
            </a:r>
            <a:endParaRPr/>
          </a:p>
        </p:txBody>
      </p:sp>
      <p:sp>
        <p:nvSpPr>
          <p:cNvPr id="258" name="Google Shape;258;p15"/>
          <p:cNvSpPr/>
          <p:nvPr/>
        </p:nvSpPr>
        <p:spPr>
          <a:xfrm>
            <a:off x="7406640" y="1920240"/>
            <a:ext cx="2011680" cy="822960"/>
          </a:xfrm>
          <a:prstGeom prst="chevron">
            <a:avLst>
              <a:gd fmla="val 50000"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7680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Verify</a:t>
            </a:r>
            <a:endParaRPr/>
          </a:p>
        </p:txBody>
      </p:sp>
      <p:sp>
        <p:nvSpPr>
          <p:cNvPr id="260" name="Google Shape;260;p15"/>
          <p:cNvSpPr txBox="1"/>
          <p:nvPr/>
        </p:nvSpPr>
        <p:spPr>
          <a:xfrm>
            <a:off x="7406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Fixes failing CI, records browser tests, self-reviews the diff.</a:t>
            </a:r>
            <a:endParaRPr/>
          </a:p>
        </p:txBody>
      </p:sp>
      <p:sp>
        <p:nvSpPr>
          <p:cNvPr id="261" name="Google Shape;261;p15"/>
          <p:cNvSpPr/>
          <p:nvPr/>
        </p:nvSpPr>
        <p:spPr>
          <a:xfrm>
            <a:off x="9692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15"/>
          <p:cNvSpPr txBox="1"/>
          <p:nvPr/>
        </p:nvSpPr>
        <p:spPr>
          <a:xfrm>
            <a:off x="9966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Deliver</a:t>
            </a:r>
            <a:endParaRPr/>
          </a:p>
        </p:txBody>
      </p:sp>
      <p:sp>
        <p:nvSpPr>
          <p:cNvPr id="263" name="Google Shape;263;p15"/>
          <p:cNvSpPr txBox="1"/>
          <p:nvPr/>
        </p:nvSpPr>
        <p:spPr>
          <a:xfrm>
            <a:off x="9692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Opens a PR with a rationale. Responds to reviewer comments until merged.</a:t>
            </a:r>
            <a:endParaRPr/>
          </a:p>
        </p:txBody>
      </p:sp>
      <p:sp>
        <p:nvSpPr>
          <p:cNvPr id="264" name="Google Shape;264;p15"/>
          <p:cNvSpPr txBox="1"/>
          <p:nvPr/>
        </p:nvSpPr>
        <p:spPr>
          <a:xfrm>
            <a:off x="548640" y="448056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Humans stay in control</a:t>
            </a:r>
            <a:endParaRPr/>
          </a:p>
        </p:txBody>
      </p:sp>
      <p:sp>
        <p:nvSpPr>
          <p:cNvPr id="265" name="Google Shape;265;p15"/>
          <p:cNvSpPr txBox="1"/>
          <p:nvPr/>
        </p:nvSpPr>
        <p:spPr>
          <a:xfrm>
            <a:off x="548640" y="4846320"/>
            <a:ext cx="10972800" cy="146304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Devin never merges its own code; every change goes through your normal PR review and branch protection.</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Full session transcript: every command, file edit, and browser action is logged and replayable.</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Interrupt, redirect, or take over the session at any time.</a:t>
            </a:r>
            <a:endParaRPr/>
          </a:p>
        </p:txBody>
      </p:sp>
      <p:pic>
        <p:nvPicPr>
          <p:cNvPr id="266" name="Google Shape;266;p15" title="devin.png"/>
          <p:cNvPicPr preferRelativeResize="0"/>
          <p:nvPr/>
        </p:nvPicPr>
        <p:blipFill>
          <a:blip r:embed="rId3">
            <a:alphaModFix/>
          </a:blip>
          <a:stretch>
            <a:fillRect/>
          </a:stretch>
        </p:blipFill>
        <p:spPr>
          <a:xfrm>
            <a:off x="10237100" y="5058175"/>
            <a:ext cx="1284350" cy="117649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9"/>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9"/>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endParaRPr b="1" sz="1200">
              <a:solidFill>
                <a:srgbClr val="3B82F6"/>
              </a:solidFill>
              <a:latin typeface="Calibri"/>
              <a:ea typeface="Calibri"/>
              <a:cs typeface="Calibri"/>
              <a:sym typeface="Calibri"/>
            </a:endParaRPr>
          </a:p>
        </p:txBody>
      </p:sp>
      <p:sp>
        <p:nvSpPr>
          <p:cNvPr id="274" name="Google Shape;274;p9"/>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One platform, two ways to work with AI</a:t>
            </a:r>
            <a:endParaRPr/>
          </a:p>
        </p:txBody>
      </p:sp>
      <p:sp>
        <p:nvSpPr>
          <p:cNvPr id="275" name="Google Shape;275;p9"/>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76" name="Google Shape;276;p9"/>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9</a:t>
            </a:r>
            <a:endParaRPr/>
          </a:p>
        </p:txBody>
      </p:sp>
      <p:sp>
        <p:nvSpPr>
          <p:cNvPr id="277" name="Google Shape;277;p9"/>
          <p:cNvSpPr/>
          <p:nvPr/>
        </p:nvSpPr>
        <p:spPr>
          <a:xfrm>
            <a:off x="548640" y="1737360"/>
            <a:ext cx="5486400" cy="30175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9"/>
          <p:cNvSpPr/>
          <p:nvPr/>
        </p:nvSpPr>
        <p:spPr>
          <a:xfrm>
            <a:off x="548640" y="1737360"/>
            <a:ext cx="73152" cy="30175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9"/>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Devin  |  Autonomous cloud agent</a:t>
            </a:r>
            <a:endParaRPr/>
          </a:p>
        </p:txBody>
      </p:sp>
      <p:sp>
        <p:nvSpPr>
          <p:cNvPr id="280" name="Google Shape;280;p9"/>
          <p:cNvSpPr txBox="1"/>
          <p:nvPr/>
        </p:nvSpPr>
        <p:spPr>
          <a:xfrm>
            <a:off x="731520" y="2331720"/>
            <a:ext cx="5120640" cy="22860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Delegate whole tasks: 'Upgrade this service to Java 21 and open a PR.'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Runs in its own sandboxed machine with shell, editor, and browser.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Plans, codes, tests, fixes CI, and responds to review comments.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Triggered from Slack, Jira, Linear, GitHub, or the API.</a:t>
            </a:r>
            <a:endParaRPr/>
          </a:p>
        </p:txBody>
      </p:sp>
      <p:sp>
        <p:nvSpPr>
          <p:cNvPr id="281" name="Google Shape;281;p9"/>
          <p:cNvSpPr/>
          <p:nvPr/>
        </p:nvSpPr>
        <p:spPr>
          <a:xfrm>
            <a:off x="6217920" y="1737360"/>
            <a:ext cx="5486400" cy="30175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2" name="Google Shape;282;p9"/>
          <p:cNvSpPr/>
          <p:nvPr/>
        </p:nvSpPr>
        <p:spPr>
          <a:xfrm>
            <a:off x="6217920" y="1737360"/>
            <a:ext cx="73152" cy="30175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9"/>
          <p:cNvSpPr txBox="1"/>
          <p:nvPr/>
        </p:nvSpPr>
        <p:spPr>
          <a:xfrm>
            <a:off x="6446520" y="1874520"/>
            <a:ext cx="51207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Devin Desktop</a:t>
            </a:r>
            <a:r>
              <a:rPr b="1" i="0" lang="en-US" sz="1600" u="none" cap="none" strike="noStrike">
                <a:solidFill>
                  <a:srgbClr val="141B2D"/>
                </a:solidFill>
                <a:latin typeface="Calibri"/>
                <a:ea typeface="Calibri"/>
                <a:cs typeface="Calibri"/>
                <a:sym typeface="Calibri"/>
              </a:rPr>
              <a:t>  |  Agentic IDE</a:t>
            </a:r>
            <a:endParaRPr/>
          </a:p>
        </p:txBody>
      </p:sp>
      <p:sp>
        <p:nvSpPr>
          <p:cNvPr id="284" name="Google Shape;284;p9"/>
          <p:cNvSpPr txBox="1"/>
          <p:nvPr/>
        </p:nvSpPr>
        <p:spPr>
          <a:xfrm>
            <a:off x="6400800" y="2331720"/>
            <a:ext cx="5120700" cy="1008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Where engineers work interactively, with deep codebase awareness.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Cascade agent for multi-file edits in the editor.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Hand off to Devin when a task is ready to run unattended.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lang="en-US" sz="1300">
                <a:solidFill>
                  <a:srgbClr val="141B2D"/>
                </a:solidFill>
                <a:latin typeface="Calibri"/>
                <a:ea typeface="Calibri"/>
                <a:cs typeface="Calibri"/>
                <a:sym typeface="Calibri"/>
              </a:rPr>
              <a:t>Agent command center</a:t>
            </a:r>
            <a:endParaRPr>
              <a:solidFill>
                <a:srgbClr val="141B2D"/>
              </a:solidFill>
            </a:endParaRPr>
          </a:p>
        </p:txBody>
      </p:sp>
      <p:sp>
        <p:nvSpPr>
          <p:cNvPr id="285" name="Google Shape;285;p9"/>
          <p:cNvSpPr txBox="1"/>
          <p:nvPr/>
        </p:nvSpPr>
        <p:spPr>
          <a:xfrm>
            <a:off x="548640" y="493776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Supporting capabilities</a:t>
            </a:r>
            <a:endParaRPr/>
          </a:p>
        </p:txBody>
      </p:sp>
      <p:sp>
        <p:nvSpPr>
          <p:cNvPr id="286" name="Google Shape;286;p9"/>
          <p:cNvSpPr txBox="1"/>
          <p:nvPr/>
        </p:nvSpPr>
        <p:spPr>
          <a:xfrm>
            <a:off x="54864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Devin Review</a:t>
            </a:r>
            <a:endParaRPr/>
          </a:p>
        </p:txBody>
      </p:sp>
      <p:sp>
        <p:nvSpPr>
          <p:cNvPr id="287" name="Google Shape;287;p9"/>
          <p:cNvSpPr txBox="1"/>
          <p:nvPr/>
        </p:nvSpPr>
        <p:spPr>
          <a:xfrm>
            <a:off x="54864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AI code review on every PR: bugs, security, style</a:t>
            </a:r>
            <a:endParaRPr/>
          </a:p>
        </p:txBody>
      </p:sp>
      <p:sp>
        <p:nvSpPr>
          <p:cNvPr id="288" name="Google Shape;288;p9"/>
          <p:cNvSpPr txBox="1"/>
          <p:nvPr/>
        </p:nvSpPr>
        <p:spPr>
          <a:xfrm>
            <a:off x="338328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Devin Wiki &amp; DeepWiki</a:t>
            </a:r>
            <a:endParaRPr/>
          </a:p>
        </p:txBody>
      </p:sp>
      <p:sp>
        <p:nvSpPr>
          <p:cNvPr id="289" name="Google Shape;289;p9"/>
          <p:cNvSpPr txBox="1"/>
          <p:nvPr/>
        </p:nvSpPr>
        <p:spPr>
          <a:xfrm>
            <a:off x="338328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Auto-generated, always-current codebase documentation</a:t>
            </a:r>
            <a:endParaRPr/>
          </a:p>
        </p:txBody>
      </p:sp>
      <p:sp>
        <p:nvSpPr>
          <p:cNvPr id="290" name="Google Shape;290;p9"/>
          <p:cNvSpPr txBox="1"/>
          <p:nvPr/>
        </p:nvSpPr>
        <p:spPr>
          <a:xfrm>
            <a:off x="6217920" y="5349240"/>
            <a:ext cx="2743200" cy="255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300">
                <a:solidFill>
                  <a:srgbClr val="141B2D"/>
                </a:solidFill>
                <a:latin typeface="Calibri"/>
                <a:ea typeface="Calibri"/>
                <a:cs typeface="Calibri"/>
                <a:sym typeface="Calibri"/>
              </a:rPr>
              <a:t>Devin CLI</a:t>
            </a:r>
            <a:endParaRPr/>
          </a:p>
        </p:txBody>
      </p:sp>
      <p:sp>
        <p:nvSpPr>
          <p:cNvPr id="291" name="Google Shape;291;p9"/>
          <p:cNvSpPr txBox="1"/>
          <p:nvPr/>
        </p:nvSpPr>
        <p:spPr>
          <a:xfrm>
            <a:off x="6217920" y="5669280"/>
            <a:ext cx="2743200" cy="3939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lang="en-US" sz="1100">
                <a:solidFill>
                  <a:srgbClr val="6B7280"/>
                </a:solidFill>
                <a:latin typeface="Calibri"/>
                <a:ea typeface="Calibri"/>
                <a:cs typeface="Calibri"/>
                <a:sym typeface="Calibri"/>
              </a:rPr>
              <a:t>AI Software Engineer in your terminal, with every frontier model</a:t>
            </a:r>
            <a:endParaRPr/>
          </a:p>
        </p:txBody>
      </p:sp>
      <p:sp>
        <p:nvSpPr>
          <p:cNvPr id="292" name="Google Shape;292;p9"/>
          <p:cNvSpPr txBox="1"/>
          <p:nvPr/>
        </p:nvSpPr>
        <p:spPr>
          <a:xfrm>
            <a:off x="905256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Playbooks &amp; Automations</a:t>
            </a:r>
            <a:endParaRPr/>
          </a:p>
        </p:txBody>
      </p:sp>
      <p:sp>
        <p:nvSpPr>
          <p:cNvPr id="293" name="Google Shape;293;p9"/>
          <p:cNvSpPr txBox="1"/>
          <p:nvPr/>
        </p:nvSpPr>
        <p:spPr>
          <a:xfrm>
            <a:off x="905256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Reusable procedures, scheduled and event-driven runs</a:t>
            </a:r>
            <a:endParaRPr/>
          </a:p>
        </p:txBody>
      </p:sp>
      <p:pic>
        <p:nvPicPr>
          <p:cNvPr id="294" name="Google Shape;294;p9" title="Screenshot 2026-09-27 at 11.12.02 AM.png"/>
          <p:cNvPicPr preferRelativeResize="0"/>
          <p:nvPr/>
        </p:nvPicPr>
        <p:blipFill>
          <a:blip r:embed="rId3">
            <a:alphaModFix/>
          </a:blip>
          <a:stretch>
            <a:fillRect/>
          </a:stretch>
        </p:blipFill>
        <p:spPr>
          <a:xfrm>
            <a:off x="-5735959" y="1956109"/>
            <a:ext cx="2746597" cy="1226075"/>
          </a:xfrm>
          <a:prstGeom prst="rect">
            <a:avLst/>
          </a:prstGeom>
          <a:noFill/>
          <a:ln>
            <a:noFill/>
          </a:ln>
        </p:spPr>
      </p:pic>
      <p:pic>
        <p:nvPicPr>
          <p:cNvPr id="295" name="Google Shape;295;p9" title="Screenshot 2026-09-27 at 11.12.57 AM.png"/>
          <p:cNvPicPr preferRelativeResize="0"/>
          <p:nvPr/>
        </p:nvPicPr>
        <p:blipFill>
          <a:blip r:embed="rId4">
            <a:alphaModFix/>
          </a:blip>
          <a:stretch>
            <a:fillRect/>
          </a:stretch>
        </p:blipFill>
        <p:spPr>
          <a:xfrm>
            <a:off x="12682826" y="3182174"/>
            <a:ext cx="4063699" cy="1914699"/>
          </a:xfrm>
          <a:prstGeom prst="rect">
            <a:avLst/>
          </a:prstGeom>
          <a:noFill/>
          <a:ln>
            <a:noFill/>
          </a:ln>
        </p:spPr>
      </p:pic>
      <p:pic>
        <p:nvPicPr>
          <p:cNvPr id="296" name="Google Shape;296;p9" title="devin.png"/>
          <p:cNvPicPr preferRelativeResize="0"/>
          <p:nvPr/>
        </p:nvPicPr>
        <p:blipFill>
          <a:blip r:embed="rId5">
            <a:alphaModFix/>
          </a:blip>
          <a:stretch>
            <a:fillRect/>
          </a:stretch>
        </p:blipFill>
        <p:spPr>
          <a:xfrm>
            <a:off x="10437163" y="274126"/>
            <a:ext cx="1267163" cy="11607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6"/>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r>
              <a:rPr b="1" i="0" lang="en-US" sz="1200" u="none" cap="none" strike="noStrike">
                <a:solidFill>
                  <a:srgbClr val="3B82F6"/>
                </a:solidFill>
                <a:latin typeface="Calibri"/>
                <a:ea typeface="Calibri"/>
                <a:cs typeface="Calibri"/>
                <a:sym typeface="Calibri"/>
              </a:rPr>
              <a:t>  |  ARCHITECTURE</a:t>
            </a:r>
            <a:endParaRPr/>
          </a:p>
        </p:txBody>
      </p:sp>
      <p:sp>
        <p:nvSpPr>
          <p:cNvPr id="304" name="Google Shape;304;p1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Built to understand large, messy codebases</a:t>
            </a:r>
            <a:endParaRPr/>
          </a:p>
        </p:txBody>
      </p:sp>
      <p:sp>
        <p:nvSpPr>
          <p:cNvPr id="305" name="Google Shape;305;p16"/>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306" name="Google Shape;306;p1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16</a:t>
            </a:r>
            <a:endParaRPr/>
          </a:p>
        </p:txBody>
      </p:sp>
      <p:sp>
        <p:nvSpPr>
          <p:cNvPr id="307" name="Google Shape;307;p16"/>
          <p:cNvSpPr/>
          <p:nvPr/>
        </p:nvSpPr>
        <p:spPr>
          <a:xfrm>
            <a:off x="54864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6"/>
          <p:cNvSpPr/>
          <p:nvPr/>
        </p:nvSpPr>
        <p:spPr>
          <a:xfrm>
            <a:off x="54864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Codebase Intelligence</a:t>
            </a:r>
            <a:endParaRPr/>
          </a:p>
        </p:txBody>
      </p:sp>
      <p:sp>
        <p:nvSpPr>
          <p:cNvPr id="310" name="Google Shape;310;p16"/>
          <p:cNvSpPr txBox="1"/>
          <p:nvPr/>
        </p:nvSpPr>
        <p:spPr>
          <a:xfrm>
            <a:off x="73152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Wiki indexes every repo into living architecture docs.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Search answers 'where is X handled?' across services.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Knowledge: your conventions, gotchas, and runbooks, learned once and reused.</a:t>
            </a:r>
            <a:endParaRPr/>
          </a:p>
        </p:txBody>
      </p:sp>
      <p:sp>
        <p:nvSpPr>
          <p:cNvPr id="311" name="Google Shape;311;p16"/>
          <p:cNvSpPr/>
          <p:nvPr/>
        </p:nvSpPr>
        <p:spPr>
          <a:xfrm>
            <a:off x="429768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6"/>
          <p:cNvSpPr/>
          <p:nvPr/>
        </p:nvSpPr>
        <p:spPr>
          <a:xfrm>
            <a:off x="429768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6"/>
          <p:cNvSpPr txBox="1"/>
          <p:nvPr/>
        </p:nvSpPr>
        <p:spPr>
          <a:xfrm>
            <a:off x="452628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Reproducible Environments</a:t>
            </a:r>
            <a:endParaRPr/>
          </a:p>
        </p:txBody>
      </p:sp>
      <p:sp>
        <p:nvSpPr>
          <p:cNvPr id="314" name="Google Shape;314;p16"/>
          <p:cNvSpPr txBox="1"/>
          <p:nvPr/>
        </p:nvSpPr>
        <p:spPr>
          <a:xfrm>
            <a:off x="448056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Each session runs on an isolated VM built from a versioned blueprint (deps, services, secrets).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Snapshots make startup fast and deterministic.</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can browse, run services, and drive a real browser to verify UI.</a:t>
            </a:r>
            <a:endParaRPr/>
          </a:p>
        </p:txBody>
      </p:sp>
      <p:sp>
        <p:nvSpPr>
          <p:cNvPr id="315" name="Google Shape;315;p16"/>
          <p:cNvSpPr/>
          <p:nvPr/>
        </p:nvSpPr>
        <p:spPr>
          <a:xfrm>
            <a:off x="804672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16"/>
          <p:cNvSpPr/>
          <p:nvPr/>
        </p:nvSpPr>
        <p:spPr>
          <a:xfrm>
            <a:off x="804672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16"/>
          <p:cNvSpPr txBox="1"/>
          <p:nvPr/>
        </p:nvSpPr>
        <p:spPr>
          <a:xfrm>
            <a:off x="82753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Scale &amp; Orchestration</a:t>
            </a:r>
            <a:endParaRPr/>
          </a:p>
        </p:txBody>
      </p:sp>
      <p:sp>
        <p:nvSpPr>
          <p:cNvPr id="318" name="Google Shape;318;p16"/>
          <p:cNvSpPr txBox="1"/>
          <p:nvPr/>
        </p:nvSpPr>
        <p:spPr>
          <a:xfrm>
            <a:off x="822960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Run dozens of Devins in parallel on a migration backlog.</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Playbooks encode repeatable procedures; Automations trigger on schedules or events.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API and Slack-native: fits existing workflows, no new UI to learn.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18"/>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8"/>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r>
              <a:rPr b="1" i="0" lang="en-US" sz="1200" u="none" cap="none" strike="noStrike">
                <a:solidFill>
                  <a:srgbClr val="3B82F6"/>
                </a:solidFill>
                <a:latin typeface="Calibri"/>
                <a:ea typeface="Calibri"/>
                <a:cs typeface="Calibri"/>
                <a:sym typeface="Calibri"/>
              </a:rPr>
              <a:t>  |  EXAMPLE USE CASES</a:t>
            </a:r>
            <a:endParaRPr/>
          </a:p>
        </p:txBody>
      </p:sp>
      <p:sp>
        <p:nvSpPr>
          <p:cNvPr id="326" name="Google Shape;326;p18"/>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Where Devin delivers first</a:t>
            </a:r>
            <a:endParaRPr/>
          </a:p>
        </p:txBody>
      </p:sp>
      <p:sp>
        <p:nvSpPr>
          <p:cNvPr id="327" name="Google Shape;327;p18"/>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328" name="Google Shape;328;p18"/>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18</a:t>
            </a:r>
            <a:endParaRPr/>
          </a:p>
        </p:txBody>
      </p:sp>
      <p:sp>
        <p:nvSpPr>
          <p:cNvPr id="329" name="Google Shape;329;p18"/>
          <p:cNvSpPr/>
          <p:nvPr/>
        </p:nvSpPr>
        <p:spPr>
          <a:xfrm>
            <a:off x="548640"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18"/>
          <p:cNvSpPr/>
          <p:nvPr/>
        </p:nvSpPr>
        <p:spPr>
          <a:xfrm>
            <a:off x="548640"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18"/>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Migrations &amp; upgrades</a:t>
            </a:r>
            <a:endParaRPr/>
          </a:p>
        </p:txBody>
      </p:sp>
      <p:sp>
        <p:nvSpPr>
          <p:cNvPr id="332" name="Google Shape;332;p18"/>
          <p:cNvSpPr txBox="1"/>
          <p:nvPr/>
        </p:nvSpPr>
        <p:spPr>
          <a:xfrm>
            <a:off x="777240"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Language/framework version bumps, Python 2 to 3, Angular to React, cloud re-platforming. Repetitive, well-specified, and enormous.</a:t>
            </a:r>
            <a:endParaRPr/>
          </a:p>
        </p:txBody>
      </p:sp>
      <p:sp>
        <p:nvSpPr>
          <p:cNvPr id="333" name="Google Shape;333;p18"/>
          <p:cNvSpPr/>
          <p:nvPr/>
        </p:nvSpPr>
        <p:spPr>
          <a:xfrm>
            <a:off x="4297679"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18"/>
          <p:cNvSpPr/>
          <p:nvPr/>
        </p:nvSpPr>
        <p:spPr>
          <a:xfrm>
            <a:off x="4297679"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5" name="Google Shape;335;p18"/>
          <p:cNvSpPr txBox="1"/>
          <p:nvPr/>
        </p:nvSpPr>
        <p:spPr>
          <a:xfrm>
            <a:off x="4526279"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Test coverage &amp; flaky CI</a:t>
            </a:r>
            <a:endParaRPr/>
          </a:p>
        </p:txBody>
      </p:sp>
      <p:sp>
        <p:nvSpPr>
          <p:cNvPr id="336" name="Google Shape;336;p18"/>
          <p:cNvSpPr txBox="1"/>
          <p:nvPr/>
        </p:nvSpPr>
        <p:spPr>
          <a:xfrm>
            <a:off x="4526279"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Backfill unit tests, fix flaky suites, keep coverage gates green while humans build features.</a:t>
            </a:r>
            <a:endParaRPr/>
          </a:p>
        </p:txBody>
      </p:sp>
      <p:sp>
        <p:nvSpPr>
          <p:cNvPr id="337" name="Google Shape;337;p18"/>
          <p:cNvSpPr/>
          <p:nvPr/>
        </p:nvSpPr>
        <p:spPr>
          <a:xfrm>
            <a:off x="8046718"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18"/>
          <p:cNvSpPr/>
          <p:nvPr/>
        </p:nvSpPr>
        <p:spPr>
          <a:xfrm>
            <a:off x="8046718"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18"/>
          <p:cNvSpPr txBox="1"/>
          <p:nvPr/>
        </p:nvSpPr>
        <p:spPr>
          <a:xfrm>
            <a:off x="8275318"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Bug fixes &amp; on-call toil</a:t>
            </a:r>
            <a:endParaRPr/>
          </a:p>
        </p:txBody>
      </p:sp>
      <p:sp>
        <p:nvSpPr>
          <p:cNvPr id="340" name="Google Shape;340;p18"/>
          <p:cNvSpPr txBox="1"/>
          <p:nvPr/>
        </p:nvSpPr>
        <p:spPr>
          <a:xfrm>
            <a:off x="8275318"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Triage Sentry/Datadog alerts, reproduce, fix, and open PRs before the on-call engineer wakes up.</a:t>
            </a:r>
            <a:endParaRPr/>
          </a:p>
        </p:txBody>
      </p:sp>
      <p:sp>
        <p:nvSpPr>
          <p:cNvPr id="341" name="Google Shape;341;p18"/>
          <p:cNvSpPr/>
          <p:nvPr/>
        </p:nvSpPr>
        <p:spPr>
          <a:xfrm>
            <a:off x="548640"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18"/>
          <p:cNvSpPr/>
          <p:nvPr/>
        </p:nvSpPr>
        <p:spPr>
          <a:xfrm>
            <a:off x="548640"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18"/>
          <p:cNvSpPr txBox="1"/>
          <p:nvPr/>
        </p:nvSpPr>
        <p:spPr>
          <a:xfrm>
            <a:off x="777240"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Security &amp; dependency debt</a:t>
            </a:r>
            <a:endParaRPr/>
          </a:p>
        </p:txBody>
      </p:sp>
      <p:sp>
        <p:nvSpPr>
          <p:cNvPr id="344" name="Google Shape;344;p18"/>
          <p:cNvSpPr txBox="1"/>
          <p:nvPr/>
        </p:nvSpPr>
        <p:spPr>
          <a:xfrm>
            <a:off x="777240"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Patch CVEs across hundreds of repos, rotate deprecated APIs, enforce lint and policy.</a:t>
            </a:r>
            <a:endParaRPr/>
          </a:p>
        </p:txBody>
      </p:sp>
      <p:sp>
        <p:nvSpPr>
          <p:cNvPr id="345" name="Google Shape;345;p18"/>
          <p:cNvSpPr/>
          <p:nvPr/>
        </p:nvSpPr>
        <p:spPr>
          <a:xfrm>
            <a:off x="4297679"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18"/>
          <p:cNvSpPr/>
          <p:nvPr/>
        </p:nvSpPr>
        <p:spPr>
          <a:xfrm>
            <a:off x="4297679"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18"/>
          <p:cNvSpPr txBox="1"/>
          <p:nvPr/>
        </p:nvSpPr>
        <p:spPr>
          <a:xfrm>
            <a:off x="4526279"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Codebase Q&amp;A &amp; onboarding</a:t>
            </a:r>
            <a:endParaRPr/>
          </a:p>
        </p:txBody>
      </p:sp>
      <p:sp>
        <p:nvSpPr>
          <p:cNvPr id="348" name="Google Shape;348;p18"/>
          <p:cNvSpPr txBox="1"/>
          <p:nvPr/>
        </p:nvSpPr>
        <p:spPr>
          <a:xfrm>
            <a:off x="4526279"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New hires ask Devin instead of interrupting seniors. Docs stay current automatically.</a:t>
            </a:r>
            <a:endParaRPr/>
          </a:p>
        </p:txBody>
      </p:sp>
      <p:sp>
        <p:nvSpPr>
          <p:cNvPr id="349" name="Google Shape;349;p18"/>
          <p:cNvSpPr/>
          <p:nvPr/>
        </p:nvSpPr>
        <p:spPr>
          <a:xfrm>
            <a:off x="8046718"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18"/>
          <p:cNvSpPr/>
          <p:nvPr/>
        </p:nvSpPr>
        <p:spPr>
          <a:xfrm>
            <a:off x="8046718"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18"/>
          <p:cNvSpPr txBox="1"/>
          <p:nvPr/>
        </p:nvSpPr>
        <p:spPr>
          <a:xfrm>
            <a:off x="8275318"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Internal tools &amp; integrations</a:t>
            </a:r>
            <a:endParaRPr/>
          </a:p>
        </p:txBody>
      </p:sp>
      <p:sp>
        <p:nvSpPr>
          <p:cNvPr id="352" name="Google Shape;352;p18"/>
          <p:cNvSpPr txBox="1"/>
          <p:nvPr/>
        </p:nvSpPr>
        <p:spPr>
          <a:xfrm>
            <a:off x="8275318"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Build the internal dashboards, scripts, and glue code that never make the roadmap.</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10"/>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9" name="Google Shape;359;p10"/>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  | E</a:t>
            </a:r>
            <a:r>
              <a:rPr b="1" i="0" lang="en-US" sz="1200" u="none" cap="none" strike="noStrike">
                <a:solidFill>
                  <a:srgbClr val="3B82F6"/>
                </a:solidFill>
                <a:latin typeface="Calibri"/>
                <a:ea typeface="Calibri"/>
                <a:cs typeface="Calibri"/>
                <a:sym typeface="Calibri"/>
              </a:rPr>
              <a:t>NGAGEMENT MODEL</a:t>
            </a:r>
            <a:endParaRPr/>
          </a:p>
        </p:txBody>
      </p:sp>
      <p:sp>
        <p:nvSpPr>
          <p:cNvPr id="360" name="Google Shape;360;p10"/>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How we serve customers</a:t>
            </a:r>
            <a:endParaRPr/>
          </a:p>
        </p:txBody>
      </p:sp>
      <p:sp>
        <p:nvSpPr>
          <p:cNvPr id="361" name="Google Shape;361;p10"/>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362" name="Google Shape;362;p10"/>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10</a:t>
            </a:r>
            <a:endParaRPr/>
          </a:p>
        </p:txBody>
      </p:sp>
      <p:sp>
        <p:nvSpPr>
          <p:cNvPr id="363" name="Google Shape;363;p10"/>
          <p:cNvSpPr/>
          <p:nvPr/>
        </p:nvSpPr>
        <p:spPr>
          <a:xfrm>
            <a:off x="54864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4" name="Google Shape;364;p10"/>
          <p:cNvSpPr/>
          <p:nvPr/>
        </p:nvSpPr>
        <p:spPr>
          <a:xfrm>
            <a:off x="54864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5" name="Google Shape;365;p10"/>
          <p:cNvSpPr txBox="1"/>
          <p:nvPr/>
        </p:nvSpPr>
        <p:spPr>
          <a:xfrm>
            <a:off x="73152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1. Scope</a:t>
            </a:r>
            <a:endParaRPr/>
          </a:p>
        </p:txBody>
      </p:sp>
      <p:sp>
        <p:nvSpPr>
          <p:cNvPr id="366" name="Google Shape;366;p10"/>
          <p:cNvSpPr txBox="1"/>
          <p:nvPr/>
        </p:nvSpPr>
        <p:spPr>
          <a:xfrm>
            <a:off x="73152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Identify 2-3 high-volume, well-specified task types (migrations, test coverage, bug fixes).</a:t>
            </a:r>
            <a:endParaRPr/>
          </a:p>
        </p:txBody>
      </p:sp>
      <p:sp>
        <p:nvSpPr>
          <p:cNvPr id="367" name="Google Shape;367;p10"/>
          <p:cNvSpPr/>
          <p:nvPr/>
        </p:nvSpPr>
        <p:spPr>
          <a:xfrm>
            <a:off x="342900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p10"/>
          <p:cNvSpPr/>
          <p:nvPr/>
        </p:nvSpPr>
        <p:spPr>
          <a:xfrm>
            <a:off x="342900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10"/>
          <p:cNvSpPr txBox="1"/>
          <p:nvPr/>
        </p:nvSpPr>
        <p:spPr>
          <a:xfrm>
            <a:off x="361188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2. Connect</a:t>
            </a:r>
            <a:endParaRPr/>
          </a:p>
        </p:txBody>
      </p:sp>
      <p:sp>
        <p:nvSpPr>
          <p:cNvPr id="370" name="Google Shape;370;p10"/>
          <p:cNvSpPr txBox="1"/>
          <p:nvPr/>
        </p:nvSpPr>
        <p:spPr>
          <a:xfrm>
            <a:off x="361188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Integrate with GitHub/GitLab, Slack, Jira. Configure Devin's environment and Knowledge.</a:t>
            </a:r>
            <a:endParaRPr/>
          </a:p>
        </p:txBody>
      </p:sp>
      <p:sp>
        <p:nvSpPr>
          <p:cNvPr id="371" name="Google Shape;371;p10"/>
          <p:cNvSpPr/>
          <p:nvPr/>
        </p:nvSpPr>
        <p:spPr>
          <a:xfrm>
            <a:off x="630936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2" name="Google Shape;372;p10"/>
          <p:cNvSpPr/>
          <p:nvPr/>
        </p:nvSpPr>
        <p:spPr>
          <a:xfrm>
            <a:off x="630936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3" name="Google Shape;373;p10"/>
          <p:cNvSpPr txBox="1"/>
          <p:nvPr/>
        </p:nvSpPr>
        <p:spPr>
          <a:xfrm>
            <a:off x="649224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3. Pilot</a:t>
            </a:r>
            <a:endParaRPr/>
          </a:p>
        </p:txBody>
      </p:sp>
      <p:sp>
        <p:nvSpPr>
          <p:cNvPr id="374" name="Google Shape;374;p10"/>
          <p:cNvSpPr txBox="1"/>
          <p:nvPr/>
        </p:nvSpPr>
        <p:spPr>
          <a:xfrm>
            <a:off x="649224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Run 4-8 weeks with a champion team. Measure PRs merged, cycle time, hours saved.</a:t>
            </a:r>
            <a:endParaRPr/>
          </a:p>
        </p:txBody>
      </p:sp>
      <p:sp>
        <p:nvSpPr>
          <p:cNvPr id="375" name="Google Shape;375;p10"/>
          <p:cNvSpPr/>
          <p:nvPr/>
        </p:nvSpPr>
        <p:spPr>
          <a:xfrm>
            <a:off x="918972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6" name="Google Shape;376;p10"/>
          <p:cNvSpPr/>
          <p:nvPr/>
        </p:nvSpPr>
        <p:spPr>
          <a:xfrm>
            <a:off x="918972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7" name="Google Shape;377;p10"/>
          <p:cNvSpPr txBox="1"/>
          <p:nvPr/>
        </p:nvSpPr>
        <p:spPr>
          <a:xfrm>
            <a:off x="937260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4. Expand</a:t>
            </a:r>
            <a:endParaRPr/>
          </a:p>
        </p:txBody>
      </p:sp>
      <p:sp>
        <p:nvSpPr>
          <p:cNvPr id="378" name="Google Shape;378;p10"/>
          <p:cNvSpPr txBox="1"/>
          <p:nvPr/>
        </p:nvSpPr>
        <p:spPr>
          <a:xfrm>
            <a:off x="937260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Roll out playbooks and automations org-wide. Enterprise controls, SSO, VPC.</a:t>
            </a:r>
            <a:endParaRPr/>
          </a:p>
        </p:txBody>
      </p:sp>
      <p:sp>
        <p:nvSpPr>
          <p:cNvPr id="379" name="Google Shape;379;p10"/>
          <p:cNvSpPr txBox="1"/>
          <p:nvPr/>
        </p:nvSpPr>
        <p:spPr>
          <a:xfrm>
            <a:off x="548640" y="457200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you get from Cognition</a:t>
            </a:r>
            <a:endParaRPr/>
          </a:p>
        </p:txBody>
      </p:sp>
      <p:sp>
        <p:nvSpPr>
          <p:cNvPr id="380" name="Google Shape;380;p10"/>
          <p:cNvSpPr txBox="1"/>
          <p:nvPr/>
        </p:nvSpPr>
        <p:spPr>
          <a:xfrm>
            <a:off x="548640" y="4937760"/>
            <a:ext cx="10972800" cy="137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Dedicated forward-deployed engineering during onboarding; we learn your codebase alongside Devin.</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Success metrics agreed up front and reported throughout the pilot.</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Enterprise support, security documentation, and a shared roadmap channel.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384" name="Shape 384"/>
        <p:cNvGrpSpPr/>
        <p:nvPr/>
      </p:nvGrpSpPr>
      <p:grpSpPr>
        <a:xfrm>
          <a:off x="0" y="0"/>
          <a:ext cx="0" cy="0"/>
          <a:chOff x="0" y="0"/>
          <a:chExt cx="0" cy="0"/>
        </a:xfrm>
      </p:grpSpPr>
      <p:sp>
        <p:nvSpPr>
          <p:cNvPr id="385" name="Google Shape;385;p19"/>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05</a:t>
            </a:r>
            <a:endParaRPr/>
          </a:p>
        </p:txBody>
      </p:sp>
      <p:sp>
        <p:nvSpPr>
          <p:cNvPr id="386" name="Google Shape;386;p19"/>
          <p:cNvSpPr txBox="1"/>
          <p:nvPr/>
        </p:nvSpPr>
        <p:spPr>
          <a:xfrm>
            <a:off x="822960" y="2834640"/>
            <a:ext cx="1005840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Customer Impact</a:t>
            </a:r>
            <a:endParaRPr/>
          </a:p>
        </p:txBody>
      </p:sp>
      <p:sp>
        <p:nvSpPr>
          <p:cNvPr id="387" name="Google Shape;387;p19"/>
          <p:cNvSpPr txBox="1"/>
          <p:nvPr/>
        </p:nvSpPr>
        <p:spPr>
          <a:xfrm>
            <a:off x="822960" y="3840480"/>
            <a:ext cx="100584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200" u="none" cap="none" strike="noStrike">
                <a:solidFill>
                  <a:srgbClr val="D9DDE5"/>
                </a:solidFill>
                <a:latin typeface="Calibri"/>
                <a:ea typeface="Calibri"/>
                <a:cs typeface="Calibri"/>
                <a:sym typeface="Calibri"/>
              </a:rPr>
              <a:t>Stories and measurable outcomes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392" name="Shape 392"/>
        <p:cNvGrpSpPr/>
        <p:nvPr/>
      </p:nvGrpSpPr>
      <p:grpSpPr>
        <a:xfrm>
          <a:off x="0" y="0"/>
          <a:ext cx="0" cy="0"/>
          <a:chOff x="0" y="0"/>
          <a:chExt cx="0" cy="0"/>
        </a:xfrm>
      </p:grpSpPr>
      <p:sp>
        <p:nvSpPr>
          <p:cNvPr id="393" name="Google Shape;393;p20"/>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4" name="Google Shape;394;p20"/>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CUSTOMER STORY  |  FINANCIAL SERVICES</a:t>
            </a:r>
            <a:endParaRPr/>
          </a:p>
        </p:txBody>
      </p:sp>
      <p:sp>
        <p:nvSpPr>
          <p:cNvPr id="395" name="Google Shape;395;p20"/>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FFFFFF"/>
                </a:solidFill>
                <a:latin typeface="Calibri"/>
                <a:ea typeface="Calibri"/>
                <a:cs typeface="Calibri"/>
                <a:sym typeface="Calibri"/>
              </a:rPr>
              <a:t>Nubank: a multi-year migration in months</a:t>
            </a:r>
            <a:endParaRPr/>
          </a:p>
        </p:txBody>
      </p:sp>
      <p:sp>
        <p:nvSpPr>
          <p:cNvPr id="396" name="Google Shape;396;p20"/>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397" name="Google Shape;397;p20"/>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20</a:t>
            </a:r>
            <a:endParaRPr/>
          </a:p>
        </p:txBody>
      </p:sp>
      <p:sp>
        <p:nvSpPr>
          <p:cNvPr id="398" name="Google Shape;398;p20"/>
          <p:cNvSpPr txBox="1"/>
          <p:nvPr/>
        </p:nvSpPr>
        <p:spPr>
          <a:xfrm>
            <a:off x="548640" y="1737360"/>
            <a:ext cx="5852160" cy="43891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Challenge</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One of the world's largest digital banks needed to migrate a critical ETL codebase spanning millions of lines. Estimated at 1,000+ engineer-weeks of repetitive, high-risk work.</a:t>
            </a:r>
            <a:endParaRPr/>
          </a:p>
          <a:p>
            <a:pPr indent="0" lvl="0" marL="0" marR="0" rtl="0" algn="l">
              <a:spcBef>
                <a:spcPts val="0"/>
              </a:spcBef>
              <a:spcAft>
                <a:spcPts val="0"/>
              </a:spcAft>
              <a:buNone/>
            </a:pPr>
            <a:r>
              <a:t/>
            </a:r>
            <a:endParaRPr b="0" i="0" sz="14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Approach</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Cognition's team and Nubank engineers ran many Devins in parallel against the migration, with humans reviewing and merging every PR.</a:t>
            </a:r>
            <a:endParaRPr/>
          </a:p>
          <a:p>
            <a:pPr indent="0" lvl="0" marL="0" marR="0" rtl="0" algn="l">
              <a:spcBef>
                <a:spcPts val="0"/>
              </a:spcBef>
              <a:spcAft>
                <a:spcPts val="0"/>
              </a:spcAft>
              <a:buNone/>
            </a:pPr>
            <a:r>
              <a:t/>
            </a:r>
            <a:endParaRPr b="0" i="0" sz="14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Outcome</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Migration completed in a fraction of the projected time, with human engineers redeployed to customer-facing work.</a:t>
            </a:r>
            <a:endParaRPr/>
          </a:p>
        </p:txBody>
      </p:sp>
      <p:sp>
        <p:nvSpPr>
          <p:cNvPr id="399" name="Google Shape;399;p20"/>
          <p:cNvSpPr txBox="1"/>
          <p:nvPr/>
        </p:nvSpPr>
        <p:spPr>
          <a:xfrm>
            <a:off x="6766560" y="192024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12x</a:t>
            </a:r>
            <a:endParaRPr/>
          </a:p>
        </p:txBody>
      </p:sp>
      <p:sp>
        <p:nvSpPr>
          <p:cNvPr id="400" name="Google Shape;400;p20"/>
          <p:cNvSpPr txBox="1"/>
          <p:nvPr/>
        </p:nvSpPr>
        <p:spPr>
          <a:xfrm>
            <a:off x="6766560" y="274320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efficiency improvement vs. manual migration</a:t>
            </a:r>
            <a:endParaRPr/>
          </a:p>
        </p:txBody>
      </p:sp>
      <p:sp>
        <p:nvSpPr>
          <p:cNvPr id="401" name="Google Shape;401;p20"/>
          <p:cNvSpPr txBox="1"/>
          <p:nvPr/>
        </p:nvSpPr>
        <p:spPr>
          <a:xfrm>
            <a:off x="9235440" y="192024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20x</a:t>
            </a:r>
            <a:endParaRPr/>
          </a:p>
        </p:txBody>
      </p:sp>
      <p:sp>
        <p:nvSpPr>
          <p:cNvPr id="402" name="Google Shape;402;p20"/>
          <p:cNvSpPr txBox="1"/>
          <p:nvPr/>
        </p:nvSpPr>
        <p:spPr>
          <a:xfrm>
            <a:off x="9235440" y="274320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cost savings on the migration</a:t>
            </a:r>
            <a:endParaRPr/>
          </a:p>
        </p:txBody>
      </p:sp>
      <p:sp>
        <p:nvSpPr>
          <p:cNvPr id="403" name="Google Shape;403;p20"/>
          <p:cNvSpPr txBox="1"/>
          <p:nvPr/>
        </p:nvSpPr>
        <p:spPr>
          <a:xfrm>
            <a:off x="6766560" y="393192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MLOC</a:t>
            </a:r>
            <a:endParaRPr/>
          </a:p>
        </p:txBody>
      </p:sp>
      <p:sp>
        <p:nvSpPr>
          <p:cNvPr id="404" name="Google Shape;404;p20"/>
          <p:cNvSpPr txBox="1"/>
          <p:nvPr/>
        </p:nvSpPr>
        <p:spPr>
          <a:xfrm>
            <a:off x="6766560" y="475488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millions of lines of code migrated</a:t>
            </a:r>
            <a:endParaRPr/>
          </a:p>
        </p:txBody>
      </p:sp>
      <p:sp>
        <p:nvSpPr>
          <p:cNvPr id="405" name="Google Shape;405;p20"/>
          <p:cNvSpPr txBox="1"/>
          <p:nvPr/>
        </p:nvSpPr>
        <p:spPr>
          <a:xfrm>
            <a:off x="9235440" y="393192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000" u="none" cap="none" strike="noStrike">
                <a:solidFill>
                  <a:srgbClr val="22C55E"/>
                </a:solidFill>
                <a:latin typeface="Calibri"/>
                <a:ea typeface="Calibri"/>
                <a:cs typeface="Calibri"/>
                <a:sym typeface="Calibri"/>
              </a:rPr>
              <a:t>Months</a:t>
            </a:r>
            <a:endParaRPr/>
          </a:p>
        </p:txBody>
      </p:sp>
      <p:sp>
        <p:nvSpPr>
          <p:cNvPr id="406" name="Google Shape;406;p20"/>
          <p:cNvSpPr txBox="1"/>
          <p:nvPr/>
        </p:nvSpPr>
        <p:spPr>
          <a:xfrm>
            <a:off x="9235440" y="475488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not years, to completion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1" name="Shape 411"/>
        <p:cNvGrpSpPr/>
        <p:nvPr/>
      </p:nvGrpSpPr>
      <p:grpSpPr>
        <a:xfrm>
          <a:off x="0" y="0"/>
          <a:ext cx="0" cy="0"/>
          <a:chOff x="0" y="0"/>
          <a:chExt cx="0" cy="0"/>
        </a:xfrm>
      </p:grpSpPr>
      <p:sp>
        <p:nvSpPr>
          <p:cNvPr id="412" name="Google Shape;412;p21"/>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CUSTOMER STORIES</a:t>
            </a:r>
            <a:endParaRPr/>
          </a:p>
        </p:txBody>
      </p:sp>
      <p:sp>
        <p:nvSpPr>
          <p:cNvPr id="414" name="Google Shape;414;p21"/>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Impact across industries</a:t>
            </a:r>
            <a:endParaRPr/>
          </a:p>
        </p:txBody>
      </p:sp>
      <p:sp>
        <p:nvSpPr>
          <p:cNvPr id="415" name="Google Shape;415;p21"/>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16" name="Google Shape;416;p21"/>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21</a:t>
            </a:r>
            <a:endParaRPr/>
          </a:p>
        </p:txBody>
      </p:sp>
      <p:sp>
        <p:nvSpPr>
          <p:cNvPr id="417" name="Google Shape;417;p21"/>
          <p:cNvSpPr/>
          <p:nvPr/>
        </p:nvSpPr>
        <p:spPr>
          <a:xfrm>
            <a:off x="548640" y="173736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8" name="Google Shape;418;p21"/>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Goldman Sachs</a:t>
            </a:r>
            <a:endParaRPr/>
          </a:p>
        </p:txBody>
      </p:sp>
      <p:sp>
        <p:nvSpPr>
          <p:cNvPr id="419" name="Google Shape;419;p21"/>
          <p:cNvSpPr txBox="1"/>
          <p:nvPr/>
        </p:nvSpPr>
        <p:spPr>
          <a:xfrm>
            <a:off x="4023360" y="192024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Global bank</a:t>
            </a:r>
            <a:endParaRPr/>
          </a:p>
        </p:txBody>
      </p:sp>
      <p:sp>
        <p:nvSpPr>
          <p:cNvPr id="420" name="Google Shape;420;p21"/>
          <p:cNvSpPr txBox="1"/>
          <p:nvPr/>
        </p:nvSpPr>
        <p:spPr>
          <a:xfrm>
            <a:off x="777240" y="237744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Piloting Devin as an AI engineer alongside its ~12,000 developers, focused on legacy code modernization and augmenting developer productivity under strict governance.</a:t>
            </a:r>
            <a:endParaRPr/>
          </a:p>
        </p:txBody>
      </p:sp>
      <p:sp>
        <p:nvSpPr>
          <p:cNvPr id="421" name="Google Shape;421;p21"/>
          <p:cNvSpPr/>
          <p:nvPr/>
        </p:nvSpPr>
        <p:spPr>
          <a:xfrm>
            <a:off x="6217920" y="173736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2" name="Google Shape;422;p21"/>
          <p:cNvSpPr txBox="1"/>
          <p:nvPr/>
        </p:nvSpPr>
        <p:spPr>
          <a:xfrm>
            <a:off x="64465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Ramp</a:t>
            </a:r>
            <a:endParaRPr/>
          </a:p>
        </p:txBody>
      </p:sp>
      <p:sp>
        <p:nvSpPr>
          <p:cNvPr id="423" name="Google Shape;423;p21"/>
          <p:cNvSpPr txBox="1"/>
          <p:nvPr/>
        </p:nvSpPr>
        <p:spPr>
          <a:xfrm>
            <a:off x="9692640" y="192024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Fintech</a:t>
            </a:r>
            <a:endParaRPr/>
          </a:p>
        </p:txBody>
      </p:sp>
      <p:sp>
        <p:nvSpPr>
          <p:cNvPr id="424" name="Google Shape;424;p21"/>
          <p:cNvSpPr txBox="1"/>
          <p:nvPr/>
        </p:nvSpPr>
        <p:spPr>
          <a:xfrm>
            <a:off x="6446520" y="237744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Uses Devin for backlog tasks and internal tooling, freeing engineers to focus on product velocity in a fast-scaling environment.</a:t>
            </a:r>
            <a:endParaRPr/>
          </a:p>
        </p:txBody>
      </p:sp>
      <p:sp>
        <p:nvSpPr>
          <p:cNvPr id="425" name="Google Shape;425;p21"/>
          <p:cNvSpPr/>
          <p:nvPr/>
        </p:nvSpPr>
        <p:spPr>
          <a:xfrm>
            <a:off x="548640" y="393192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6" name="Google Shape;426;p21"/>
          <p:cNvSpPr txBox="1"/>
          <p:nvPr/>
        </p:nvSpPr>
        <p:spPr>
          <a:xfrm>
            <a:off x="777240" y="406908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MongoDB</a:t>
            </a:r>
            <a:endParaRPr/>
          </a:p>
        </p:txBody>
      </p:sp>
      <p:sp>
        <p:nvSpPr>
          <p:cNvPr id="427" name="Google Shape;427;p21"/>
          <p:cNvSpPr txBox="1"/>
          <p:nvPr/>
        </p:nvSpPr>
        <p:spPr>
          <a:xfrm>
            <a:off x="4023360" y="411480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Developer platform</a:t>
            </a:r>
            <a:endParaRPr/>
          </a:p>
        </p:txBody>
      </p:sp>
      <p:sp>
        <p:nvSpPr>
          <p:cNvPr id="428" name="Google Shape;428;p21"/>
          <p:cNvSpPr txBox="1"/>
          <p:nvPr/>
        </p:nvSpPr>
        <p:spPr>
          <a:xfrm>
            <a:off x="777240" y="457200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Adopted Devin to accelerate engineering work across a large, distributed codebase, with Devin handling well-scoped tasks end to end.</a:t>
            </a:r>
            <a:endParaRPr/>
          </a:p>
        </p:txBody>
      </p:sp>
      <p:sp>
        <p:nvSpPr>
          <p:cNvPr id="429" name="Google Shape;429;p21"/>
          <p:cNvSpPr/>
          <p:nvPr/>
        </p:nvSpPr>
        <p:spPr>
          <a:xfrm>
            <a:off x="6217920" y="393192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0" name="Google Shape;430;p21"/>
          <p:cNvSpPr txBox="1"/>
          <p:nvPr/>
        </p:nvSpPr>
        <p:spPr>
          <a:xfrm>
            <a:off x="6446520" y="406908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Bilt</a:t>
            </a:r>
            <a:endParaRPr/>
          </a:p>
        </p:txBody>
      </p:sp>
      <p:sp>
        <p:nvSpPr>
          <p:cNvPr id="431" name="Google Shape;431;p21"/>
          <p:cNvSpPr txBox="1"/>
          <p:nvPr/>
        </p:nvSpPr>
        <p:spPr>
          <a:xfrm>
            <a:off x="9692640" y="411480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Consumer fintech</a:t>
            </a:r>
            <a:endParaRPr/>
          </a:p>
        </p:txBody>
      </p:sp>
      <p:sp>
        <p:nvSpPr>
          <p:cNvPr id="432" name="Google Shape;432;p21"/>
          <p:cNvSpPr txBox="1"/>
          <p:nvPr/>
        </p:nvSpPr>
        <p:spPr>
          <a:xfrm>
            <a:off x="6446520" y="457200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Leverages Devin to expand engineering capacity without proportional headcount growth.</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22"/>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22"/>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IMPACT  |  ROI FRAMEWORK</a:t>
            </a:r>
            <a:endParaRPr/>
          </a:p>
        </p:txBody>
      </p:sp>
      <p:sp>
        <p:nvSpPr>
          <p:cNvPr id="440" name="Google Shape;440;p22"/>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The business case</a:t>
            </a:r>
            <a:endParaRPr/>
          </a:p>
        </p:txBody>
      </p:sp>
      <p:sp>
        <p:nvSpPr>
          <p:cNvPr id="441" name="Google Shape;441;p22"/>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42" name="Google Shape;442;p22"/>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22</a:t>
            </a:r>
            <a:endParaRPr/>
          </a:p>
        </p:txBody>
      </p:sp>
      <p:sp>
        <p:nvSpPr>
          <p:cNvPr id="443" name="Google Shape;443;p22"/>
          <p:cNvSpPr/>
          <p:nvPr/>
        </p:nvSpPr>
        <p:spPr>
          <a:xfrm>
            <a:off x="548640" y="1737360"/>
            <a:ext cx="11064240" cy="457200"/>
          </a:xfrm>
          <a:prstGeom prst="rect">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22"/>
          <p:cNvSpPr txBox="1"/>
          <p:nvPr/>
        </p:nvSpPr>
        <p:spPr>
          <a:xfrm>
            <a:off x="6400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Lever</a:t>
            </a:r>
            <a:endParaRPr/>
          </a:p>
        </p:txBody>
      </p:sp>
      <p:sp>
        <p:nvSpPr>
          <p:cNvPr id="445" name="Google Shape;445;p22"/>
          <p:cNvSpPr txBox="1"/>
          <p:nvPr/>
        </p:nvSpPr>
        <p:spPr>
          <a:xfrm>
            <a:off x="42976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How to measure</a:t>
            </a:r>
            <a:endParaRPr/>
          </a:p>
        </p:txBody>
      </p:sp>
      <p:sp>
        <p:nvSpPr>
          <p:cNvPr id="446" name="Google Shape;446;p22"/>
          <p:cNvSpPr txBox="1"/>
          <p:nvPr/>
        </p:nvSpPr>
        <p:spPr>
          <a:xfrm>
            <a:off x="79552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Illustrative impact</a:t>
            </a:r>
            <a:endParaRPr/>
          </a:p>
        </p:txBody>
      </p:sp>
      <p:sp>
        <p:nvSpPr>
          <p:cNvPr id="447" name="Google Shape;447;p22"/>
          <p:cNvSpPr/>
          <p:nvPr/>
        </p:nvSpPr>
        <p:spPr>
          <a:xfrm>
            <a:off x="548640" y="2194560"/>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22"/>
          <p:cNvSpPr txBox="1"/>
          <p:nvPr/>
        </p:nvSpPr>
        <p:spPr>
          <a:xfrm>
            <a:off x="6400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Capacity reclaimed</a:t>
            </a:r>
            <a:endParaRPr/>
          </a:p>
        </p:txBody>
      </p:sp>
      <p:sp>
        <p:nvSpPr>
          <p:cNvPr id="449" name="Google Shape;449;p22"/>
          <p:cNvSpPr txBox="1"/>
          <p:nvPr/>
        </p:nvSpPr>
        <p:spPr>
          <a:xfrm>
            <a:off x="42976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Engineer-hours on tasks completed by Devin</a:t>
            </a:r>
            <a:endParaRPr/>
          </a:p>
        </p:txBody>
      </p:sp>
      <p:sp>
        <p:nvSpPr>
          <p:cNvPr id="450" name="Google Shape;450;p22"/>
          <p:cNvSpPr txBox="1"/>
          <p:nvPr/>
        </p:nvSpPr>
        <p:spPr>
          <a:xfrm>
            <a:off x="79552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Team of 50 x 20% toil = 10 FTE-equivalents</a:t>
            </a:r>
            <a:endParaRPr/>
          </a:p>
        </p:txBody>
      </p:sp>
      <p:sp>
        <p:nvSpPr>
          <p:cNvPr id="451" name="Google Shape;451;p22"/>
          <p:cNvSpPr txBox="1"/>
          <p:nvPr/>
        </p:nvSpPr>
        <p:spPr>
          <a:xfrm>
            <a:off x="6400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Cycle time</a:t>
            </a:r>
            <a:endParaRPr/>
          </a:p>
        </p:txBody>
      </p:sp>
      <p:sp>
        <p:nvSpPr>
          <p:cNvPr id="452" name="Google Shape;452;p22"/>
          <p:cNvSpPr txBox="1"/>
          <p:nvPr/>
        </p:nvSpPr>
        <p:spPr>
          <a:xfrm>
            <a:off x="42976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Ticket-to-merge time for Devin-eligible tasks</a:t>
            </a:r>
            <a:endParaRPr/>
          </a:p>
        </p:txBody>
      </p:sp>
      <p:sp>
        <p:nvSpPr>
          <p:cNvPr id="453" name="Google Shape;453;p22"/>
          <p:cNvSpPr txBox="1"/>
          <p:nvPr/>
        </p:nvSpPr>
        <p:spPr>
          <a:xfrm>
            <a:off x="79552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Days to hours; parallel execution</a:t>
            </a:r>
            <a:endParaRPr/>
          </a:p>
        </p:txBody>
      </p:sp>
      <p:sp>
        <p:nvSpPr>
          <p:cNvPr id="454" name="Google Shape;454;p22"/>
          <p:cNvSpPr/>
          <p:nvPr/>
        </p:nvSpPr>
        <p:spPr>
          <a:xfrm>
            <a:off x="548640" y="3511296"/>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5" name="Google Shape;455;p22"/>
          <p:cNvSpPr txBox="1"/>
          <p:nvPr/>
        </p:nvSpPr>
        <p:spPr>
          <a:xfrm>
            <a:off x="6400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Migration cost</a:t>
            </a:r>
            <a:endParaRPr/>
          </a:p>
        </p:txBody>
      </p:sp>
      <p:sp>
        <p:nvSpPr>
          <p:cNvPr id="456" name="Google Shape;456;p22"/>
          <p:cNvSpPr txBox="1"/>
          <p:nvPr/>
        </p:nvSpPr>
        <p:spPr>
          <a:xfrm>
            <a:off x="42976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Cost per repo/service migrated</a:t>
            </a:r>
            <a:endParaRPr/>
          </a:p>
        </p:txBody>
      </p:sp>
      <p:sp>
        <p:nvSpPr>
          <p:cNvPr id="457" name="Google Shape;457;p22"/>
          <p:cNvSpPr txBox="1"/>
          <p:nvPr/>
        </p:nvSpPr>
        <p:spPr>
          <a:xfrm>
            <a:off x="79552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10-20x reduction (Nubank)</a:t>
            </a:r>
            <a:endParaRPr/>
          </a:p>
        </p:txBody>
      </p:sp>
      <p:sp>
        <p:nvSpPr>
          <p:cNvPr id="458" name="Google Shape;458;p22"/>
          <p:cNvSpPr txBox="1"/>
          <p:nvPr/>
        </p:nvSpPr>
        <p:spPr>
          <a:xfrm>
            <a:off x="6400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Security posture</a:t>
            </a:r>
            <a:endParaRPr/>
          </a:p>
        </p:txBody>
      </p:sp>
      <p:sp>
        <p:nvSpPr>
          <p:cNvPr id="459" name="Google Shape;459;p22"/>
          <p:cNvSpPr txBox="1"/>
          <p:nvPr/>
        </p:nvSpPr>
        <p:spPr>
          <a:xfrm>
            <a:off x="42976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Mean time to patch known CVEs</a:t>
            </a:r>
            <a:endParaRPr/>
          </a:p>
        </p:txBody>
      </p:sp>
      <p:sp>
        <p:nvSpPr>
          <p:cNvPr id="460" name="Google Shape;460;p22"/>
          <p:cNvSpPr txBox="1"/>
          <p:nvPr/>
        </p:nvSpPr>
        <p:spPr>
          <a:xfrm>
            <a:off x="79552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Weeks to days, org-wide</a:t>
            </a:r>
            <a:endParaRPr/>
          </a:p>
        </p:txBody>
      </p:sp>
      <p:sp>
        <p:nvSpPr>
          <p:cNvPr id="461" name="Google Shape;461;p22"/>
          <p:cNvSpPr/>
          <p:nvPr/>
        </p:nvSpPr>
        <p:spPr>
          <a:xfrm>
            <a:off x="548640" y="4828032"/>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2" name="Google Shape;462;p22"/>
          <p:cNvSpPr txBox="1"/>
          <p:nvPr/>
        </p:nvSpPr>
        <p:spPr>
          <a:xfrm>
            <a:off x="6400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Onboarding</a:t>
            </a:r>
            <a:endParaRPr/>
          </a:p>
        </p:txBody>
      </p:sp>
      <p:sp>
        <p:nvSpPr>
          <p:cNvPr id="463" name="Google Shape;463;p22"/>
          <p:cNvSpPr txBox="1"/>
          <p:nvPr/>
        </p:nvSpPr>
        <p:spPr>
          <a:xfrm>
            <a:off x="42976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Time to first meaningful PR for new hires</a:t>
            </a:r>
            <a:endParaRPr/>
          </a:p>
        </p:txBody>
      </p:sp>
      <p:sp>
        <p:nvSpPr>
          <p:cNvPr id="464" name="Google Shape;464;p22"/>
          <p:cNvSpPr txBox="1"/>
          <p:nvPr/>
        </p:nvSpPr>
        <p:spPr>
          <a:xfrm>
            <a:off x="79552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Weeks shaved via Wiki and Ask Devin</a:t>
            </a:r>
            <a:endParaRPr/>
          </a:p>
        </p:txBody>
      </p:sp>
      <p:sp>
        <p:nvSpPr>
          <p:cNvPr id="465" name="Google Shape;465;p22"/>
          <p:cNvSpPr txBox="1"/>
          <p:nvPr/>
        </p:nvSpPr>
        <p:spPr>
          <a:xfrm>
            <a:off x="548640" y="5669280"/>
            <a:ext cx="10972800" cy="5486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1" lang="en-US" sz="1300" u="none" cap="none" strike="noStrike">
                <a:solidFill>
                  <a:srgbClr val="6B7280"/>
                </a:solidFill>
                <a:latin typeface="Calibri"/>
                <a:ea typeface="Calibri"/>
                <a:cs typeface="Calibri"/>
                <a:sym typeface="Calibri"/>
              </a:rPr>
              <a:t>Pilot success criteria are set jointly against these levers and reviewed weekly.</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469" name="Shape 469"/>
        <p:cNvGrpSpPr/>
        <p:nvPr/>
      </p:nvGrpSpPr>
      <p:grpSpPr>
        <a:xfrm>
          <a:off x="0" y="0"/>
          <a:ext cx="0" cy="0"/>
          <a:chOff x="0" y="0"/>
          <a:chExt cx="0" cy="0"/>
        </a:xfrm>
      </p:grpSpPr>
      <p:sp>
        <p:nvSpPr>
          <p:cNvPr id="470" name="Google Shape;470;p23"/>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06</a:t>
            </a:r>
            <a:endParaRPr/>
          </a:p>
        </p:txBody>
      </p:sp>
      <p:sp>
        <p:nvSpPr>
          <p:cNvPr id="471" name="Google Shape;471;p23"/>
          <p:cNvSpPr txBox="1"/>
          <p:nvPr/>
        </p:nvSpPr>
        <p:spPr>
          <a:xfrm>
            <a:off x="822960" y="2834640"/>
            <a:ext cx="1005840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Next Steps</a:t>
            </a:r>
            <a:endParaRPr/>
          </a:p>
        </p:txBody>
      </p:sp>
      <p:sp>
        <p:nvSpPr>
          <p:cNvPr id="472" name="Google Shape;472;p23"/>
          <p:cNvSpPr txBox="1"/>
          <p:nvPr/>
        </p:nvSpPr>
        <p:spPr>
          <a:xfrm>
            <a:off x="822960" y="3840480"/>
            <a:ext cx="100584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200" u="none" cap="none" strike="noStrike">
                <a:solidFill>
                  <a:srgbClr val="D9DDE5"/>
                </a:solidFill>
                <a:latin typeface="Calibri"/>
                <a:ea typeface="Calibri"/>
                <a:cs typeface="Calibri"/>
                <a:sym typeface="Calibri"/>
              </a:rPr>
              <a:t>A proposal to prove value in your environment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24"/>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24"/>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NEXT STEPS</a:t>
            </a:r>
            <a:endParaRPr/>
          </a:p>
        </p:txBody>
      </p:sp>
      <p:sp>
        <p:nvSpPr>
          <p:cNvPr id="480" name="Google Shape;480;p24"/>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Proposal: a 6-week scoped pilot</a:t>
            </a:r>
            <a:endParaRPr/>
          </a:p>
        </p:txBody>
      </p:sp>
      <p:sp>
        <p:nvSpPr>
          <p:cNvPr id="481" name="Google Shape;481;p24"/>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82" name="Google Shape;482;p24"/>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24</a:t>
            </a:r>
            <a:endParaRPr/>
          </a:p>
        </p:txBody>
      </p:sp>
      <p:sp>
        <p:nvSpPr>
          <p:cNvPr id="483" name="Google Shape;483;p24"/>
          <p:cNvSpPr/>
          <p:nvPr/>
        </p:nvSpPr>
        <p:spPr>
          <a:xfrm>
            <a:off x="548640"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4" name="Google Shape;484;p24"/>
          <p:cNvSpPr/>
          <p:nvPr/>
        </p:nvSpPr>
        <p:spPr>
          <a:xfrm>
            <a:off x="548640" y="1737360"/>
            <a:ext cx="3566160" cy="548640"/>
          </a:xfrm>
          <a:prstGeom prst="roundRect">
            <a:avLst>
              <a:gd fmla="val 16667"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24"/>
          <p:cNvSpPr txBox="1"/>
          <p:nvPr/>
        </p:nvSpPr>
        <p:spPr>
          <a:xfrm>
            <a:off x="731520"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0-1  |  Security &amp; setup</a:t>
            </a:r>
            <a:endParaRPr/>
          </a:p>
        </p:txBody>
      </p:sp>
      <p:sp>
        <p:nvSpPr>
          <p:cNvPr id="486" name="Google Shape;486;p24"/>
          <p:cNvSpPr txBox="1"/>
          <p:nvPr/>
        </p:nvSpPr>
        <p:spPr>
          <a:xfrm>
            <a:off x="731520"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Security review: SOC 2 report, DPA, architecture Q&amp;A</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Connect repos, Slack, issue tracker</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Define 2-3 target task types and success metrics</a:t>
            </a:r>
            <a:endParaRPr/>
          </a:p>
        </p:txBody>
      </p:sp>
      <p:sp>
        <p:nvSpPr>
          <p:cNvPr id="487" name="Google Shape;487;p24"/>
          <p:cNvSpPr/>
          <p:nvPr/>
        </p:nvSpPr>
        <p:spPr>
          <a:xfrm>
            <a:off x="4297679"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8" name="Google Shape;488;p24"/>
          <p:cNvSpPr/>
          <p:nvPr/>
        </p:nvSpPr>
        <p:spPr>
          <a:xfrm>
            <a:off x="4297679" y="1737360"/>
            <a:ext cx="3566160" cy="548640"/>
          </a:xfrm>
          <a:prstGeom prst="roundRect">
            <a:avLst>
              <a:gd fmla="val 16667"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9" name="Google Shape;489;p24"/>
          <p:cNvSpPr txBox="1"/>
          <p:nvPr/>
        </p:nvSpPr>
        <p:spPr>
          <a:xfrm>
            <a:off x="4480559"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2-5  |  Run</a:t>
            </a:r>
            <a:endParaRPr/>
          </a:p>
        </p:txBody>
      </p:sp>
      <p:sp>
        <p:nvSpPr>
          <p:cNvPr id="490" name="Google Shape;490;p24"/>
          <p:cNvSpPr txBox="1"/>
          <p:nvPr/>
        </p:nvSpPr>
        <p:spPr>
          <a:xfrm>
            <a:off x="4480559"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Champion team assigns real backlog tickets to Devin</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Cognition forward-deployed engineer embedded</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Weekly metrics: PRs merged, cycle time, hours saved</a:t>
            </a:r>
            <a:endParaRPr/>
          </a:p>
        </p:txBody>
      </p:sp>
      <p:sp>
        <p:nvSpPr>
          <p:cNvPr id="491" name="Google Shape;491;p24"/>
          <p:cNvSpPr/>
          <p:nvPr/>
        </p:nvSpPr>
        <p:spPr>
          <a:xfrm>
            <a:off x="8046718"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2" name="Google Shape;492;p24"/>
          <p:cNvSpPr/>
          <p:nvPr/>
        </p:nvSpPr>
        <p:spPr>
          <a:xfrm>
            <a:off x="8046718" y="1737360"/>
            <a:ext cx="3566160" cy="548640"/>
          </a:xfrm>
          <a:prstGeom prst="roundRect">
            <a:avLst>
              <a:gd fmla="val 16667" name="adj"/>
            </a:avLst>
          </a:prstGeom>
          <a:solidFill>
            <a:srgbClr val="22C5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24"/>
          <p:cNvSpPr txBox="1"/>
          <p:nvPr/>
        </p:nvSpPr>
        <p:spPr>
          <a:xfrm>
            <a:off x="8229598"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6  |  Decide</a:t>
            </a:r>
            <a:endParaRPr/>
          </a:p>
        </p:txBody>
      </p:sp>
      <p:sp>
        <p:nvSpPr>
          <p:cNvPr id="494" name="Google Shape;494;p24"/>
          <p:cNvSpPr txBox="1"/>
          <p:nvPr/>
        </p:nvSpPr>
        <p:spPr>
          <a:xfrm>
            <a:off x="8229598"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Executive readout vs. agreed criteria</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ROI model with your actual numbers</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Rollout plan and commercial proposal</a:t>
            </a:r>
            <a:endParaRPr/>
          </a:p>
        </p:txBody>
      </p:sp>
      <p:sp>
        <p:nvSpPr>
          <p:cNvPr id="495" name="Google Shape;495;p24"/>
          <p:cNvSpPr txBox="1"/>
          <p:nvPr/>
        </p:nvSpPr>
        <p:spPr>
          <a:xfrm>
            <a:off x="548640" y="548640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we ask of you</a:t>
            </a:r>
            <a:endParaRPr/>
          </a:p>
        </p:txBody>
      </p:sp>
      <p:sp>
        <p:nvSpPr>
          <p:cNvPr id="496" name="Google Shape;496;p24"/>
          <p:cNvSpPr txBox="1"/>
          <p:nvPr/>
        </p:nvSpPr>
        <p:spPr>
          <a:xfrm>
            <a:off x="548640" y="5806440"/>
            <a:ext cx="10972800" cy="5486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One executive sponsor, one champion team (5-10 engineers), a security point of contact, and a backlog of real tickets. We bring the rest.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01" name="Shape 501"/>
        <p:cNvGrpSpPr/>
        <p:nvPr/>
      </p:nvGrpSpPr>
      <p:grpSpPr>
        <a:xfrm>
          <a:off x="0" y="0"/>
          <a:ext cx="0" cy="0"/>
          <a:chOff x="0" y="0"/>
          <a:chExt cx="0" cy="0"/>
        </a:xfrm>
      </p:grpSpPr>
      <p:sp>
        <p:nvSpPr>
          <p:cNvPr id="502" name="Google Shape;502;p25"/>
          <p:cNvSpPr/>
          <p:nvPr/>
        </p:nvSpPr>
        <p:spPr>
          <a:xfrm>
            <a:off x="0" y="0"/>
            <a:ext cx="228600" cy="6858000"/>
          </a:xfrm>
          <a:prstGeom prst="rect">
            <a:avLst/>
          </a:prstGeom>
          <a:solidFill>
            <a:srgbClr val="22C5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3" name="Google Shape;503;p25"/>
          <p:cNvSpPr txBox="1"/>
          <p:nvPr/>
        </p:nvSpPr>
        <p:spPr>
          <a:xfrm>
            <a:off x="822960" y="1645920"/>
            <a:ext cx="10515600" cy="12801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000" u="none" cap="none" strike="noStrike">
                <a:solidFill>
                  <a:srgbClr val="FFFFFF"/>
                </a:solidFill>
                <a:latin typeface="Calibri"/>
                <a:ea typeface="Calibri"/>
                <a:cs typeface="Calibri"/>
                <a:sym typeface="Calibri"/>
              </a:rPr>
              <a:t>Give your engineers a teammate. Give your roadmap a chance.</a:t>
            </a:r>
            <a:endParaRPr/>
          </a:p>
        </p:txBody>
      </p:sp>
      <p:sp>
        <p:nvSpPr>
          <p:cNvPr id="504" name="Google Shape;504;p25"/>
          <p:cNvSpPr txBox="1"/>
          <p:nvPr/>
        </p:nvSpPr>
        <p:spPr>
          <a:xfrm>
            <a:off x="822960" y="3200400"/>
            <a:ext cx="1051560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000" u="none" cap="none" strike="noStrike">
                <a:solidFill>
                  <a:srgbClr val="D9DDE5"/>
                </a:solidFill>
                <a:latin typeface="Calibri"/>
                <a:ea typeface="Calibri"/>
                <a:cs typeface="Calibri"/>
                <a:sym typeface="Calibri"/>
              </a:rPr>
              <a:t>Devin takes on the migrations, tests, and toil that consume your best people,</a:t>
            </a:r>
            <a:endParaRPr/>
          </a:p>
          <a:p>
            <a:pPr indent="0" lvl="0" marL="0" marR="0" rtl="0" algn="l">
              <a:spcBef>
                <a:spcPts val="0"/>
              </a:spcBef>
              <a:spcAft>
                <a:spcPts val="0"/>
              </a:spcAft>
              <a:buNone/>
            </a:pPr>
            <a:r>
              <a:rPr b="0" i="0" lang="en-US" sz="2000" u="none" cap="none" strike="noStrike">
                <a:solidFill>
                  <a:srgbClr val="D9DDE5"/>
                </a:solidFill>
                <a:latin typeface="Calibri"/>
                <a:ea typeface="Calibri"/>
                <a:cs typeface="Calibri"/>
                <a:sym typeface="Calibri"/>
              </a:rPr>
              <a:t>inside the security boundaries your CISO defines, with every change reviewed by your team.</a:t>
            </a:r>
            <a:endParaRPr/>
          </a:p>
        </p:txBody>
      </p:sp>
      <p:sp>
        <p:nvSpPr>
          <p:cNvPr id="505" name="Google Shape;505;p25"/>
          <p:cNvSpPr txBox="1"/>
          <p:nvPr/>
        </p:nvSpPr>
        <p:spPr>
          <a:xfrm>
            <a:off x="822960" y="4937760"/>
            <a:ext cx="10515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22C55E"/>
                </a:solidFill>
                <a:latin typeface="Calibri"/>
                <a:ea typeface="Calibri"/>
                <a:cs typeface="Calibri"/>
                <a:sym typeface="Calibri"/>
              </a:rPr>
              <a:t>Proposed next step</a:t>
            </a:r>
            <a:endParaRPr/>
          </a:p>
        </p:txBody>
      </p:sp>
      <p:sp>
        <p:nvSpPr>
          <p:cNvPr id="506" name="Google Shape;506;p25"/>
          <p:cNvSpPr txBox="1"/>
          <p:nvPr/>
        </p:nvSpPr>
        <p:spPr>
          <a:xfrm>
            <a:off x="822960" y="5303520"/>
            <a:ext cx="105156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800" u="none" cap="none" strike="noStrike">
                <a:solidFill>
                  <a:srgbClr val="FFFFFF"/>
                </a:solidFill>
                <a:latin typeface="Calibri"/>
                <a:ea typeface="Calibri"/>
                <a:cs typeface="Calibri"/>
                <a:sym typeface="Calibri"/>
              </a:rPr>
              <a:t>Security review kickoff and pilot scoping session within the next two weeks.</a:t>
            </a:r>
            <a:endParaRPr/>
          </a:p>
        </p:txBody>
      </p:sp>
      <p:sp>
        <p:nvSpPr>
          <p:cNvPr id="507" name="Google Shape;507;p25"/>
          <p:cNvSpPr txBox="1"/>
          <p:nvPr/>
        </p:nvSpPr>
        <p:spPr>
          <a:xfrm>
            <a:off x="822960" y="6126480"/>
            <a:ext cx="100584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6B7280"/>
                </a:solidFill>
                <a:latin typeface="Calibri"/>
                <a:ea typeface="Calibri"/>
                <a:cs typeface="Calibri"/>
                <a:sym typeface="Calibri"/>
              </a:rPr>
              <a:t>[Your Name]  |  [email]  |  cognition.ai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11" name="Shape 511"/>
        <p:cNvGrpSpPr/>
        <p:nvPr/>
      </p:nvGrpSpPr>
      <p:grpSpPr>
        <a:xfrm>
          <a:off x="0" y="0"/>
          <a:ext cx="0" cy="0"/>
          <a:chOff x="0" y="0"/>
          <a:chExt cx="0" cy="0"/>
        </a:xfrm>
      </p:grpSpPr>
      <p:sp>
        <p:nvSpPr>
          <p:cNvPr id="512" name="Google Shape;512;h1bbba60e94861fb1_0_20"/>
          <p:cNvSpPr txBox="1"/>
          <p:nvPr/>
        </p:nvSpPr>
        <p:spPr>
          <a:xfrm>
            <a:off x="822960" y="2377440"/>
            <a:ext cx="36576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06</a:t>
            </a:r>
            <a:endParaRPr/>
          </a:p>
        </p:txBody>
      </p:sp>
      <p:sp>
        <p:nvSpPr>
          <p:cNvPr id="513" name="Google Shape;513;h1bbba60e94861fb1_0_20"/>
          <p:cNvSpPr txBox="1"/>
          <p:nvPr/>
        </p:nvSpPr>
        <p:spPr>
          <a:xfrm>
            <a:off x="822960" y="2834640"/>
            <a:ext cx="100584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Appendi</a:t>
            </a:r>
            <a:r>
              <a:rPr b="1" lang="en-US" sz="4800">
                <a:solidFill>
                  <a:srgbClr val="FFFFFF"/>
                </a:solidFill>
                <a:latin typeface="Calibri"/>
                <a:ea typeface="Calibri"/>
                <a:cs typeface="Calibri"/>
                <a:sym typeface="Calibri"/>
              </a:rPr>
              <a:t>x</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8" name="Shape 518"/>
        <p:cNvGrpSpPr/>
        <p:nvPr/>
      </p:nvGrpSpPr>
      <p:grpSpPr>
        <a:xfrm>
          <a:off x="0" y="0"/>
          <a:ext cx="0" cy="0"/>
          <a:chOff x="0" y="0"/>
          <a:chExt cx="0" cy="0"/>
        </a:xfrm>
      </p:grpSpPr>
      <p:sp>
        <p:nvSpPr>
          <p:cNvPr id="519" name="Google Shape;519;p4"/>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0" name="Google Shape;520;p4"/>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DISCOVERY  |  FOR THE CTO</a:t>
            </a:r>
            <a:endParaRPr/>
          </a:p>
        </p:txBody>
      </p:sp>
      <p:sp>
        <p:nvSpPr>
          <p:cNvPr id="521" name="Google Shape;521;p4"/>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Where does engineering time actually go?</a:t>
            </a:r>
            <a:endParaRPr/>
          </a:p>
        </p:txBody>
      </p:sp>
      <p:sp>
        <p:nvSpPr>
          <p:cNvPr id="522" name="Google Shape;522;p4"/>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23" name="Google Shape;523;p4"/>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4</a:t>
            </a:r>
            <a:endParaRPr/>
          </a:p>
        </p:txBody>
      </p:sp>
      <p:sp>
        <p:nvSpPr>
          <p:cNvPr id="524" name="Google Shape;524;p4"/>
          <p:cNvSpPr/>
          <p:nvPr/>
        </p:nvSpPr>
        <p:spPr>
          <a:xfrm>
            <a:off x="54864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5" name="Google Shape;525;p4"/>
          <p:cNvSpPr/>
          <p:nvPr/>
        </p:nvSpPr>
        <p:spPr>
          <a:xfrm>
            <a:off x="54864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6" name="Google Shape;526;p4"/>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Delivery &amp; Velocity</a:t>
            </a:r>
            <a:endParaRPr/>
          </a:p>
        </p:txBody>
      </p:sp>
      <p:sp>
        <p:nvSpPr>
          <p:cNvPr id="527" name="Google Shape;527;p4"/>
          <p:cNvSpPr txBox="1"/>
          <p:nvPr/>
        </p:nvSpPr>
        <p:spPr>
          <a:xfrm>
            <a:off x="73152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share of engineering capacity goes to new features vs. maintenance, migrations, and tech debt?</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Which roadmap items slipped last quarter, and why?</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long does a typical PR take from open to merge? Where does it stall?</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the ratio of senior to junior engineers, and where are seniors spending review time?</a:t>
            </a:r>
            <a:endParaRPr/>
          </a:p>
        </p:txBody>
      </p:sp>
      <p:sp>
        <p:nvSpPr>
          <p:cNvPr id="528" name="Google Shape;528;p4"/>
          <p:cNvSpPr/>
          <p:nvPr/>
        </p:nvSpPr>
        <p:spPr>
          <a:xfrm>
            <a:off x="621792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4"/>
          <p:cNvSpPr/>
          <p:nvPr/>
        </p:nvSpPr>
        <p:spPr>
          <a:xfrm>
            <a:off x="621792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0" name="Google Shape;530;p4"/>
          <p:cNvSpPr txBox="1"/>
          <p:nvPr/>
        </p:nvSpPr>
        <p:spPr>
          <a:xfrm>
            <a:off x="644652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Backlog &amp; Scale</a:t>
            </a:r>
            <a:endParaRPr/>
          </a:p>
        </p:txBody>
      </p:sp>
      <p:sp>
        <p:nvSpPr>
          <p:cNvPr id="531" name="Google Shape;531;p4"/>
          <p:cNvSpPr txBox="1"/>
          <p:nvPr/>
        </p:nvSpPr>
        <p:spPr>
          <a:xfrm>
            <a:off x="640080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sitting in the backlog that never gets prioritized: version upgrades, test coverage, flaky CI, documentation?</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Are there large migrations (language, framework, cloud, monolith-to-services) on the horizon?</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many repos and services does a new hire need to understand to be productive?</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If you had 30% more engineering capacity tomorrow, what would you point it at?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6" name="Shape 536"/>
        <p:cNvGrpSpPr/>
        <p:nvPr/>
      </p:nvGrpSpPr>
      <p:grpSpPr>
        <a:xfrm>
          <a:off x="0" y="0"/>
          <a:ext cx="0" cy="0"/>
          <a:chOff x="0" y="0"/>
          <a:chExt cx="0" cy="0"/>
        </a:xfrm>
      </p:grpSpPr>
      <p:sp>
        <p:nvSpPr>
          <p:cNvPr id="537" name="Google Shape;537;p5"/>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8" name="Google Shape;538;p5"/>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DISCOVERY  |  FOR THE CISO</a:t>
            </a:r>
            <a:endParaRPr/>
          </a:p>
        </p:txBody>
      </p:sp>
      <p:sp>
        <p:nvSpPr>
          <p:cNvPr id="539" name="Google Shape;539;p5"/>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What does 'safe adoption' look like to you?</a:t>
            </a:r>
            <a:endParaRPr/>
          </a:p>
        </p:txBody>
      </p:sp>
      <p:sp>
        <p:nvSpPr>
          <p:cNvPr id="540" name="Google Shape;540;p5"/>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41" name="Google Shape;541;p5"/>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5</a:t>
            </a:r>
            <a:endParaRPr/>
          </a:p>
        </p:txBody>
      </p:sp>
      <p:sp>
        <p:nvSpPr>
          <p:cNvPr id="542" name="Google Shape;542;p5"/>
          <p:cNvSpPr/>
          <p:nvPr/>
        </p:nvSpPr>
        <p:spPr>
          <a:xfrm>
            <a:off x="54864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5"/>
          <p:cNvSpPr/>
          <p:nvPr/>
        </p:nvSpPr>
        <p:spPr>
          <a:xfrm>
            <a:off x="54864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4" name="Google Shape;544;p5"/>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Governance &amp; Risk</a:t>
            </a:r>
            <a:endParaRPr/>
          </a:p>
        </p:txBody>
      </p:sp>
      <p:sp>
        <p:nvSpPr>
          <p:cNvPr id="545" name="Google Shape;545;p5"/>
          <p:cNvSpPr txBox="1"/>
          <p:nvPr/>
        </p:nvSpPr>
        <p:spPr>
          <a:xfrm>
            <a:off x="73152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Are engineers already using AI coding tools? Sanctioned or shadow?</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your policy on source code leaving your environment or being used for model training?</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Which compliance frameworks matter most: SOC 2, ISO 27001, HIPAA, PCI, FedRAMP?</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do you audit who or what changed production code today?</a:t>
            </a:r>
            <a:endParaRPr/>
          </a:p>
        </p:txBody>
      </p:sp>
      <p:sp>
        <p:nvSpPr>
          <p:cNvPr id="546" name="Google Shape;546;p5"/>
          <p:cNvSpPr/>
          <p:nvPr/>
        </p:nvSpPr>
        <p:spPr>
          <a:xfrm>
            <a:off x="621792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5"/>
          <p:cNvSpPr/>
          <p:nvPr/>
        </p:nvSpPr>
        <p:spPr>
          <a:xfrm>
            <a:off x="621792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5"/>
          <p:cNvSpPr txBox="1"/>
          <p:nvPr/>
        </p:nvSpPr>
        <p:spPr>
          <a:xfrm>
            <a:off x="644652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Controls &amp; Vulnerability Debt</a:t>
            </a:r>
            <a:endParaRPr/>
          </a:p>
        </p:txBody>
      </p:sp>
      <p:sp>
        <p:nvSpPr>
          <p:cNvPr id="549" name="Google Shape;549;p5"/>
          <p:cNvSpPr txBox="1"/>
          <p:nvPr/>
        </p:nvSpPr>
        <p:spPr>
          <a:xfrm>
            <a:off x="640080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do you manage secrets and access for automated systems (CI, bots, service accounts)?</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long do known CVEs in dependencies sit open before they are patched?</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Would you require VPC or self-hosted deployment, SSO, and audit logs for an AI agent?</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would an AI agent need to prove before you would allow it to open a pull request?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54" name="Shape 554"/>
        <p:cNvGrpSpPr/>
        <p:nvPr/>
      </p:nvGrpSpPr>
      <p:grpSpPr>
        <a:xfrm>
          <a:off x="0" y="0"/>
          <a:ext cx="0" cy="0"/>
          <a:chOff x="0" y="0"/>
          <a:chExt cx="0" cy="0"/>
        </a:xfrm>
      </p:grpSpPr>
      <p:sp>
        <p:nvSpPr>
          <p:cNvPr id="555" name="Google Shape;555;p17"/>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6" name="Google Shape;556;p17"/>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HOW IT WORKS  |  SECURITY</a:t>
            </a:r>
            <a:endParaRPr/>
          </a:p>
        </p:txBody>
      </p:sp>
      <p:sp>
        <p:nvSpPr>
          <p:cNvPr id="557" name="Google Shape;557;p17"/>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FFFFFF"/>
                </a:solidFill>
                <a:latin typeface="Calibri"/>
                <a:ea typeface="Calibri"/>
                <a:cs typeface="Calibri"/>
                <a:sym typeface="Calibri"/>
              </a:rPr>
              <a:t>Security and trust, designed for the CISO</a:t>
            </a:r>
            <a:endParaRPr/>
          </a:p>
        </p:txBody>
      </p:sp>
      <p:sp>
        <p:nvSpPr>
          <p:cNvPr id="558" name="Google Shape;558;p17"/>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59" name="Google Shape;559;p17"/>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17</a:t>
            </a:r>
            <a:endParaRPr/>
          </a:p>
        </p:txBody>
      </p:sp>
      <p:sp>
        <p:nvSpPr>
          <p:cNvPr id="560" name="Google Shape;560;p17"/>
          <p:cNvSpPr/>
          <p:nvPr/>
        </p:nvSpPr>
        <p:spPr>
          <a:xfrm>
            <a:off x="54864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17"/>
          <p:cNvSpPr/>
          <p:nvPr/>
        </p:nvSpPr>
        <p:spPr>
          <a:xfrm>
            <a:off x="54864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17"/>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Data Protection</a:t>
            </a:r>
            <a:endParaRPr/>
          </a:p>
        </p:txBody>
      </p:sp>
      <p:sp>
        <p:nvSpPr>
          <p:cNvPr id="563" name="Google Shape;563;p17"/>
          <p:cNvSpPr txBox="1"/>
          <p:nvPr/>
        </p:nvSpPr>
        <p:spPr>
          <a:xfrm>
            <a:off x="73152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Your code is not used to train models.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Encryption in transit and at rest.</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Secrets stored in an encrypted vault and injected at runtime; never exposed in transcripts.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Configurable data retention.</a:t>
            </a:r>
            <a:endParaRPr/>
          </a:p>
        </p:txBody>
      </p:sp>
      <p:sp>
        <p:nvSpPr>
          <p:cNvPr id="564" name="Google Shape;564;p17"/>
          <p:cNvSpPr/>
          <p:nvPr/>
        </p:nvSpPr>
        <p:spPr>
          <a:xfrm>
            <a:off x="429768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17"/>
          <p:cNvSpPr/>
          <p:nvPr/>
        </p:nvSpPr>
        <p:spPr>
          <a:xfrm>
            <a:off x="429768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6" name="Google Shape;566;p17"/>
          <p:cNvSpPr txBox="1"/>
          <p:nvPr/>
        </p:nvSpPr>
        <p:spPr>
          <a:xfrm>
            <a:off x="452628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Deployment &amp; Access</a:t>
            </a:r>
            <a:endParaRPr/>
          </a:p>
        </p:txBody>
      </p:sp>
      <p:sp>
        <p:nvSpPr>
          <p:cNvPr id="567" name="Google Shape;567;p17"/>
          <p:cNvSpPr txBox="1"/>
          <p:nvPr/>
        </p:nvSpPr>
        <p:spPr>
          <a:xfrm>
            <a:off x="448056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Multi-tenant SaaS, or Enterprise VPC deployment in your cloud account.</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SSO/SAML, SCIM, role-based access, repo-level scoping.</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Devin authenticates as a scoped GitHub App, not a personal token.</a:t>
            </a:r>
            <a:endParaRPr/>
          </a:p>
        </p:txBody>
      </p:sp>
      <p:sp>
        <p:nvSpPr>
          <p:cNvPr id="568" name="Google Shape;568;p17"/>
          <p:cNvSpPr/>
          <p:nvPr/>
        </p:nvSpPr>
        <p:spPr>
          <a:xfrm>
            <a:off x="804672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9" name="Google Shape;569;p17"/>
          <p:cNvSpPr/>
          <p:nvPr/>
        </p:nvSpPr>
        <p:spPr>
          <a:xfrm>
            <a:off x="804672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17"/>
          <p:cNvSpPr txBox="1"/>
          <p:nvPr/>
        </p:nvSpPr>
        <p:spPr>
          <a:xfrm>
            <a:off x="82753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Compliance &amp; Audit</a:t>
            </a:r>
            <a:endParaRPr/>
          </a:p>
        </p:txBody>
      </p:sp>
      <p:sp>
        <p:nvSpPr>
          <p:cNvPr id="571" name="Google Shape;571;p17"/>
          <p:cNvSpPr txBox="1"/>
          <p:nvPr/>
        </p:nvSpPr>
        <p:spPr>
          <a:xfrm>
            <a:off x="822960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SOC 2 Type II attested.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Complete, immutable session logs for every action taken.</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No self-merge; branch protection and CODEOWNERS enforced.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Devin Review and code scans surface vulnerabilities in existing code.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2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8" name="Google Shape;578;p26"/>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BACKUP</a:t>
            </a:r>
            <a:endParaRPr/>
          </a:p>
        </p:txBody>
      </p:sp>
      <p:sp>
        <p:nvSpPr>
          <p:cNvPr id="579" name="Google Shape;579;p2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Appendix: objections and responses</a:t>
            </a:r>
            <a:endParaRPr/>
          </a:p>
        </p:txBody>
      </p:sp>
      <p:sp>
        <p:nvSpPr>
          <p:cNvPr id="580" name="Google Shape;580;p26"/>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81" name="Google Shape;581;p2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26</a:t>
            </a:r>
            <a:endParaRPr/>
          </a:p>
        </p:txBody>
      </p:sp>
      <p:sp>
        <p:nvSpPr>
          <p:cNvPr id="582" name="Google Shape;582;p26"/>
          <p:cNvSpPr txBox="1"/>
          <p:nvPr/>
        </p:nvSpPr>
        <p:spPr>
          <a:xfrm>
            <a:off x="548640" y="169164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"We already have Copilot."</a:t>
            </a:r>
            <a:endParaRPr/>
          </a:p>
        </p:txBody>
      </p:sp>
      <p:sp>
        <p:nvSpPr>
          <p:cNvPr id="583" name="Google Shape;583;p26"/>
          <p:cNvSpPr txBox="1"/>
          <p:nvPr/>
        </p:nvSpPr>
        <p:spPr>
          <a:xfrm>
            <a:off x="548640" y="205740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Great, keep it. Copilot helps engineers type; Devin takes tickets off the board. Customers run both; the value is additive.</a:t>
            </a:r>
            <a:endParaRPr/>
          </a:p>
        </p:txBody>
      </p:sp>
      <p:sp>
        <p:nvSpPr>
          <p:cNvPr id="584" name="Google Shape;584;p26"/>
          <p:cNvSpPr txBox="1"/>
          <p:nvPr/>
        </p:nvSpPr>
        <p:spPr>
          <a:xfrm>
            <a:off x="6217920" y="169164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"AI code isn't trustworthy."</a:t>
            </a:r>
            <a:endParaRPr/>
          </a:p>
        </p:txBody>
      </p:sp>
      <p:sp>
        <p:nvSpPr>
          <p:cNvPr id="585" name="Google Shape;585;p26"/>
          <p:cNvSpPr txBox="1"/>
          <p:nvPr/>
        </p:nvSpPr>
        <p:spPr>
          <a:xfrm>
            <a:off x="6217920" y="205740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Neither is any unreviewed code. Devin runs tests, fixes CI, and never self-merges. Your review process is unchanged; the volume of reviewable work increases.</a:t>
            </a:r>
            <a:endParaRPr/>
          </a:p>
        </p:txBody>
      </p:sp>
      <p:sp>
        <p:nvSpPr>
          <p:cNvPr id="586" name="Google Shape;586;p26"/>
          <p:cNvSpPr txBox="1"/>
          <p:nvPr/>
        </p:nvSpPr>
        <p:spPr>
          <a:xfrm>
            <a:off x="548640" y="324612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"Our code can't leave our environment."</a:t>
            </a:r>
            <a:endParaRPr/>
          </a:p>
        </p:txBody>
      </p:sp>
      <p:sp>
        <p:nvSpPr>
          <p:cNvPr id="587" name="Google Shape;587;p26"/>
          <p:cNvSpPr txBox="1"/>
          <p:nvPr/>
        </p:nvSpPr>
        <p:spPr>
          <a:xfrm>
            <a:off x="548640" y="361188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Enterprise VPC deployment runs in your cloud account. No training on your code, encrypted secrets, full audit logs.</a:t>
            </a:r>
            <a:endParaRPr/>
          </a:p>
        </p:txBody>
      </p:sp>
      <p:sp>
        <p:nvSpPr>
          <p:cNvPr id="588" name="Google Shape;588;p26"/>
          <p:cNvSpPr txBox="1"/>
          <p:nvPr/>
        </p:nvSpPr>
        <p:spPr>
          <a:xfrm>
            <a:off x="6217920" y="324612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"Will this replace engineers?"</a:t>
            </a:r>
            <a:endParaRPr/>
          </a:p>
        </p:txBody>
      </p:sp>
      <p:sp>
        <p:nvSpPr>
          <p:cNvPr id="589" name="Google Shape;589;p26"/>
          <p:cNvSpPr txBox="1"/>
          <p:nvPr/>
        </p:nvSpPr>
        <p:spPr>
          <a:xfrm>
            <a:off x="6217920" y="361188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It replaces toil. Customers redeploy engineers to product work and report higher retention when migrations and maintenance are automated.</a:t>
            </a:r>
            <a:endParaRPr/>
          </a:p>
        </p:txBody>
      </p:sp>
      <p:sp>
        <p:nvSpPr>
          <p:cNvPr id="590" name="Google Shape;590;p26"/>
          <p:cNvSpPr txBox="1"/>
          <p:nvPr/>
        </p:nvSpPr>
        <p:spPr>
          <a:xfrm>
            <a:off x="548640" y="480060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"How do we measure it?"</a:t>
            </a:r>
            <a:endParaRPr/>
          </a:p>
        </p:txBody>
      </p:sp>
      <p:sp>
        <p:nvSpPr>
          <p:cNvPr id="591" name="Google Shape;591;p26"/>
          <p:cNvSpPr txBox="1"/>
          <p:nvPr/>
        </p:nvSpPr>
        <p:spPr>
          <a:xfrm>
            <a:off x="548640" y="516636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Jointly defined pilot metrics: PRs merged, cycle time, hours saved, CVEs patched. Reported weekly.</a:t>
            </a:r>
            <a:endParaRPr/>
          </a:p>
        </p:txBody>
      </p:sp>
      <p:sp>
        <p:nvSpPr>
          <p:cNvPr id="592" name="Google Shape;592;p26"/>
          <p:cNvSpPr txBox="1"/>
          <p:nvPr/>
        </p:nvSpPr>
        <p:spPr>
          <a:xfrm>
            <a:off x="6217920" y="480060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does it cost?"</a:t>
            </a:r>
            <a:endParaRPr/>
          </a:p>
        </p:txBody>
      </p:sp>
      <p:sp>
        <p:nvSpPr>
          <p:cNvPr id="593" name="Google Shape;593;p26"/>
          <p:cNvSpPr txBox="1"/>
          <p:nvPr/>
        </p:nvSpPr>
        <p:spPr>
          <a:xfrm>
            <a:off x="6217920" y="516636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Consumption-based (ACUs) with team and enterprise tiers. Pilot pricing is scoped to the agreed use cases; we model ROI on your numbers.</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RECAP &amp; DISCOVERY  |  CONFIRM, CORRECT, AND ADD TO THIS</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Our understanding of Capital One</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ounded Rectangle 5"/>
          <p:cNvSpPr/>
          <p:nvPr/>
        </p:nvSpPr>
        <p:spPr>
          <a:xfrm>
            <a:off x="54864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Your business</a:t>
            </a:r>
          </a:p>
        </p:txBody>
      </p:sp>
      <p:sp>
        <p:nvSpPr>
          <p:cNvPr id="9" name="TextBox 8"/>
          <p:cNvSpPr txBox="1"/>
          <p:nvPr/>
        </p:nvSpPr>
        <p:spPr>
          <a:xfrm>
            <a:off x="73152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Top-10 US bank and a top-3 card issuer; ~$40B revenue, 100M+ customer accounts.</a:t>
            </a:r>
          </a:p>
          <a:p>
            <a:pPr>
              <a:spcAft>
                <a:spcPts val="300"/>
              </a:spcAft>
            </a:pPr>
            <a:r>
              <a:rPr sz="1100">
                <a:solidFill>
                  <a:srgbClr val="3B82F6"/>
                </a:solidFill>
              </a:rPr>
              <a:t>▪  </a:t>
            </a:r>
            <a:r>
              <a:rPr sz="1100">
                <a:solidFill>
                  <a:srgbClr val="141B2D"/>
                </a:solidFill>
                <a:latin typeface="Calibri"/>
              </a:rPr>
              <a:t>The first large US bank to go all-in on the public cloud (data centers exited in 2020); ~14,000 technologists.</a:t>
            </a:r>
          </a:p>
          <a:p>
            <a:pPr>
              <a:spcAft>
                <a:spcPts val="300"/>
              </a:spcAft>
            </a:pPr>
            <a:r>
              <a:rPr sz="1100">
                <a:solidFill>
                  <a:srgbClr val="3B82F6"/>
                </a:solidFill>
              </a:rPr>
              <a:t>▪  </a:t>
            </a:r>
            <a:r>
              <a:rPr sz="1100">
                <a:solidFill>
                  <a:srgbClr val="141B2D"/>
                </a:solidFill>
                <a:latin typeface="Calibri"/>
              </a:rPr>
              <a:t>Integrating Discover, the largest bank acquisition in over a decade: two networks, two card platforms, two tech estates.</a:t>
            </a:r>
          </a:p>
        </p:txBody>
      </p:sp>
      <p:sp>
        <p:nvSpPr>
          <p:cNvPr id="10" name="Rounded Rectangle 9"/>
          <p:cNvSpPr/>
          <p:nvPr/>
        </p:nvSpPr>
        <p:spPr>
          <a:xfrm>
            <a:off x="429768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Your objectives</a:t>
            </a:r>
          </a:p>
        </p:txBody>
      </p:sp>
      <p:sp>
        <p:nvSpPr>
          <p:cNvPr id="13" name="TextBox 12"/>
          <p:cNvSpPr txBox="1"/>
          <p:nvPr/>
        </p:nvSpPr>
        <p:spPr>
          <a:xfrm>
            <a:off x="448056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Land the Discover integration: consolidate platforms and migrate workloads onto Capital One's cloud stack without disruption.</a:t>
            </a:r>
          </a:p>
          <a:p>
            <a:pPr>
              <a:spcAft>
                <a:spcPts val="300"/>
              </a:spcAft>
            </a:pPr>
            <a:r>
              <a:rPr sz="1100">
                <a:solidFill>
                  <a:srgbClr val="3B82F6"/>
                </a:solidFill>
              </a:rPr>
              <a:t>▪  </a:t>
            </a:r>
            <a:r>
              <a:rPr sz="1100">
                <a:solidFill>
                  <a:srgbClr val="141B2D"/>
                </a:solidFill>
                <a:latin typeface="Calibri"/>
              </a:rPr>
              <a:t>Scale AI across the bank (Chat Concierge, Eno, agentic customer service) while keeping the engineering bar high.</a:t>
            </a:r>
          </a:p>
          <a:p>
            <a:pPr>
              <a:spcAft>
                <a:spcPts val="300"/>
              </a:spcAft>
            </a:pPr>
            <a:r>
              <a:rPr sz="1100">
                <a:solidFill>
                  <a:srgbClr val="3B82F6"/>
                </a:solidFill>
              </a:rPr>
              <a:t>▪  </a:t>
            </a:r>
            <a:r>
              <a:rPr sz="1100">
                <a:solidFill>
                  <a:srgbClr val="141B2D"/>
                </a:solidFill>
                <a:latin typeface="Calibri"/>
              </a:rPr>
              <a:t>Stay ahead of regulators and threats: data governance, PII controls, and a security posture no one can question again.</a:t>
            </a:r>
          </a:p>
          <a:p>
            <a:pPr>
              <a:spcAft>
                <a:spcPts val="300"/>
              </a:spcAft>
            </a:pPr>
            <a:r>
              <a:rPr sz="1100">
                <a:solidFill>
                  <a:srgbClr val="3B82F6"/>
                </a:solidFill>
              </a:rPr>
              <a:t>▪  </a:t>
            </a:r>
            <a:r>
              <a:rPr sz="1100">
                <a:solidFill>
                  <a:srgbClr val="141B2D"/>
                </a:solidFill>
                <a:latin typeface="Calibri"/>
              </a:rPr>
              <a:t>Keep 'operate like a tech company' credible: developer productivity as a competitive advantage.</a:t>
            </a:r>
          </a:p>
        </p:txBody>
      </p:sp>
      <p:sp>
        <p:nvSpPr>
          <p:cNvPr id="14" name="Rounded Rectangle 13"/>
          <p:cNvSpPr/>
          <p:nvPr/>
        </p:nvSpPr>
        <p:spPr>
          <a:xfrm>
            <a:off x="804672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How Cognition can help</a:t>
            </a:r>
          </a:p>
        </p:txBody>
      </p:sp>
      <p:sp>
        <p:nvSpPr>
          <p:cNvPr id="17" name="TextBox 16"/>
          <p:cNvSpPr txBox="1"/>
          <p:nvPr/>
        </p:nvSpPr>
        <p:spPr>
          <a:xfrm>
            <a:off x="822960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Devin does integration and migration toil end to end: code moves, framework and Java/Python upgrades, tests, done as reviewed PRs in parallel.</a:t>
            </a:r>
          </a:p>
          <a:p>
            <a:pPr>
              <a:spcAft>
                <a:spcPts val="300"/>
              </a:spcAft>
            </a:pPr>
            <a:r>
              <a:rPr sz="1100">
                <a:solidFill>
                  <a:srgbClr val="3B82F6"/>
                </a:solidFill>
              </a:rPr>
              <a:t>▪  </a:t>
            </a:r>
            <a:r>
              <a:rPr sz="1100">
                <a:solidFill>
                  <a:srgbClr val="141B2D"/>
                </a:solidFill>
                <a:latin typeface="Calibri"/>
              </a:rPr>
              <a:t>Wiki, Review and Automations compound knowledge and quality across thousands of repos and two merged engineering orgs.</a:t>
            </a:r>
          </a:p>
          <a:p>
            <a:pPr>
              <a:spcAft>
                <a:spcPts val="300"/>
              </a:spcAft>
            </a:pPr>
            <a:r>
              <a:rPr sz="1100">
                <a:solidFill>
                  <a:srgbClr val="3B82F6"/>
                </a:solidFill>
              </a:rPr>
              <a:t>▪  </a:t>
            </a:r>
            <a:r>
              <a:rPr sz="1100">
                <a:solidFill>
                  <a:srgbClr val="141B2D"/>
                </a:solidFill>
                <a:latin typeface="Calibri"/>
              </a:rPr>
              <a:t>Enterprise controls (VPC, SSO/SCIM, audit logs, no training on code) built for regulated banks. Goldman Sachs runs Devin today.</a:t>
            </a:r>
          </a:p>
        </p:txBody>
      </p:sp>
      <p:sp>
        <p:nvSpPr>
          <p:cNvPr id="18" name="Rounded Rectangle 17"/>
          <p:cNvSpPr/>
          <p:nvPr/>
        </p:nvSpPr>
        <p:spPr>
          <a:xfrm>
            <a:off x="548640" y="4754880"/>
            <a:ext cx="11109960" cy="1554480"/>
          </a:xfrm>
          <a:prstGeom prst="round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46320"/>
            <a:ext cx="3657600" cy="365760"/>
          </a:xfrm>
          <a:prstGeom prst="rect">
            <a:avLst/>
          </a:prstGeom>
          <a:noFill/>
        </p:spPr>
        <p:txBody>
          <a:bodyPr wrap="square" anchor="t" lIns="45720" rIns="45720" tIns="27432" bIns="27432">
            <a:spAutoFit/>
          </a:bodyPr>
          <a:lstStyle/>
          <a:p>
            <a:pPr algn="l"/>
            <a:r>
              <a:rPr sz="1300" b="1" i="0">
                <a:solidFill>
                  <a:srgbClr val="22C55E"/>
                </a:solidFill>
                <a:latin typeface="Calibri"/>
              </a:rPr>
              <a:t>Questions for the room</a:t>
            </a:r>
          </a:p>
        </p:txBody>
      </p:sp>
      <p:sp>
        <p:nvSpPr>
          <p:cNvPr id="20" name="TextBox 19"/>
          <p:cNvSpPr txBox="1"/>
          <p:nvPr/>
        </p:nvSpPr>
        <p:spPr>
          <a:xfrm>
            <a:off x="777240" y="5166360"/>
            <a:ext cx="5394960" cy="1188720"/>
          </a:xfrm>
          <a:prstGeom prst="rect">
            <a:avLst/>
          </a:prstGeom>
          <a:noFill/>
        </p:spPr>
        <p:txBody>
          <a:bodyPr wrap="square" lIns="45720" rIns="45720">
            <a:spAutoFit/>
          </a:bodyPr>
          <a:lstStyle/>
          <a:p>
            <a:pPr>
              <a:spcAft>
                <a:spcPts val="400"/>
              </a:spcAft>
            </a:pPr>
            <a:r>
              <a:rPr sz="1200">
                <a:solidFill>
                  <a:srgbClr val="22C55E"/>
                </a:solidFill>
              </a:rPr>
              <a:t>▪  </a:t>
            </a:r>
            <a:r>
              <a:rPr sz="1200">
                <a:solidFill>
                  <a:srgbClr val="D9DDE5"/>
                </a:solidFill>
                <a:latin typeface="Calibri"/>
              </a:rPr>
              <a:t>CIO: of the Discover integration workload, how much is well-specified migration and upgrade work vs. new design?</a:t>
            </a:r>
          </a:p>
          <a:p>
            <a:pPr>
              <a:spcAft>
                <a:spcPts val="400"/>
              </a:spcAft>
            </a:pPr>
            <a:r>
              <a:rPr sz="1200">
                <a:solidFill>
                  <a:srgbClr val="22C55E"/>
                </a:solidFill>
              </a:rPr>
              <a:t>▪  </a:t>
            </a:r>
            <a:r>
              <a:rPr sz="1200">
                <a:solidFill>
                  <a:srgbClr val="D9DDE5"/>
                </a:solidFill>
                <a:latin typeface="Calibri"/>
              </a:rPr>
              <a:t>CIO / Tech lead: what is the largest block of engineering time today that is not on a business roadmap?</a:t>
            </a:r>
          </a:p>
        </p:txBody>
      </p:sp>
      <p:sp>
        <p:nvSpPr>
          <p:cNvPr id="21" name="TextBox 20"/>
          <p:cNvSpPr txBox="1"/>
          <p:nvPr/>
        </p:nvSpPr>
        <p:spPr>
          <a:xfrm>
            <a:off x="6309360" y="5166360"/>
            <a:ext cx="5212080" cy="1188720"/>
          </a:xfrm>
          <a:prstGeom prst="rect">
            <a:avLst/>
          </a:prstGeom>
          <a:noFill/>
        </p:spPr>
        <p:txBody>
          <a:bodyPr wrap="square" lIns="45720" rIns="45720">
            <a:spAutoFit/>
          </a:bodyPr>
          <a:lstStyle/>
          <a:p>
            <a:pPr>
              <a:spcAft>
                <a:spcPts val="400"/>
              </a:spcAft>
            </a:pPr>
            <a:r>
              <a:rPr sz="1200">
                <a:solidFill>
                  <a:srgbClr val="22C55E"/>
                </a:solidFill>
              </a:rPr>
              <a:t>▪  </a:t>
            </a:r>
            <a:r>
              <a:rPr sz="1200">
                <a:solidFill>
                  <a:srgbClr val="D9DDE5"/>
                </a:solidFill>
                <a:latin typeface="Calibri"/>
              </a:rPr>
              <a:t>CISO / Tech Risk: what did GitHub Copilot have to prove before it was approved here? What would an autonomous agent need to prove beyond that?</a:t>
            </a:r>
          </a:p>
          <a:p>
            <a:pPr>
              <a:spcAft>
                <a:spcPts val="400"/>
              </a:spcAft>
            </a:pPr>
            <a:r>
              <a:rPr sz="1200">
                <a:solidFill>
                  <a:srgbClr val="22C55E"/>
                </a:solidFill>
              </a:rPr>
              <a:t>▪  </a:t>
            </a:r>
            <a:r>
              <a:rPr sz="1200">
                <a:solidFill>
                  <a:srgbClr val="D9DDE5"/>
                </a:solidFill>
                <a:latin typeface="Calibri"/>
              </a:rPr>
              <a:t>Business: which card or customer initiative slipped in the last year because technology capacity was the constraint?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VALUE FRAMING  |  FROM BUSINESS OBJECTIVE TO ENGINEERING OUTCOME</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Where Devin moves Capital One's initiatives</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ectangle 5"/>
          <p:cNvSpPr/>
          <p:nvPr/>
        </p:nvSpPr>
        <p:spPr>
          <a:xfrm>
            <a:off x="548640" y="1691640"/>
            <a:ext cx="11109960" cy="457200"/>
          </a:xfrm>
          <a:prstGeom prst="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2651760" cy="457200"/>
          </a:xfrm>
          <a:prstGeom prst="rect">
            <a:avLst/>
          </a:prstGeom>
          <a:noFill/>
        </p:spPr>
        <p:txBody>
          <a:bodyPr wrap="square" anchor="ctr" lIns="45720" rIns="45720" tIns="27432" bIns="27432">
            <a:spAutoFit/>
          </a:bodyPr>
          <a:lstStyle/>
          <a:p>
            <a:pPr algn="l"/>
            <a:r>
              <a:rPr sz="1300" b="1" i="0">
                <a:solidFill>
                  <a:srgbClr val="FFFFFF"/>
                </a:solidFill>
                <a:latin typeface="Calibri"/>
              </a:rPr>
              <a:t>Capital One initiative</a:t>
            </a:r>
          </a:p>
        </p:txBody>
      </p:sp>
      <p:sp>
        <p:nvSpPr>
          <p:cNvPr id="8" name="TextBox 7"/>
          <p:cNvSpPr txBox="1"/>
          <p:nvPr/>
        </p:nvSpPr>
        <p:spPr>
          <a:xfrm>
            <a:off x="3337560" y="1691640"/>
            <a:ext cx="3017520" cy="457200"/>
          </a:xfrm>
          <a:prstGeom prst="rect">
            <a:avLst/>
          </a:prstGeom>
          <a:noFill/>
        </p:spPr>
        <p:txBody>
          <a:bodyPr wrap="square" anchor="ctr" lIns="45720" rIns="45720" tIns="27432" bIns="27432">
            <a:spAutoFit/>
          </a:bodyPr>
          <a:lstStyle/>
          <a:p>
            <a:pPr algn="l"/>
            <a:r>
              <a:rPr sz="1300" b="1" i="0">
                <a:solidFill>
                  <a:srgbClr val="FFFFFF"/>
                </a:solidFill>
                <a:latin typeface="Calibri"/>
              </a:rPr>
              <a:t>Engineering work it creates</a:t>
            </a:r>
          </a:p>
        </p:txBody>
      </p:sp>
      <p:sp>
        <p:nvSpPr>
          <p:cNvPr id="9" name="TextBox 8"/>
          <p:cNvSpPr txBox="1"/>
          <p:nvPr/>
        </p:nvSpPr>
        <p:spPr>
          <a:xfrm>
            <a:off x="6400800" y="1691640"/>
            <a:ext cx="3017520" cy="457200"/>
          </a:xfrm>
          <a:prstGeom prst="rect">
            <a:avLst/>
          </a:prstGeom>
          <a:noFill/>
        </p:spPr>
        <p:txBody>
          <a:bodyPr wrap="square" anchor="ctr" lIns="45720" rIns="45720" tIns="27432" bIns="27432">
            <a:spAutoFit/>
          </a:bodyPr>
          <a:lstStyle/>
          <a:p>
            <a:pPr algn="l"/>
            <a:r>
              <a:rPr sz="1300" b="1" i="0">
                <a:solidFill>
                  <a:srgbClr val="FFFFFF"/>
                </a:solidFill>
                <a:latin typeface="Calibri"/>
              </a:rPr>
              <a:t>What Devin does</a:t>
            </a:r>
          </a:p>
        </p:txBody>
      </p:sp>
      <p:sp>
        <p:nvSpPr>
          <p:cNvPr id="10" name="TextBox 9"/>
          <p:cNvSpPr txBox="1"/>
          <p:nvPr/>
        </p:nvSpPr>
        <p:spPr>
          <a:xfrm>
            <a:off x="9464040" y="1691640"/>
            <a:ext cx="2286000" cy="457200"/>
          </a:xfrm>
          <a:prstGeom prst="rect">
            <a:avLst/>
          </a:prstGeom>
          <a:noFill/>
        </p:spPr>
        <p:txBody>
          <a:bodyPr wrap="square" anchor="ctr" lIns="45720" rIns="45720" tIns="27432" bIns="27432">
            <a:spAutoFit/>
          </a:bodyPr>
          <a:lstStyle/>
          <a:p>
            <a:pPr algn="l"/>
            <a:r>
              <a:rPr sz="1300" b="1" i="0">
                <a:solidFill>
                  <a:srgbClr val="FFFFFF"/>
                </a:solidFill>
                <a:latin typeface="Calibri"/>
              </a:rPr>
              <a:t>Business outcome</a:t>
            </a:r>
          </a:p>
        </p:txBody>
      </p:sp>
      <p:sp>
        <p:nvSpPr>
          <p:cNvPr id="11" name="Rectangle 10"/>
          <p:cNvSpPr/>
          <p:nvPr/>
        </p:nvSpPr>
        <p:spPr>
          <a:xfrm>
            <a:off x="548640" y="2148840"/>
            <a:ext cx="11109960" cy="82296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48840"/>
            <a:ext cx="2514600" cy="822960"/>
          </a:xfrm>
          <a:prstGeom prst="rect">
            <a:avLst/>
          </a:prstGeom>
          <a:noFill/>
        </p:spPr>
        <p:txBody>
          <a:bodyPr wrap="square" anchor="ctr" lIns="45720" rIns="45720" tIns="27432" bIns="27432">
            <a:spAutoFit/>
          </a:bodyPr>
          <a:lstStyle/>
          <a:p>
            <a:pPr algn="l"/>
            <a:r>
              <a:rPr sz="1050" b="1" i="0">
                <a:solidFill>
                  <a:srgbClr val="141B2D"/>
                </a:solidFill>
                <a:latin typeface="Calibri"/>
              </a:rPr>
              <a:t>Discover integration: one platform, one cloud</a:t>
            </a:r>
          </a:p>
        </p:txBody>
      </p:sp>
      <p:sp>
        <p:nvSpPr>
          <p:cNvPr id="13" name="TextBox 12"/>
          <p:cNvSpPr txBox="1"/>
          <p:nvPr/>
        </p:nvSpPr>
        <p:spPr>
          <a:xfrm>
            <a:off x="3337560" y="2148840"/>
            <a:ext cx="2880360" cy="822960"/>
          </a:xfrm>
          <a:prstGeom prst="rect">
            <a:avLst/>
          </a:prstGeom>
          <a:noFill/>
        </p:spPr>
        <p:txBody>
          <a:bodyPr wrap="square" anchor="ctr" lIns="45720" rIns="45720" tIns="27432" bIns="27432">
            <a:spAutoFit/>
          </a:bodyPr>
          <a:lstStyle/>
          <a:p>
            <a:pPr algn="l"/>
            <a:r>
              <a:rPr sz="1050" b="0" i="0">
                <a:solidFill>
                  <a:srgbClr val="141B2D"/>
                </a:solidFill>
                <a:latin typeface="Calibri"/>
              </a:rPr>
              <a:t>Thousands of services to migrate, re-platform, re-test; duplicated systems to retire</a:t>
            </a:r>
          </a:p>
        </p:txBody>
      </p:sp>
      <p:sp>
        <p:nvSpPr>
          <p:cNvPr id="14" name="TextBox 13"/>
          <p:cNvSpPr txBox="1"/>
          <p:nvPr/>
        </p:nvSpPr>
        <p:spPr>
          <a:xfrm>
            <a:off x="6400800" y="2148840"/>
            <a:ext cx="2880360" cy="822960"/>
          </a:xfrm>
          <a:prstGeom prst="rect">
            <a:avLst/>
          </a:prstGeom>
          <a:noFill/>
        </p:spPr>
        <p:txBody>
          <a:bodyPr wrap="square" anchor="ctr" lIns="45720" rIns="45720" tIns="27432" bIns="27432">
            <a:spAutoFit/>
          </a:bodyPr>
          <a:lstStyle/>
          <a:p>
            <a:pPr algn="l"/>
            <a:r>
              <a:rPr sz="1050" b="0" i="0">
                <a:solidFill>
                  <a:srgbClr val="3B82F6"/>
                </a:solidFill>
                <a:latin typeface="Calibri"/>
              </a:rPr>
              <a:t>Sessions at scale: parallel migration PRs against a playbook, each tested and reviewed (Nubank did this 12x faster)</a:t>
            </a:r>
          </a:p>
        </p:txBody>
      </p:sp>
      <p:sp>
        <p:nvSpPr>
          <p:cNvPr id="15" name="TextBox 14"/>
          <p:cNvSpPr txBox="1"/>
          <p:nvPr/>
        </p:nvSpPr>
        <p:spPr>
          <a:xfrm>
            <a:off x="9464040" y="2148840"/>
            <a:ext cx="2148840" cy="822960"/>
          </a:xfrm>
          <a:prstGeom prst="rect">
            <a:avLst/>
          </a:prstGeom>
          <a:noFill/>
        </p:spPr>
        <p:txBody>
          <a:bodyPr wrap="square" anchor="ctr" lIns="45720" rIns="45720" tIns="27432" bIns="27432">
            <a:spAutoFit/>
          </a:bodyPr>
          <a:lstStyle/>
          <a:p>
            <a:pPr algn="l"/>
            <a:r>
              <a:rPr sz="1050" b="0" i="0">
                <a:solidFill>
                  <a:srgbClr val="141B2D"/>
                </a:solidFill>
                <a:latin typeface="Calibri"/>
              </a:rPr>
              <a:t>Integration synergies realised sooner; engineers freed for customer work</a:t>
            </a:r>
          </a:p>
        </p:txBody>
      </p:sp>
      <p:sp>
        <p:nvSpPr>
          <p:cNvPr id="16" name="TextBox 15"/>
          <p:cNvSpPr txBox="1"/>
          <p:nvPr/>
        </p:nvSpPr>
        <p:spPr>
          <a:xfrm>
            <a:off x="640080" y="2971800"/>
            <a:ext cx="2514600" cy="822960"/>
          </a:xfrm>
          <a:prstGeom prst="rect">
            <a:avLst/>
          </a:prstGeom>
          <a:noFill/>
        </p:spPr>
        <p:txBody>
          <a:bodyPr wrap="square" anchor="ctr" lIns="45720" rIns="45720" tIns="27432" bIns="27432">
            <a:spAutoFit/>
          </a:bodyPr>
          <a:lstStyle/>
          <a:p>
            <a:pPr algn="l"/>
            <a:r>
              <a:rPr sz="1050" b="1" i="0">
                <a:solidFill>
                  <a:srgbClr val="141B2D"/>
                </a:solidFill>
                <a:latin typeface="Calibri"/>
              </a:rPr>
              <a:t>Data governance and PII control across a bigger bank</a:t>
            </a:r>
          </a:p>
        </p:txBody>
      </p:sp>
      <p:sp>
        <p:nvSpPr>
          <p:cNvPr id="17" name="TextBox 16"/>
          <p:cNvSpPr txBox="1"/>
          <p:nvPr/>
        </p:nvSpPr>
        <p:spPr>
          <a:xfrm>
            <a:off x="3337560" y="2971800"/>
            <a:ext cx="2880360" cy="822960"/>
          </a:xfrm>
          <a:prstGeom prst="rect">
            <a:avLst/>
          </a:prstGeom>
          <a:noFill/>
        </p:spPr>
        <p:txBody>
          <a:bodyPr wrap="square" anchor="ctr" lIns="45720" rIns="45720" tIns="27432" bIns="27432">
            <a:spAutoFit/>
          </a:bodyPr>
          <a:lstStyle/>
          <a:p>
            <a:pPr algn="l"/>
            <a:r>
              <a:rPr sz="1050" b="0" i="0">
                <a:solidFill>
                  <a:srgbClr val="141B2D"/>
                </a:solidFill>
                <a:latin typeface="Calibri"/>
              </a:rPr>
              <a:t>Sensitive-data detection, lineage, and compliance tooling that must keep pace with new data</a:t>
            </a:r>
          </a:p>
        </p:txBody>
      </p:sp>
      <p:sp>
        <p:nvSpPr>
          <p:cNvPr id="18" name="TextBox 17"/>
          <p:cNvSpPr txBox="1"/>
          <p:nvPr/>
        </p:nvSpPr>
        <p:spPr>
          <a:xfrm>
            <a:off x="6400800" y="2971800"/>
            <a:ext cx="2880360" cy="822960"/>
          </a:xfrm>
          <a:prstGeom prst="rect">
            <a:avLst/>
          </a:prstGeom>
          <a:noFill/>
        </p:spPr>
        <p:txBody>
          <a:bodyPr wrap="square" anchor="ctr" lIns="45720" rIns="45720" tIns="27432" bIns="27432">
            <a:spAutoFit/>
          </a:bodyPr>
          <a:lstStyle/>
          <a:p>
            <a:pPr algn="l"/>
            <a:r>
              <a:rPr sz="1050" b="0" i="0">
                <a:solidFill>
                  <a:srgbClr val="3B82F6"/>
                </a:solidFill>
                <a:latin typeface="Calibri"/>
              </a:rPr>
              <a:t>Sessions + Review on data tooling (e.g. DataProfiler): new detectors, tests, and a second reviewer on every PR</a:t>
            </a:r>
          </a:p>
        </p:txBody>
      </p:sp>
      <p:sp>
        <p:nvSpPr>
          <p:cNvPr id="19" name="TextBox 18"/>
          <p:cNvSpPr txBox="1"/>
          <p:nvPr/>
        </p:nvSpPr>
        <p:spPr>
          <a:xfrm>
            <a:off x="9464040" y="2971800"/>
            <a:ext cx="2148840" cy="822960"/>
          </a:xfrm>
          <a:prstGeom prst="rect">
            <a:avLst/>
          </a:prstGeom>
          <a:noFill/>
        </p:spPr>
        <p:txBody>
          <a:bodyPr wrap="square" anchor="ctr" lIns="45720" rIns="45720" tIns="27432" bIns="27432">
            <a:spAutoFit/>
          </a:bodyPr>
          <a:lstStyle/>
          <a:p>
            <a:pPr algn="l"/>
            <a:r>
              <a:rPr sz="1050" b="0" i="0">
                <a:solidFill>
                  <a:srgbClr val="141B2D"/>
                </a:solidFill>
                <a:latin typeface="Calibri"/>
              </a:rPr>
              <a:t>Fewer data-handling findings; audit evidence generated as code ships</a:t>
            </a:r>
          </a:p>
        </p:txBody>
      </p:sp>
      <p:sp>
        <p:nvSpPr>
          <p:cNvPr id="20" name="Rectangle 19"/>
          <p:cNvSpPr/>
          <p:nvPr/>
        </p:nvSpPr>
        <p:spPr>
          <a:xfrm>
            <a:off x="548640" y="3794760"/>
            <a:ext cx="11109960" cy="82296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794760"/>
            <a:ext cx="2514600" cy="822960"/>
          </a:xfrm>
          <a:prstGeom prst="rect">
            <a:avLst/>
          </a:prstGeom>
          <a:noFill/>
        </p:spPr>
        <p:txBody>
          <a:bodyPr wrap="square" anchor="ctr" lIns="45720" rIns="45720" tIns="27432" bIns="27432">
            <a:spAutoFit/>
          </a:bodyPr>
          <a:lstStyle/>
          <a:p>
            <a:pPr algn="l"/>
            <a:r>
              <a:rPr sz="1050" b="1" i="0">
                <a:solidFill>
                  <a:srgbClr val="141B2D"/>
                </a:solidFill>
                <a:latin typeface="Calibri"/>
              </a:rPr>
              <a:t>Security posture and vulnerability debt</a:t>
            </a:r>
          </a:p>
        </p:txBody>
      </p:sp>
      <p:sp>
        <p:nvSpPr>
          <p:cNvPr id="22" name="TextBox 21"/>
          <p:cNvSpPr txBox="1"/>
          <p:nvPr/>
        </p:nvSpPr>
        <p:spPr>
          <a:xfrm>
            <a:off x="3337560" y="3794760"/>
            <a:ext cx="2880360" cy="822960"/>
          </a:xfrm>
          <a:prstGeom prst="rect">
            <a:avLst/>
          </a:prstGeom>
          <a:noFill/>
        </p:spPr>
        <p:txBody>
          <a:bodyPr wrap="square" anchor="ctr" lIns="45720" rIns="45720" tIns="27432" bIns="27432">
            <a:spAutoFit/>
          </a:bodyPr>
          <a:lstStyle/>
          <a:p>
            <a:pPr algn="l"/>
            <a:r>
              <a:rPr sz="1050" b="0" i="0">
                <a:solidFill>
                  <a:srgbClr val="141B2D"/>
                </a:solidFill>
                <a:latin typeface="Calibri"/>
              </a:rPr>
              <a:t>CVE patches, library upgrades and deprecations across thousands of Python and Java repos</a:t>
            </a:r>
          </a:p>
        </p:txBody>
      </p:sp>
      <p:sp>
        <p:nvSpPr>
          <p:cNvPr id="23" name="TextBox 22"/>
          <p:cNvSpPr txBox="1"/>
          <p:nvPr/>
        </p:nvSpPr>
        <p:spPr>
          <a:xfrm>
            <a:off x="6400800" y="3794760"/>
            <a:ext cx="2880360" cy="822960"/>
          </a:xfrm>
          <a:prstGeom prst="rect">
            <a:avLst/>
          </a:prstGeom>
          <a:noFill/>
        </p:spPr>
        <p:txBody>
          <a:bodyPr wrap="square" anchor="ctr" lIns="45720" rIns="45720" tIns="27432" bIns="27432">
            <a:spAutoFit/>
          </a:bodyPr>
          <a:lstStyle/>
          <a:p>
            <a:pPr algn="l"/>
            <a:r>
              <a:rPr sz="1050" b="0" i="0">
                <a:solidFill>
                  <a:srgbClr val="3B82F6"/>
                </a:solidFill>
                <a:latin typeface="Calibri"/>
              </a:rPr>
              <a:t>Automations: scheduled dependency and CVE sweeps that open PRs and report to Slack</a:t>
            </a:r>
          </a:p>
        </p:txBody>
      </p:sp>
      <p:sp>
        <p:nvSpPr>
          <p:cNvPr id="24" name="TextBox 23"/>
          <p:cNvSpPr txBox="1"/>
          <p:nvPr/>
        </p:nvSpPr>
        <p:spPr>
          <a:xfrm>
            <a:off x="9464040" y="3794760"/>
            <a:ext cx="2148840" cy="822960"/>
          </a:xfrm>
          <a:prstGeom prst="rect">
            <a:avLst/>
          </a:prstGeom>
          <a:noFill/>
        </p:spPr>
        <p:txBody>
          <a:bodyPr wrap="square" anchor="ctr" lIns="45720" rIns="45720" tIns="27432" bIns="27432">
            <a:spAutoFit/>
          </a:bodyPr>
          <a:lstStyle/>
          <a:p>
            <a:pPr algn="l"/>
            <a:r>
              <a:rPr sz="1050" b="0" i="0">
                <a:solidFill>
                  <a:srgbClr val="141B2D"/>
                </a:solidFill>
                <a:latin typeface="Calibri"/>
              </a:rPr>
              <a:t>Mean time to patch drops from weeks to days, bank-wide</a:t>
            </a:r>
          </a:p>
        </p:txBody>
      </p:sp>
      <p:sp>
        <p:nvSpPr>
          <p:cNvPr id="25" name="TextBox 24"/>
          <p:cNvSpPr txBox="1"/>
          <p:nvPr/>
        </p:nvSpPr>
        <p:spPr>
          <a:xfrm>
            <a:off x="640080" y="4617720"/>
            <a:ext cx="2514600" cy="822960"/>
          </a:xfrm>
          <a:prstGeom prst="rect">
            <a:avLst/>
          </a:prstGeom>
          <a:noFill/>
        </p:spPr>
        <p:txBody>
          <a:bodyPr wrap="square" anchor="ctr" lIns="45720" rIns="45720" tIns="27432" bIns="27432">
            <a:spAutoFit/>
          </a:bodyPr>
          <a:lstStyle/>
          <a:p>
            <a:pPr algn="l"/>
            <a:r>
              <a:rPr sz="1050" b="1" i="0">
                <a:solidFill>
                  <a:srgbClr val="141B2D"/>
                </a:solidFill>
                <a:latin typeface="Calibri"/>
              </a:rPr>
              <a:t>Onboard and align two engineering cultures</a:t>
            </a:r>
          </a:p>
        </p:txBody>
      </p:sp>
      <p:sp>
        <p:nvSpPr>
          <p:cNvPr id="26" name="TextBox 25"/>
          <p:cNvSpPr txBox="1"/>
          <p:nvPr/>
        </p:nvSpPr>
        <p:spPr>
          <a:xfrm>
            <a:off x="3337560" y="4617720"/>
            <a:ext cx="2880360" cy="822960"/>
          </a:xfrm>
          <a:prstGeom prst="rect">
            <a:avLst/>
          </a:prstGeom>
          <a:noFill/>
        </p:spPr>
        <p:txBody>
          <a:bodyPr wrap="square" anchor="ctr" lIns="45720" rIns="45720" tIns="27432" bIns="27432">
            <a:spAutoFit/>
          </a:bodyPr>
          <a:lstStyle/>
          <a:p>
            <a:pPr algn="l"/>
            <a:r>
              <a:rPr sz="1050" b="0" i="0">
                <a:solidFill>
                  <a:srgbClr val="141B2D"/>
                </a:solidFill>
                <a:latin typeface="Calibri"/>
              </a:rPr>
              <a:t>Undocumented systems; senior engineers spend hours answering the same questions</a:t>
            </a:r>
          </a:p>
        </p:txBody>
      </p:sp>
      <p:sp>
        <p:nvSpPr>
          <p:cNvPr id="27" name="TextBox 26"/>
          <p:cNvSpPr txBox="1"/>
          <p:nvPr/>
        </p:nvSpPr>
        <p:spPr>
          <a:xfrm>
            <a:off x="6400800" y="4617720"/>
            <a:ext cx="2880360" cy="822960"/>
          </a:xfrm>
          <a:prstGeom prst="rect">
            <a:avLst/>
          </a:prstGeom>
          <a:noFill/>
        </p:spPr>
        <p:txBody>
          <a:bodyPr wrap="square" anchor="ctr" lIns="45720" rIns="45720" tIns="27432" bIns="27432">
            <a:spAutoFit/>
          </a:bodyPr>
          <a:lstStyle/>
          <a:p>
            <a:pPr algn="l"/>
            <a:r>
              <a:rPr sz="1050" b="0" i="0">
                <a:solidFill>
                  <a:srgbClr val="3B82F6"/>
                </a:solidFill>
                <a:latin typeface="Calibri"/>
              </a:rPr>
              <a:t>Wiki + Ask Devin: always-current architecture docs and Q&amp;A across both estates</a:t>
            </a:r>
          </a:p>
        </p:txBody>
      </p:sp>
      <p:sp>
        <p:nvSpPr>
          <p:cNvPr id="28" name="TextBox 27"/>
          <p:cNvSpPr txBox="1"/>
          <p:nvPr/>
        </p:nvSpPr>
        <p:spPr>
          <a:xfrm>
            <a:off x="9464040" y="4617720"/>
            <a:ext cx="2148840" cy="822960"/>
          </a:xfrm>
          <a:prstGeom prst="rect">
            <a:avLst/>
          </a:prstGeom>
          <a:noFill/>
        </p:spPr>
        <p:txBody>
          <a:bodyPr wrap="square" anchor="ctr" lIns="45720" rIns="45720" tIns="27432" bIns="27432">
            <a:spAutoFit/>
          </a:bodyPr>
          <a:lstStyle/>
          <a:p>
            <a:pPr algn="l"/>
            <a:r>
              <a:rPr sz="1050" b="0" i="0">
                <a:solidFill>
                  <a:srgbClr val="141B2D"/>
                </a:solidFill>
                <a:latin typeface="Calibri"/>
              </a:rPr>
              <a:t>Faster onboarding, fewer interrupts, knowledge retained through attrition</a:t>
            </a:r>
          </a:p>
        </p:txBody>
      </p:sp>
      <p:sp>
        <p:nvSpPr>
          <p:cNvPr id="29" name="Rectangle 28"/>
          <p:cNvSpPr/>
          <p:nvPr/>
        </p:nvSpPr>
        <p:spPr>
          <a:xfrm>
            <a:off x="548640" y="5440680"/>
            <a:ext cx="11109960" cy="82296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5440680"/>
            <a:ext cx="2514600" cy="822960"/>
          </a:xfrm>
          <a:prstGeom prst="rect">
            <a:avLst/>
          </a:prstGeom>
          <a:noFill/>
        </p:spPr>
        <p:txBody>
          <a:bodyPr wrap="square" anchor="ctr" lIns="45720" rIns="45720" tIns="27432" bIns="27432">
            <a:spAutoFit/>
          </a:bodyPr>
          <a:lstStyle/>
          <a:p>
            <a:pPr algn="l"/>
            <a:r>
              <a:rPr sz="1050" b="1" i="0">
                <a:solidFill>
                  <a:srgbClr val="141B2D"/>
                </a:solidFill>
                <a:latin typeface="Calibri"/>
              </a:rPr>
              <a:t>AI at scale under bank-grade governance</a:t>
            </a:r>
          </a:p>
        </p:txBody>
      </p:sp>
      <p:sp>
        <p:nvSpPr>
          <p:cNvPr id="31" name="TextBox 30"/>
          <p:cNvSpPr txBox="1"/>
          <p:nvPr/>
        </p:nvSpPr>
        <p:spPr>
          <a:xfrm>
            <a:off x="3337560" y="5440680"/>
            <a:ext cx="2880360" cy="822960"/>
          </a:xfrm>
          <a:prstGeom prst="rect">
            <a:avLst/>
          </a:prstGeom>
          <a:noFill/>
        </p:spPr>
        <p:txBody>
          <a:bodyPr wrap="square" anchor="ctr" lIns="45720" rIns="45720" tIns="27432" bIns="27432">
            <a:spAutoFit/>
          </a:bodyPr>
          <a:lstStyle/>
          <a:p>
            <a:pPr algn="l"/>
            <a:r>
              <a:rPr sz="1050" b="0" i="0">
                <a:solidFill>
                  <a:srgbClr val="141B2D"/>
                </a:solidFill>
                <a:latin typeface="Calibri"/>
              </a:rPr>
              <a:t>Every automated actor needs identity, scoped access, auditability, and data guarantees</a:t>
            </a:r>
          </a:p>
        </p:txBody>
      </p:sp>
      <p:sp>
        <p:nvSpPr>
          <p:cNvPr id="32" name="TextBox 31"/>
          <p:cNvSpPr txBox="1"/>
          <p:nvPr/>
        </p:nvSpPr>
        <p:spPr>
          <a:xfrm>
            <a:off x="6400800" y="5440680"/>
            <a:ext cx="2880360" cy="822960"/>
          </a:xfrm>
          <a:prstGeom prst="rect">
            <a:avLst/>
          </a:prstGeom>
          <a:noFill/>
        </p:spPr>
        <p:txBody>
          <a:bodyPr wrap="square" anchor="ctr" lIns="45720" rIns="45720" tIns="27432" bIns="27432">
            <a:spAutoFit/>
          </a:bodyPr>
          <a:lstStyle/>
          <a:p>
            <a:pPr algn="l"/>
            <a:r>
              <a:rPr sz="1050" b="0" i="0">
                <a:solidFill>
                  <a:srgbClr val="3B82F6"/>
                </a:solidFill>
                <a:latin typeface="Calibri"/>
              </a:rPr>
              <a:t>Security: VPC deployment, SSO/SCIM, scoped GitHub App, secrets vault, immutable session logs, no training on code</a:t>
            </a:r>
          </a:p>
        </p:txBody>
      </p:sp>
      <p:sp>
        <p:nvSpPr>
          <p:cNvPr id="33" name="TextBox 32"/>
          <p:cNvSpPr txBox="1"/>
          <p:nvPr/>
        </p:nvSpPr>
        <p:spPr>
          <a:xfrm>
            <a:off x="9464040" y="5440680"/>
            <a:ext cx="2148840" cy="822960"/>
          </a:xfrm>
          <a:prstGeom prst="rect">
            <a:avLst/>
          </a:prstGeom>
          <a:noFill/>
        </p:spPr>
        <p:txBody>
          <a:bodyPr wrap="square" anchor="ctr" lIns="45720" rIns="45720" tIns="27432" bIns="27432">
            <a:spAutoFit/>
          </a:bodyPr>
          <a:lstStyle/>
          <a:p>
            <a:pPr algn="l"/>
            <a:r>
              <a:rPr sz="1050" b="0" i="0">
                <a:solidFill>
                  <a:srgbClr val="141B2D"/>
                </a:solidFill>
                <a:latin typeface="Calibri"/>
              </a:rPr>
              <a:t>AI adoption Technology Risk can sign off on; peer precedent at Goldman Sachs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6"/>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VALUE FRAMING  |  WHY THIS CODEBASE TELLS THE STORY</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FFFFFF"/>
                </a:solidFill>
                <a:latin typeface="Calibri"/>
              </a:rPr>
              <a:t>Demo repo: capitalone/DataProfiler</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TextBox 5"/>
          <p:cNvSpPr txBox="1"/>
          <p:nvPr/>
        </p:nvSpPr>
        <p:spPr>
          <a:xfrm>
            <a:off x="548640" y="1691640"/>
            <a:ext cx="5669280" cy="4114800"/>
          </a:xfrm>
          <a:prstGeom prst="rect">
            <a:avLst/>
          </a:prstGeom>
          <a:noFill/>
        </p:spPr>
        <p:txBody>
          <a:bodyPr wrap="square" anchor="t" lIns="45720" rIns="45720" tIns="27432" bIns="27432">
            <a:spAutoFit/>
          </a:bodyPr>
          <a:lstStyle/>
          <a:p>
            <a:pPr algn="l"/>
            <a:r>
              <a:rPr sz="1400" b="0" i="0">
                <a:solidFill>
                  <a:srgbClr val="D9DDE5"/>
                </a:solidFill>
                <a:latin typeface="Calibri"/>
              </a:rPr>
              <a:t>DataProfiler is Capital One's open-source Python library for profiling datasets and detecting sensitive data (PII / NPI) with a pre-trained ML model. It is the kind of tooling a bank runs on every new data source.</a:t>
            </a:r>
          </a:p>
          <a:p>
            <a:pPr algn="l"/>
            <a:r>
              <a:rPr sz="1400" b="0" i="0">
                <a:solidFill>
                  <a:srgbClr val="D9DDE5"/>
                </a:solidFill>
                <a:latin typeface="Calibri"/>
              </a:rPr>
              <a:t/>
            </a:r>
          </a:p>
          <a:p>
            <a:pPr algn="l"/>
            <a:r>
              <a:rPr sz="1400" b="0" i="0">
                <a:solidFill>
                  <a:srgbClr val="D9DDE5"/>
                </a:solidFill>
                <a:latin typeface="Calibri"/>
              </a:rPr>
              <a:t>It is a real, production-grade codebase: ~60k lines of Python, hundreds of tests, GitHub Actions CI across four Python versions, pre-commit linting, and commits this month. It is not a toy.</a:t>
            </a:r>
          </a:p>
          <a:p>
            <a:pPr algn="l"/>
            <a:r>
              <a:rPr sz="1400" b="0" i="0">
                <a:solidFill>
                  <a:srgbClr val="D9DDE5"/>
                </a:solidFill>
                <a:latin typeface="Calibri"/>
              </a:rPr>
              <a:t/>
            </a:r>
          </a:p>
          <a:p>
            <a:pPr algn="l"/>
            <a:r>
              <a:rPr sz="1400" b="0" i="0">
                <a:solidFill>
                  <a:srgbClr val="D9DDE5"/>
                </a:solidFill>
                <a:latin typeface="Calibri"/>
              </a:rPr>
              <a:t>And it sits at the intersection of the CIO and CISO agendas: data governance, privacy, and compliance evidence. Every improvement here is a control getting stronger.</a:t>
            </a:r>
          </a:p>
        </p:txBody>
      </p:sp>
      <p:sp>
        <p:nvSpPr>
          <p:cNvPr id="7" name="TextBox 6"/>
          <p:cNvSpPr txBox="1"/>
          <p:nvPr/>
        </p:nvSpPr>
        <p:spPr>
          <a:xfrm>
            <a:off x="6583680" y="1828800"/>
            <a:ext cx="2468880" cy="731520"/>
          </a:xfrm>
          <a:prstGeom prst="rect">
            <a:avLst/>
          </a:prstGeom>
          <a:noFill/>
        </p:spPr>
        <p:txBody>
          <a:bodyPr wrap="square" anchor="t" lIns="45720" rIns="45720" tIns="27432" bIns="27432">
            <a:spAutoFit/>
          </a:bodyPr>
          <a:lstStyle/>
          <a:p>
            <a:pPr algn="ctr"/>
            <a:r>
              <a:rPr sz="3400" b="1" i="0">
                <a:solidFill>
                  <a:srgbClr val="D03027"/>
                </a:solidFill>
                <a:latin typeface="Calibri"/>
              </a:rPr>
              <a:t>~60k</a:t>
            </a:r>
          </a:p>
        </p:txBody>
      </p:sp>
      <p:sp>
        <p:nvSpPr>
          <p:cNvPr id="8" name="TextBox 7"/>
          <p:cNvSpPr txBox="1"/>
          <p:nvPr/>
        </p:nvSpPr>
        <p:spPr>
          <a:xfrm>
            <a:off x="6583680" y="260604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lines of Python, ML labeler included</a:t>
            </a:r>
          </a:p>
        </p:txBody>
      </p:sp>
      <p:sp>
        <p:nvSpPr>
          <p:cNvPr id="9" name="TextBox 8"/>
          <p:cNvSpPr txBox="1"/>
          <p:nvPr/>
        </p:nvSpPr>
        <p:spPr>
          <a:xfrm>
            <a:off x="9235440" y="1828800"/>
            <a:ext cx="2468880" cy="731520"/>
          </a:xfrm>
          <a:prstGeom prst="rect">
            <a:avLst/>
          </a:prstGeom>
          <a:noFill/>
        </p:spPr>
        <p:txBody>
          <a:bodyPr wrap="square" anchor="t" lIns="45720" rIns="45720" tIns="27432" bIns="27432">
            <a:spAutoFit/>
          </a:bodyPr>
          <a:lstStyle/>
          <a:p>
            <a:pPr algn="ctr"/>
            <a:r>
              <a:rPr sz="2600" b="1" i="0">
                <a:solidFill>
                  <a:srgbClr val="D03027"/>
                </a:solidFill>
                <a:latin typeface="Calibri"/>
              </a:rPr>
              <a:t>PII / NPI</a:t>
            </a:r>
          </a:p>
        </p:txBody>
      </p:sp>
      <p:sp>
        <p:nvSpPr>
          <p:cNvPr id="10" name="TextBox 9"/>
          <p:cNvSpPr txBox="1"/>
          <p:nvPr/>
        </p:nvSpPr>
        <p:spPr>
          <a:xfrm>
            <a:off x="9235440" y="260604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sensitive-data detection is its core job</a:t>
            </a:r>
          </a:p>
        </p:txBody>
      </p:sp>
      <p:sp>
        <p:nvSpPr>
          <p:cNvPr id="11" name="TextBox 10"/>
          <p:cNvSpPr txBox="1"/>
          <p:nvPr/>
        </p:nvSpPr>
        <p:spPr>
          <a:xfrm>
            <a:off x="6583680" y="3749040"/>
            <a:ext cx="2468880" cy="731520"/>
          </a:xfrm>
          <a:prstGeom prst="rect">
            <a:avLst/>
          </a:prstGeom>
          <a:noFill/>
        </p:spPr>
        <p:txBody>
          <a:bodyPr wrap="square" anchor="t" lIns="45720" rIns="45720" tIns="27432" bIns="27432">
            <a:spAutoFit/>
          </a:bodyPr>
          <a:lstStyle/>
          <a:p>
            <a:pPr algn="ctr"/>
            <a:r>
              <a:rPr sz="3400" b="1" i="0">
                <a:solidFill>
                  <a:srgbClr val="D03027"/>
                </a:solidFill>
                <a:latin typeface="Calibri"/>
              </a:rPr>
              <a:t>4</a:t>
            </a:r>
          </a:p>
        </p:txBody>
      </p:sp>
      <p:sp>
        <p:nvSpPr>
          <p:cNvPr id="12" name="TextBox 11"/>
          <p:cNvSpPr txBox="1"/>
          <p:nvPr/>
        </p:nvSpPr>
        <p:spPr>
          <a:xfrm>
            <a:off x="6583680" y="452628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Python versions in CI, pre-commit enforced</a:t>
            </a:r>
          </a:p>
        </p:txBody>
      </p:sp>
      <p:sp>
        <p:nvSpPr>
          <p:cNvPr id="13" name="TextBox 12"/>
          <p:cNvSpPr txBox="1"/>
          <p:nvPr/>
        </p:nvSpPr>
        <p:spPr>
          <a:xfrm>
            <a:off x="9235440" y="3749040"/>
            <a:ext cx="2468880" cy="731520"/>
          </a:xfrm>
          <a:prstGeom prst="rect">
            <a:avLst/>
          </a:prstGeom>
          <a:noFill/>
        </p:spPr>
        <p:txBody>
          <a:bodyPr wrap="square" anchor="t" lIns="45720" rIns="45720" tIns="27432" bIns="27432">
            <a:spAutoFit/>
          </a:bodyPr>
          <a:lstStyle/>
          <a:p>
            <a:pPr algn="ctr"/>
            <a:r>
              <a:rPr sz="3400" b="1" i="0">
                <a:solidFill>
                  <a:srgbClr val="D03027"/>
                </a:solidFill>
                <a:latin typeface="Calibri"/>
              </a:rPr>
              <a:t>Active</a:t>
            </a:r>
          </a:p>
        </p:txBody>
      </p:sp>
      <p:sp>
        <p:nvSpPr>
          <p:cNvPr id="14" name="TextBox 13"/>
          <p:cNvSpPr txBox="1"/>
          <p:nvPr/>
        </p:nvSpPr>
        <p:spPr>
          <a:xfrm>
            <a:off x="9235440" y="452628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maintained by Capital One engineers</a:t>
            </a:r>
          </a:p>
        </p:txBody>
      </p:sp>
      <p:sp>
        <p:nvSpPr>
          <p:cNvPr id="15" name="TextBox 14"/>
          <p:cNvSpPr txBox="1"/>
          <p:nvPr/>
        </p:nvSpPr>
        <p:spPr>
          <a:xfrm>
            <a:off x="548640" y="5806440"/>
            <a:ext cx="10972800" cy="457200"/>
          </a:xfrm>
          <a:prstGeom prst="rect">
            <a:avLst/>
          </a:prstGeom>
          <a:noFill/>
        </p:spPr>
        <p:txBody>
          <a:bodyPr wrap="square" anchor="t" lIns="45720" rIns="45720" tIns="27432" bIns="27432">
            <a:spAutoFit/>
          </a:bodyPr>
          <a:lstStyle/>
          <a:p>
            <a:pPr algn="l"/>
            <a:r>
              <a:rPr sz="1200" b="0" i="1">
                <a:solidFill>
                  <a:srgbClr val="6B7280"/>
                </a:solidFill>
                <a:latin typeface="Calibri"/>
              </a:rPr>
              <a:t>github.com/capitalone/DataProfiler  |  In the demo, Devin works on a fork with the same code, tests, and CI.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DEMO  |  FIVE DEVIN SURFACES, ONE STORYLINE</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Live demo: a day as a DataProfiler maintainer</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ounded Rectangle 5"/>
          <p:cNvSpPr/>
          <p:nvPr/>
        </p:nvSpPr>
        <p:spPr>
          <a:xfrm>
            <a:off x="54864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1828800" cy="502920"/>
          </a:xfrm>
          <a:prstGeom prst="rect">
            <a:avLst/>
          </a:prstGeom>
          <a:noFill/>
        </p:spPr>
        <p:txBody>
          <a:bodyPr wrap="square" anchor="ctr" lIns="45720" rIns="45720" tIns="27432" bIns="27432">
            <a:spAutoFit/>
          </a:bodyPr>
          <a:lstStyle/>
          <a:p>
            <a:pPr algn="l"/>
            <a:r>
              <a:rPr sz="1500" b="1" i="0">
                <a:solidFill>
                  <a:srgbClr val="FFFFFF"/>
                </a:solidFill>
                <a:latin typeface="Calibri"/>
              </a:rPr>
              <a:t>1  Wiki</a:t>
            </a:r>
          </a:p>
        </p:txBody>
      </p:sp>
      <p:sp>
        <p:nvSpPr>
          <p:cNvPr id="9" name="TextBox 8"/>
          <p:cNvSpPr txBox="1"/>
          <p:nvPr/>
        </p:nvSpPr>
        <p:spPr>
          <a:xfrm>
            <a:off x="685800" y="2286000"/>
            <a:ext cx="1828800" cy="365760"/>
          </a:xfrm>
          <a:prstGeom prst="rect">
            <a:avLst/>
          </a:prstGeom>
          <a:noFill/>
        </p:spPr>
        <p:txBody>
          <a:bodyPr wrap="square" anchor="t" lIns="45720" rIns="45720" tIns="27432" bIns="27432">
            <a:spAutoFit/>
          </a:bodyPr>
          <a:lstStyle/>
          <a:p>
            <a:pPr algn="l"/>
            <a:r>
              <a:rPr sz="1300" b="1" i="0">
                <a:solidFill>
                  <a:srgbClr val="141B2D"/>
                </a:solidFill>
                <a:latin typeface="Calibri"/>
              </a:rPr>
              <a:t>Onboard in minutes</a:t>
            </a:r>
          </a:p>
        </p:txBody>
      </p:sp>
      <p:sp>
        <p:nvSpPr>
          <p:cNvPr id="10" name="TextBox 9"/>
          <p:cNvSpPr txBox="1"/>
          <p:nvPr/>
        </p:nvSpPr>
        <p:spPr>
          <a:xfrm>
            <a:off x="685800" y="2697480"/>
            <a:ext cx="1828800" cy="2377440"/>
          </a:xfrm>
          <a:prstGeom prst="rect">
            <a:avLst/>
          </a:prstGeom>
          <a:noFill/>
        </p:spPr>
        <p:txBody>
          <a:bodyPr wrap="square" anchor="t" lIns="45720" rIns="45720" tIns="27432" bIns="27432">
            <a:spAutoFit/>
          </a:bodyPr>
          <a:lstStyle/>
          <a:p>
            <a:pPr algn="l"/>
            <a:r>
              <a:rPr sz="1050" b="0" i="0">
                <a:solidFill>
                  <a:srgbClr val="141B2D"/>
                </a:solidFill>
                <a:latin typeface="Calibri"/>
              </a:rPr>
              <a:t>Open the Devin Wiki for DataProfiler: data readers, profilers, the ML labeler pipeline, report formats. Ask Devin: 'How does report() choose an output format and where are formats tested?'</a:t>
            </a:r>
          </a:p>
        </p:txBody>
      </p:sp>
      <p:sp>
        <p:nvSpPr>
          <p:cNvPr id="11" name="TextBox 10"/>
          <p:cNvSpPr txBox="1"/>
          <p:nvPr/>
        </p:nvSpPr>
        <p:spPr>
          <a:xfrm>
            <a:off x="68580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Two engineering cultures; onboarding</a:t>
            </a:r>
          </a:p>
        </p:txBody>
      </p:sp>
      <p:sp>
        <p:nvSpPr>
          <p:cNvPr id="12" name="Rounded Rectangle 11"/>
          <p:cNvSpPr/>
          <p:nvPr/>
        </p:nvSpPr>
        <p:spPr>
          <a:xfrm>
            <a:off x="278892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8892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1691640"/>
            <a:ext cx="1828800" cy="502920"/>
          </a:xfrm>
          <a:prstGeom prst="rect">
            <a:avLst/>
          </a:prstGeom>
          <a:noFill/>
        </p:spPr>
        <p:txBody>
          <a:bodyPr wrap="square" anchor="ctr" lIns="45720" rIns="45720" tIns="27432" bIns="27432">
            <a:spAutoFit/>
          </a:bodyPr>
          <a:lstStyle/>
          <a:p>
            <a:pPr algn="l"/>
            <a:r>
              <a:rPr sz="1500" b="1" i="0">
                <a:solidFill>
                  <a:srgbClr val="FFFFFF"/>
                </a:solidFill>
                <a:latin typeface="Calibri"/>
              </a:rPr>
              <a:t>2  Session</a:t>
            </a:r>
          </a:p>
        </p:txBody>
      </p:sp>
      <p:sp>
        <p:nvSpPr>
          <p:cNvPr id="15" name="TextBox 14"/>
          <p:cNvSpPr txBox="1"/>
          <p:nvPr/>
        </p:nvSpPr>
        <p:spPr>
          <a:xfrm>
            <a:off x="2926080" y="2286000"/>
            <a:ext cx="1828800" cy="365760"/>
          </a:xfrm>
          <a:prstGeom prst="rect">
            <a:avLst/>
          </a:prstGeom>
          <a:noFill/>
        </p:spPr>
        <p:txBody>
          <a:bodyPr wrap="square" anchor="t" lIns="45720" rIns="45720" tIns="27432" bIns="27432">
            <a:spAutoFit/>
          </a:bodyPr>
          <a:lstStyle/>
          <a:p>
            <a:pPr algn="l"/>
            <a:r>
              <a:rPr sz="1300" b="1" i="0">
                <a:solidFill>
                  <a:srgbClr val="141B2D"/>
                </a:solidFill>
                <a:latin typeface="Calibri"/>
              </a:rPr>
              <a:t>Ticket to PR</a:t>
            </a:r>
          </a:p>
        </p:txBody>
      </p:sp>
      <p:sp>
        <p:nvSpPr>
          <p:cNvPr id="16" name="TextBox 15"/>
          <p:cNvSpPr txBox="1"/>
          <p:nvPr/>
        </p:nvSpPr>
        <p:spPr>
          <a:xfrm>
            <a:off x="2926080" y="2697480"/>
            <a:ext cx="1828800" cy="2377440"/>
          </a:xfrm>
          <a:prstGeom prst="rect">
            <a:avLst/>
          </a:prstGeom>
          <a:noFill/>
        </p:spPr>
        <p:txBody>
          <a:bodyPr wrap="square" anchor="t" lIns="45720" rIns="45720" tIns="27432" bIns="27432">
            <a:spAutoFit/>
          </a:bodyPr>
          <a:lstStyle/>
          <a:p>
            <a:pPr algn="l"/>
            <a:r>
              <a:rPr sz="1050" b="0" i="0">
                <a:solidFill>
                  <a:srgbClr val="141B2D"/>
                </a:solidFill>
                <a:latin typeface="Calibri"/>
              </a:rPr>
              <a:t>From Slack: '@Devin add a `markdown` output_format to Profiler.report() alongside pretty/compact/flat, with tests and CHANGELOG entry.' Devin plans, edits, runs pytest + pre-commit, opens a PR.</a:t>
            </a:r>
          </a:p>
        </p:txBody>
      </p:sp>
      <p:sp>
        <p:nvSpPr>
          <p:cNvPr id="17" name="TextBox 16"/>
          <p:cNvSpPr txBox="1"/>
          <p:nvPr/>
        </p:nvSpPr>
        <p:spPr>
          <a:xfrm>
            <a:off x="292608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Data governance tooling; AI mandate</a:t>
            </a:r>
          </a:p>
        </p:txBody>
      </p:sp>
      <p:sp>
        <p:nvSpPr>
          <p:cNvPr id="18" name="Rounded Rectangle 17"/>
          <p:cNvSpPr/>
          <p:nvPr/>
        </p:nvSpPr>
        <p:spPr>
          <a:xfrm>
            <a:off x="502920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02920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6360" y="1691640"/>
            <a:ext cx="1828800" cy="502920"/>
          </a:xfrm>
          <a:prstGeom prst="rect">
            <a:avLst/>
          </a:prstGeom>
          <a:noFill/>
        </p:spPr>
        <p:txBody>
          <a:bodyPr wrap="square" anchor="ctr" lIns="45720" rIns="45720" tIns="27432" bIns="27432">
            <a:spAutoFit/>
          </a:bodyPr>
          <a:lstStyle/>
          <a:p>
            <a:pPr algn="l"/>
            <a:r>
              <a:rPr sz="1500" b="1" i="0">
                <a:solidFill>
                  <a:srgbClr val="FFFFFF"/>
                </a:solidFill>
                <a:latin typeface="Calibri"/>
              </a:rPr>
              <a:t>3  Review</a:t>
            </a:r>
          </a:p>
        </p:txBody>
      </p:sp>
      <p:sp>
        <p:nvSpPr>
          <p:cNvPr id="21" name="TextBox 20"/>
          <p:cNvSpPr txBox="1"/>
          <p:nvPr/>
        </p:nvSpPr>
        <p:spPr>
          <a:xfrm>
            <a:off x="5166360" y="2286000"/>
            <a:ext cx="1828800" cy="365760"/>
          </a:xfrm>
          <a:prstGeom prst="rect">
            <a:avLst/>
          </a:prstGeom>
          <a:noFill/>
        </p:spPr>
        <p:txBody>
          <a:bodyPr wrap="square" anchor="t" lIns="45720" rIns="45720" tIns="27432" bIns="27432">
            <a:spAutoFit/>
          </a:bodyPr>
          <a:lstStyle/>
          <a:p>
            <a:pPr algn="l"/>
            <a:r>
              <a:rPr sz="1300" b="1" i="0">
                <a:solidFill>
                  <a:srgbClr val="141B2D"/>
                </a:solidFill>
                <a:latin typeface="Calibri"/>
              </a:rPr>
              <a:t>Quality gate</a:t>
            </a:r>
          </a:p>
        </p:txBody>
      </p:sp>
      <p:sp>
        <p:nvSpPr>
          <p:cNvPr id="22" name="TextBox 21"/>
          <p:cNvSpPr txBox="1"/>
          <p:nvPr/>
        </p:nvSpPr>
        <p:spPr>
          <a:xfrm>
            <a:off x="5166360" y="2697480"/>
            <a:ext cx="1828800" cy="2377440"/>
          </a:xfrm>
          <a:prstGeom prst="rect">
            <a:avLst/>
          </a:prstGeom>
          <a:noFill/>
        </p:spPr>
        <p:txBody>
          <a:bodyPr wrap="square" anchor="t" lIns="45720" rIns="45720" tIns="27432" bIns="27432">
            <a:spAutoFit/>
          </a:bodyPr>
          <a:lstStyle/>
          <a:p>
            <a:pPr algn="l"/>
            <a:r>
              <a:rPr sz="1050" b="0" i="0">
                <a:solidFill>
                  <a:srgbClr val="141B2D"/>
                </a:solidFill>
                <a:latin typeface="Calibri"/>
              </a:rPr>
              <a:t>Devin Review comments on the PR: edge cases (nested stats, None values), type hints, style vs. pre-commit rules. Show a finding and the fix.</a:t>
            </a:r>
          </a:p>
        </p:txBody>
      </p:sp>
      <p:sp>
        <p:nvSpPr>
          <p:cNvPr id="23" name="TextBox 22"/>
          <p:cNvSpPr txBox="1"/>
          <p:nvPr/>
        </p:nvSpPr>
        <p:spPr>
          <a:xfrm>
            <a:off x="516636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Compliance evidence; quality</a:t>
            </a:r>
          </a:p>
        </p:txBody>
      </p:sp>
      <p:sp>
        <p:nvSpPr>
          <p:cNvPr id="24" name="Rounded Rectangle 23"/>
          <p:cNvSpPr/>
          <p:nvPr/>
        </p:nvSpPr>
        <p:spPr>
          <a:xfrm>
            <a:off x="726948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6948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0" y="1691640"/>
            <a:ext cx="1828800" cy="502920"/>
          </a:xfrm>
          <a:prstGeom prst="rect">
            <a:avLst/>
          </a:prstGeom>
          <a:noFill/>
        </p:spPr>
        <p:txBody>
          <a:bodyPr wrap="square" anchor="ctr" lIns="45720" rIns="45720" tIns="27432" bIns="27432">
            <a:spAutoFit/>
          </a:bodyPr>
          <a:lstStyle/>
          <a:p>
            <a:pPr algn="l"/>
            <a:r>
              <a:rPr sz="1500" b="1" i="0">
                <a:solidFill>
                  <a:srgbClr val="FFFFFF"/>
                </a:solidFill>
                <a:latin typeface="Calibri"/>
              </a:rPr>
              <a:t>4  Automation</a:t>
            </a:r>
          </a:p>
        </p:txBody>
      </p:sp>
      <p:sp>
        <p:nvSpPr>
          <p:cNvPr id="27" name="TextBox 26"/>
          <p:cNvSpPr txBox="1"/>
          <p:nvPr/>
        </p:nvSpPr>
        <p:spPr>
          <a:xfrm>
            <a:off x="7406640" y="2286000"/>
            <a:ext cx="1828800" cy="365760"/>
          </a:xfrm>
          <a:prstGeom prst="rect">
            <a:avLst/>
          </a:prstGeom>
          <a:noFill/>
        </p:spPr>
        <p:txBody>
          <a:bodyPr wrap="square" anchor="t" lIns="45720" rIns="45720" tIns="27432" bIns="27432">
            <a:spAutoFit/>
          </a:bodyPr>
          <a:lstStyle/>
          <a:p>
            <a:pPr algn="l"/>
            <a:r>
              <a:rPr sz="1300" b="1" i="0">
                <a:solidFill>
                  <a:srgbClr val="141B2D"/>
                </a:solidFill>
                <a:latin typeface="Calibri"/>
              </a:rPr>
              <a:t>Keep it patched</a:t>
            </a:r>
          </a:p>
        </p:txBody>
      </p:sp>
      <p:sp>
        <p:nvSpPr>
          <p:cNvPr id="28" name="TextBox 27"/>
          <p:cNvSpPr txBox="1"/>
          <p:nvPr/>
        </p:nvSpPr>
        <p:spPr>
          <a:xfrm>
            <a:off x="7406640" y="2697480"/>
            <a:ext cx="1828800" cy="2377440"/>
          </a:xfrm>
          <a:prstGeom prst="rect">
            <a:avLst/>
          </a:prstGeom>
          <a:noFill/>
        </p:spPr>
        <p:txBody>
          <a:bodyPr wrap="square" anchor="t" lIns="45720" rIns="45720" tIns="27432" bIns="27432">
            <a:spAutoFit/>
          </a:bodyPr>
          <a:lstStyle/>
          <a:p>
            <a:pPr algn="l"/>
            <a:r>
              <a:rPr sz="1050" b="0" i="0">
                <a:solidFill>
                  <a:srgbClr val="141B2D"/>
                </a:solidFill>
                <a:latin typeface="Calibri"/>
              </a:rPr>
              <a:t>Show a scheduled automation: weekly pip-audit / dependency sweep on the repo that opens PRs and posts a Slack summary.</a:t>
            </a:r>
          </a:p>
        </p:txBody>
      </p:sp>
      <p:sp>
        <p:nvSpPr>
          <p:cNvPr id="29" name="TextBox 28"/>
          <p:cNvSpPr txBox="1"/>
          <p:nvPr/>
        </p:nvSpPr>
        <p:spPr>
          <a:xfrm>
            <a:off x="740664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Security posture; CVE debt</a:t>
            </a:r>
          </a:p>
        </p:txBody>
      </p:sp>
      <p:sp>
        <p:nvSpPr>
          <p:cNvPr id="30" name="Rounded Rectangle 29"/>
          <p:cNvSpPr/>
          <p:nvPr/>
        </p:nvSpPr>
        <p:spPr>
          <a:xfrm>
            <a:off x="950976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509760" y="1691640"/>
            <a:ext cx="2103120" cy="502920"/>
          </a:xfrm>
          <a:prstGeom prst="round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20" y="1691640"/>
            <a:ext cx="1828800" cy="502920"/>
          </a:xfrm>
          <a:prstGeom prst="rect">
            <a:avLst/>
          </a:prstGeom>
          <a:noFill/>
        </p:spPr>
        <p:txBody>
          <a:bodyPr wrap="square" anchor="ctr" lIns="45720" rIns="45720" tIns="27432" bIns="27432">
            <a:spAutoFit/>
          </a:bodyPr>
          <a:lstStyle/>
          <a:p>
            <a:pPr algn="l"/>
            <a:r>
              <a:rPr sz="1500" b="1" i="0">
                <a:solidFill>
                  <a:srgbClr val="FFFFFF"/>
                </a:solidFill>
                <a:latin typeface="Calibri"/>
              </a:rPr>
              <a:t>5  Security</a:t>
            </a:r>
          </a:p>
        </p:txBody>
      </p:sp>
      <p:sp>
        <p:nvSpPr>
          <p:cNvPr id="33" name="TextBox 32"/>
          <p:cNvSpPr txBox="1"/>
          <p:nvPr/>
        </p:nvSpPr>
        <p:spPr>
          <a:xfrm>
            <a:off x="9646920" y="2286000"/>
            <a:ext cx="1828800" cy="365760"/>
          </a:xfrm>
          <a:prstGeom prst="rect">
            <a:avLst/>
          </a:prstGeom>
          <a:noFill/>
        </p:spPr>
        <p:txBody>
          <a:bodyPr wrap="square" anchor="t" lIns="45720" rIns="45720" tIns="27432" bIns="27432">
            <a:spAutoFit/>
          </a:bodyPr>
          <a:lstStyle/>
          <a:p>
            <a:pPr algn="l"/>
            <a:r>
              <a:rPr sz="1300" b="1" i="0">
                <a:solidFill>
                  <a:srgbClr val="141B2D"/>
                </a:solidFill>
                <a:latin typeface="Calibri"/>
              </a:rPr>
              <a:t>Tech Risk view</a:t>
            </a:r>
          </a:p>
        </p:txBody>
      </p:sp>
      <p:sp>
        <p:nvSpPr>
          <p:cNvPr id="34" name="TextBox 33"/>
          <p:cNvSpPr txBox="1"/>
          <p:nvPr/>
        </p:nvSpPr>
        <p:spPr>
          <a:xfrm>
            <a:off x="9646920" y="2697480"/>
            <a:ext cx="1828800" cy="2377440"/>
          </a:xfrm>
          <a:prstGeom prst="rect">
            <a:avLst/>
          </a:prstGeom>
          <a:noFill/>
        </p:spPr>
        <p:txBody>
          <a:bodyPr wrap="square" anchor="t" lIns="45720" rIns="45720" tIns="27432" bIns="27432">
            <a:spAutoFit/>
          </a:bodyPr>
          <a:lstStyle/>
          <a:p>
            <a:pPr algn="l"/>
            <a:r>
              <a:rPr sz="1050" b="0" i="0">
                <a:solidFill>
                  <a:srgbClr val="141B2D"/>
                </a:solidFill>
                <a:latin typeface="Calibri"/>
              </a:rPr>
              <a:t>Settings tour: SSO/SCIM, repo scoping, scoped GitHub App, secrets vault, session audit log, VPC deployment, data retention, no training on code.</a:t>
            </a:r>
          </a:p>
        </p:txBody>
      </p:sp>
      <p:sp>
        <p:nvSpPr>
          <p:cNvPr id="35" name="TextBox 34"/>
          <p:cNvSpPr txBox="1"/>
          <p:nvPr/>
        </p:nvSpPr>
        <p:spPr>
          <a:xfrm>
            <a:off x="964692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Bank-grade governance</a:t>
            </a:r>
          </a:p>
        </p:txBody>
      </p:sp>
      <p:sp>
        <p:nvSpPr>
          <p:cNvPr id="36" name="TextBox 35"/>
          <p:cNvSpPr txBox="1"/>
          <p:nvPr/>
        </p:nvSpPr>
        <p:spPr>
          <a:xfrm>
            <a:off x="548640" y="5989320"/>
            <a:ext cx="10972800" cy="365760"/>
          </a:xfrm>
          <a:prstGeom prst="rect">
            <a:avLst/>
          </a:prstGeom>
          <a:noFill/>
        </p:spPr>
        <p:txBody>
          <a:bodyPr wrap="square" anchor="t" lIns="45720" rIns="45720" tIns="27432" bIns="27432">
            <a:spAutoFit/>
          </a:bodyPr>
          <a:lstStyle/>
          <a:p>
            <a:pPr algn="l"/>
            <a:r>
              <a:rPr sz="1200" b="0" i="1">
                <a:solidFill>
                  <a:srgbClr val="6B7280"/>
                </a:solidFill>
                <a:latin typeface="Calibri"/>
              </a:rPr>
              <a:t>Integrations shown throughout: Slack trigger, GitHub PR, CI status. Backup: pre-recorded session if live run is slow.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COMPETITIVE  |  COMPLEMENTARY TOOLS, DIFFERENT JOB</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Devin vs. Copilot, Cursor, and Claude Code</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ectangle 5"/>
          <p:cNvSpPr/>
          <p:nvPr/>
        </p:nvSpPr>
        <p:spPr>
          <a:xfrm>
            <a:off x="548640" y="1691640"/>
            <a:ext cx="11109960" cy="457200"/>
          </a:xfrm>
          <a:prstGeom prst="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2468880" cy="457200"/>
          </a:xfrm>
          <a:prstGeom prst="rect">
            <a:avLst/>
          </a:prstGeom>
          <a:noFill/>
        </p:spPr>
        <p:txBody>
          <a:bodyPr wrap="square" anchor="ctr" lIns="45720" rIns="45720" tIns="27432" bIns="27432">
            <a:spAutoFit/>
          </a:bodyPr>
          <a:lstStyle/>
          <a:p>
            <a:pPr algn="l"/>
            <a:r>
              <a:rPr sz="1300" b="1" i="0">
                <a:solidFill>
                  <a:srgbClr val="FFFFFF"/>
                </a:solidFill>
                <a:latin typeface="Calibri"/>
              </a:rPr>
              <a:t/>
            </a:r>
          </a:p>
        </p:txBody>
      </p:sp>
      <p:sp>
        <p:nvSpPr>
          <p:cNvPr id="8" name="TextBox 7"/>
          <p:cNvSpPr txBox="1"/>
          <p:nvPr/>
        </p:nvSpPr>
        <p:spPr>
          <a:xfrm>
            <a:off x="310896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Copilot</a:t>
            </a:r>
          </a:p>
        </p:txBody>
      </p:sp>
      <p:sp>
        <p:nvSpPr>
          <p:cNvPr id="9" name="TextBox 8"/>
          <p:cNvSpPr txBox="1"/>
          <p:nvPr/>
        </p:nvSpPr>
        <p:spPr>
          <a:xfrm>
            <a:off x="525780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Cursor</a:t>
            </a:r>
          </a:p>
        </p:txBody>
      </p:sp>
      <p:sp>
        <p:nvSpPr>
          <p:cNvPr id="10" name="TextBox 9"/>
          <p:cNvSpPr txBox="1"/>
          <p:nvPr/>
        </p:nvSpPr>
        <p:spPr>
          <a:xfrm>
            <a:off x="740664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Claude Code</a:t>
            </a:r>
          </a:p>
        </p:txBody>
      </p:sp>
      <p:sp>
        <p:nvSpPr>
          <p:cNvPr id="11" name="TextBox 10"/>
          <p:cNvSpPr txBox="1"/>
          <p:nvPr/>
        </p:nvSpPr>
        <p:spPr>
          <a:xfrm>
            <a:off x="9555480" y="1691640"/>
            <a:ext cx="2194560" cy="457200"/>
          </a:xfrm>
          <a:prstGeom prst="rect">
            <a:avLst/>
          </a:prstGeom>
          <a:noFill/>
        </p:spPr>
        <p:txBody>
          <a:bodyPr wrap="square" anchor="ctr" lIns="45720" rIns="45720" tIns="27432" bIns="27432">
            <a:spAutoFit/>
          </a:bodyPr>
          <a:lstStyle/>
          <a:p>
            <a:pPr algn="ctr"/>
            <a:r>
              <a:rPr sz="1300" b="1" i="0">
                <a:solidFill>
                  <a:srgbClr val="22C55E"/>
                </a:solidFill>
                <a:latin typeface="Calibri"/>
              </a:rPr>
              <a:t>Devin</a:t>
            </a:r>
          </a:p>
        </p:txBody>
      </p:sp>
      <p:sp>
        <p:nvSpPr>
          <p:cNvPr id="12" name="Rectangle 11"/>
          <p:cNvSpPr/>
          <p:nvPr/>
        </p:nvSpPr>
        <p:spPr>
          <a:xfrm>
            <a:off x="548640" y="214884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14884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Where it runs</a:t>
            </a:r>
          </a:p>
        </p:txBody>
      </p:sp>
      <p:sp>
        <p:nvSpPr>
          <p:cNvPr id="14" name="TextBox 13"/>
          <p:cNvSpPr txBox="1"/>
          <p:nvPr/>
        </p:nvSpPr>
        <p:spPr>
          <a:xfrm>
            <a:off x="310896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the IDE</a:t>
            </a:r>
          </a:p>
        </p:txBody>
      </p:sp>
      <p:sp>
        <p:nvSpPr>
          <p:cNvPr id="15" name="TextBox 14"/>
          <p:cNvSpPr txBox="1"/>
          <p:nvPr/>
        </p:nvSpPr>
        <p:spPr>
          <a:xfrm>
            <a:off x="525780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the IDE (fork of VS Code)</a:t>
            </a:r>
          </a:p>
        </p:txBody>
      </p:sp>
      <p:sp>
        <p:nvSpPr>
          <p:cNvPr id="16" name="TextBox 15"/>
          <p:cNvSpPr txBox="1"/>
          <p:nvPr/>
        </p:nvSpPr>
        <p:spPr>
          <a:xfrm>
            <a:off x="740664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your terminal</a:t>
            </a:r>
          </a:p>
        </p:txBody>
      </p:sp>
      <p:sp>
        <p:nvSpPr>
          <p:cNvPr id="17" name="TextBox 16"/>
          <p:cNvSpPr txBox="1"/>
          <p:nvPr/>
        </p:nvSpPr>
        <p:spPr>
          <a:xfrm>
            <a:off x="9555480" y="214884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Its own cloud VM per task; parallel</a:t>
            </a:r>
          </a:p>
        </p:txBody>
      </p:sp>
      <p:sp>
        <p:nvSpPr>
          <p:cNvPr id="18" name="TextBox 17"/>
          <p:cNvSpPr txBox="1"/>
          <p:nvPr/>
        </p:nvSpPr>
        <p:spPr>
          <a:xfrm>
            <a:off x="640080" y="269748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Who drives</a:t>
            </a:r>
          </a:p>
        </p:txBody>
      </p:sp>
      <p:sp>
        <p:nvSpPr>
          <p:cNvPr id="19" name="TextBox 18"/>
          <p:cNvSpPr txBox="1"/>
          <p:nvPr/>
        </p:nvSpPr>
        <p:spPr>
          <a:xfrm>
            <a:off x="310896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keystroke by keystroke</a:t>
            </a:r>
          </a:p>
        </p:txBody>
      </p:sp>
      <p:sp>
        <p:nvSpPr>
          <p:cNvPr id="20" name="TextBox 19"/>
          <p:cNvSpPr txBox="1"/>
          <p:nvPr/>
        </p:nvSpPr>
        <p:spPr>
          <a:xfrm>
            <a:off x="525780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prompt by prompt</a:t>
            </a:r>
          </a:p>
        </p:txBody>
      </p:sp>
      <p:sp>
        <p:nvSpPr>
          <p:cNvPr id="21" name="TextBox 20"/>
          <p:cNvSpPr txBox="1"/>
          <p:nvPr/>
        </p:nvSpPr>
        <p:spPr>
          <a:xfrm>
            <a:off x="740664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in a live terminal</a:t>
            </a:r>
          </a:p>
        </p:txBody>
      </p:sp>
      <p:sp>
        <p:nvSpPr>
          <p:cNvPr id="22" name="TextBox 21"/>
          <p:cNvSpPr txBox="1"/>
          <p:nvPr/>
        </p:nvSpPr>
        <p:spPr>
          <a:xfrm>
            <a:off x="9555480" y="269748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Devin, end to end; humans review</a:t>
            </a:r>
          </a:p>
        </p:txBody>
      </p:sp>
      <p:sp>
        <p:nvSpPr>
          <p:cNvPr id="23" name="Rectangle 22"/>
          <p:cNvSpPr/>
          <p:nvPr/>
        </p:nvSpPr>
        <p:spPr>
          <a:xfrm>
            <a:off x="548640" y="324612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Unit of work</a:t>
            </a:r>
          </a:p>
        </p:txBody>
      </p:sp>
      <p:sp>
        <p:nvSpPr>
          <p:cNvPr id="25" name="TextBox 24"/>
          <p:cNvSpPr txBox="1"/>
          <p:nvPr/>
        </p:nvSpPr>
        <p:spPr>
          <a:xfrm>
            <a:off x="310896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Line / function</a:t>
            </a:r>
          </a:p>
        </p:txBody>
      </p:sp>
      <p:sp>
        <p:nvSpPr>
          <p:cNvPr id="26" name="TextBox 25"/>
          <p:cNvSpPr txBox="1"/>
          <p:nvPr/>
        </p:nvSpPr>
        <p:spPr>
          <a:xfrm>
            <a:off x="525780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File / multi-file edit</a:t>
            </a:r>
          </a:p>
        </p:txBody>
      </p:sp>
      <p:sp>
        <p:nvSpPr>
          <p:cNvPr id="27" name="TextBox 26"/>
          <p:cNvSpPr txBox="1"/>
          <p:nvPr/>
        </p:nvSpPr>
        <p:spPr>
          <a:xfrm>
            <a:off x="740664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Task in a local session</a:t>
            </a:r>
          </a:p>
        </p:txBody>
      </p:sp>
      <p:sp>
        <p:nvSpPr>
          <p:cNvPr id="28" name="TextBox 27"/>
          <p:cNvSpPr txBox="1"/>
          <p:nvPr/>
        </p:nvSpPr>
        <p:spPr>
          <a:xfrm>
            <a:off x="9555480" y="324612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Ticket to merged PR, with CI</a:t>
            </a:r>
          </a:p>
        </p:txBody>
      </p:sp>
      <p:sp>
        <p:nvSpPr>
          <p:cNvPr id="29" name="TextBox 28"/>
          <p:cNvSpPr txBox="1"/>
          <p:nvPr/>
        </p:nvSpPr>
        <p:spPr>
          <a:xfrm>
            <a:off x="640080" y="379476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Runs tests, fixes CI, drives a browser</a:t>
            </a:r>
          </a:p>
        </p:txBody>
      </p:sp>
      <p:sp>
        <p:nvSpPr>
          <p:cNvPr id="30" name="TextBox 29"/>
          <p:cNvSpPr txBox="1"/>
          <p:nvPr/>
        </p:nvSpPr>
        <p:spPr>
          <a:xfrm>
            <a:off x="310896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31" name="TextBox 30"/>
          <p:cNvSpPr txBox="1"/>
          <p:nvPr/>
        </p:nvSpPr>
        <p:spPr>
          <a:xfrm>
            <a:off x="525780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Partly (agent mode)</a:t>
            </a:r>
          </a:p>
        </p:txBody>
      </p:sp>
      <p:sp>
        <p:nvSpPr>
          <p:cNvPr id="32" name="TextBox 31"/>
          <p:cNvSpPr txBox="1"/>
          <p:nvPr/>
        </p:nvSpPr>
        <p:spPr>
          <a:xfrm>
            <a:off x="740664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Yes, on the dev's machine</a:t>
            </a:r>
          </a:p>
        </p:txBody>
      </p:sp>
      <p:sp>
        <p:nvSpPr>
          <p:cNvPr id="33" name="TextBox 32"/>
          <p:cNvSpPr txBox="1"/>
          <p:nvPr/>
        </p:nvSpPr>
        <p:spPr>
          <a:xfrm>
            <a:off x="9555480" y="379476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Yes, in an isolated sandbox with full audit log</a:t>
            </a:r>
          </a:p>
        </p:txBody>
      </p:sp>
      <p:sp>
        <p:nvSpPr>
          <p:cNvPr id="34" name="Rectangle 33"/>
          <p:cNvSpPr/>
          <p:nvPr/>
        </p:nvSpPr>
        <p:spPr>
          <a:xfrm>
            <a:off x="548640" y="434340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34340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Org knowledge</a:t>
            </a:r>
          </a:p>
        </p:txBody>
      </p:sp>
      <p:sp>
        <p:nvSpPr>
          <p:cNvPr id="36" name="TextBox 35"/>
          <p:cNvSpPr txBox="1"/>
          <p:nvPr/>
        </p:nvSpPr>
        <p:spPr>
          <a:xfrm>
            <a:off x="310896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Per-user context</a:t>
            </a:r>
          </a:p>
        </p:txBody>
      </p:sp>
      <p:sp>
        <p:nvSpPr>
          <p:cNvPr id="37" name="TextBox 36"/>
          <p:cNvSpPr txBox="1"/>
          <p:nvPr/>
        </p:nvSpPr>
        <p:spPr>
          <a:xfrm>
            <a:off x="525780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Per-repo rules</a:t>
            </a:r>
          </a:p>
        </p:txBody>
      </p:sp>
      <p:sp>
        <p:nvSpPr>
          <p:cNvPr id="38" name="TextBox 37"/>
          <p:cNvSpPr txBox="1"/>
          <p:nvPr/>
        </p:nvSpPr>
        <p:spPr>
          <a:xfrm>
            <a:off x="740664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CLAUDE.md per repo</a:t>
            </a:r>
          </a:p>
        </p:txBody>
      </p:sp>
      <p:sp>
        <p:nvSpPr>
          <p:cNvPr id="39" name="TextBox 38"/>
          <p:cNvSpPr txBox="1"/>
          <p:nvPr/>
        </p:nvSpPr>
        <p:spPr>
          <a:xfrm>
            <a:off x="9555480" y="434340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Wiki, Knowledge, Playbooks shared org-wide</a:t>
            </a:r>
          </a:p>
        </p:txBody>
      </p:sp>
      <p:sp>
        <p:nvSpPr>
          <p:cNvPr id="40" name="TextBox 39"/>
          <p:cNvSpPr txBox="1"/>
          <p:nvPr/>
        </p:nvSpPr>
        <p:spPr>
          <a:xfrm>
            <a:off x="640080" y="489204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Runs unattended (schedules, events)</a:t>
            </a:r>
          </a:p>
        </p:txBody>
      </p:sp>
      <p:sp>
        <p:nvSpPr>
          <p:cNvPr id="41" name="TextBox 40"/>
          <p:cNvSpPr txBox="1"/>
          <p:nvPr/>
        </p:nvSpPr>
        <p:spPr>
          <a:xfrm>
            <a:off x="310896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42" name="TextBox 41"/>
          <p:cNvSpPr txBox="1"/>
          <p:nvPr/>
        </p:nvSpPr>
        <p:spPr>
          <a:xfrm>
            <a:off x="525780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43" name="TextBox 42"/>
          <p:cNvSpPr txBox="1"/>
          <p:nvPr/>
        </p:nvSpPr>
        <p:spPr>
          <a:xfrm>
            <a:off x="740664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Scriptable by you</a:t>
            </a:r>
          </a:p>
        </p:txBody>
      </p:sp>
      <p:sp>
        <p:nvSpPr>
          <p:cNvPr id="44" name="TextBox 43"/>
          <p:cNvSpPr txBox="1"/>
          <p:nvPr/>
        </p:nvSpPr>
        <p:spPr>
          <a:xfrm>
            <a:off x="9555480" y="489204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Automations built in; Slack/Jira/GitHub triggers</a:t>
            </a:r>
          </a:p>
        </p:txBody>
      </p:sp>
      <p:sp>
        <p:nvSpPr>
          <p:cNvPr id="45" name="Rectangle 44"/>
          <p:cNvSpPr/>
          <p:nvPr/>
        </p:nvSpPr>
        <p:spPr>
          <a:xfrm>
            <a:off x="548640" y="544068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544068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Security posture</a:t>
            </a:r>
          </a:p>
        </p:txBody>
      </p:sp>
      <p:sp>
        <p:nvSpPr>
          <p:cNvPr id="47" name="TextBox 46"/>
          <p:cNvSpPr txBox="1"/>
          <p:nvPr/>
        </p:nvSpPr>
        <p:spPr>
          <a:xfrm>
            <a:off x="310896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GitHub enterprise controls</a:t>
            </a:r>
          </a:p>
        </p:txBody>
      </p:sp>
      <p:sp>
        <p:nvSpPr>
          <p:cNvPr id="48" name="TextBox 47"/>
          <p:cNvSpPr txBox="1"/>
          <p:nvPr/>
        </p:nvSpPr>
        <p:spPr>
          <a:xfrm>
            <a:off x="525780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Privacy mode, SOC 2</a:t>
            </a:r>
          </a:p>
        </p:txBody>
      </p:sp>
      <p:sp>
        <p:nvSpPr>
          <p:cNvPr id="49" name="TextBox 48"/>
          <p:cNvSpPr txBox="1"/>
          <p:nvPr/>
        </p:nvSpPr>
        <p:spPr>
          <a:xfrm>
            <a:off x="740664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Runs with the dev's local access</a:t>
            </a:r>
          </a:p>
        </p:txBody>
      </p:sp>
      <p:sp>
        <p:nvSpPr>
          <p:cNvPr id="50" name="TextBox 49"/>
          <p:cNvSpPr txBox="1"/>
          <p:nvPr/>
        </p:nvSpPr>
        <p:spPr>
          <a:xfrm>
            <a:off x="9555480" y="544068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VPC option, SSO/SCIM, scoped GitHub App, secrets vault, SOC 2</a:t>
            </a:r>
          </a:p>
        </p:txBody>
      </p:sp>
      <p:sp>
        <p:nvSpPr>
          <p:cNvPr id="51" name="TextBox 50"/>
          <p:cNvSpPr txBox="1"/>
          <p:nvPr/>
        </p:nvSpPr>
        <p:spPr>
          <a:xfrm>
            <a:off x="548640" y="6035040"/>
            <a:ext cx="10972800" cy="365760"/>
          </a:xfrm>
          <a:prstGeom prst="rect">
            <a:avLst/>
          </a:prstGeom>
          <a:noFill/>
        </p:spPr>
        <p:txBody>
          <a:bodyPr wrap="square" anchor="t" lIns="45720" rIns="45720" tIns="27432" bIns="27432">
            <a:spAutoFit/>
          </a:bodyPr>
          <a:lstStyle/>
          <a:p>
            <a:pPr algn="l"/>
            <a:r>
              <a:rPr sz="1200" b="0" i="1">
                <a:solidFill>
                  <a:srgbClr val="6B7280"/>
                </a:solidFill>
                <a:latin typeface="Calibri"/>
              </a:rPr>
              <a:t>Position: keep Copilot/Cursor for the engineer in the loop. Devin is for the work you want off the engineer's plate.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