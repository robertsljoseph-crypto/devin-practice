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81" r:id="rId32"/>
    <p:sldId id="282" r:id="rId33"/>
    <p:sldId id="258" r:id="rId8"/>
    <p:sldId id="259" r:id="rId9"/>
    <p:sldId id="260" r:id="rId10"/>
    <p:sldId id="261" r:id="rId11"/>
    <p:sldId id="262" r:id="rId12"/>
    <p:sldId id="283" r:id="rId34"/>
    <p:sldId id="284" r:id="rId35"/>
    <p:sldId id="263" r:id="rId13"/>
    <p:sldId id="264" r:id="rId14"/>
    <p:sldId id="265" r:id="rId15"/>
    <p:sldId id="266" r:id="rId16"/>
    <p:sldId id="267" r:id="rId17"/>
    <p:sldId id="285" r:id="rId36"/>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y="6858000" cx="12191675"/>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31" roundtripDataSignature="AMtx7mjWhnMYQMSqADwLksjfXSSoTOa3A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customschemas.google.com/relationships/presentationmetadata" Target="metadata"/><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Open warmly. Thank the CTO/CISO for their time. Set the frame: 'This is a discovery conversation, not a demo. My goal is to understand your world first, then show only what is relevant.' Confirm time available and who is in the room.</a:t>
            </a:r>
            <a:endParaRPr/>
          </a:p>
        </p:txBody>
      </p:sp>
      <p:sp>
        <p:nvSpPr>
          <p:cNvPr id="83" name="Google Shape;83;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0" name="Google Shape;90;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the agenda quickly. Ask: 'Is there anything you want to make sure we cover, or anything you'd rather skip?' Adjust in real time. Emphasize that section 1 is the longest on purpose.</a:t>
            </a:r>
            <a:endParaRPr/>
          </a:p>
        </p:txBody>
      </p:sp>
      <p:sp>
        <p:nvSpPr>
          <p:cNvPr id="91" name="Google Shape;91;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h45b0e18ed2441d3a_0_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5" name="Google Shape;115;h45b0e18ed2441d3a_0_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304800" lvl="0" marL="457200" rtl="0" algn="l">
              <a:spcBef>
                <a:spcPts val="0"/>
              </a:spcBef>
              <a:spcAft>
                <a:spcPts val="0"/>
              </a:spcAft>
              <a:buClr>
                <a:schemeClr val="dk1"/>
              </a:buClr>
              <a:buSzPts val="1200"/>
              <a:buFont typeface="Times New Roman"/>
              <a:buChar char="●"/>
            </a:pPr>
            <a:r>
              <a:rPr lang="en-US" sz="1300">
                <a:solidFill>
                  <a:schemeClr val="dk1"/>
                </a:solidFill>
                <a:latin typeface="Times New Roman"/>
                <a:ea typeface="Times New Roman"/>
                <a:cs typeface="Times New Roman"/>
                <a:sym typeface="Times New Roman"/>
              </a:rPr>
              <a:t>Founded in 2023 by a team of competitive programming </a:t>
            </a:r>
            <a:r>
              <a:rPr lang="en-US" sz="1300">
                <a:solidFill>
                  <a:schemeClr val="dk1"/>
                </a:solidFill>
                <a:latin typeface="Times New Roman"/>
                <a:ea typeface="Times New Roman"/>
                <a:cs typeface="Times New Roman"/>
                <a:sym typeface="Times New Roman"/>
              </a:rPr>
              <a:t>champions</a:t>
            </a:r>
            <a:endParaRPr sz="1300">
              <a:solidFill>
                <a:schemeClr val="dk1"/>
              </a:solidFill>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Font typeface="Times New Roman"/>
              <a:buChar char="●"/>
            </a:pPr>
            <a:r>
              <a:rPr lang="en-US" sz="1300">
                <a:solidFill>
                  <a:schemeClr val="dk1"/>
                </a:solidFill>
                <a:latin typeface="Times New Roman"/>
                <a:ea typeface="Times New Roman"/>
                <a:cs typeface="Times New Roman"/>
                <a:sym typeface="Times New Roman"/>
              </a:rPr>
              <a:t>Cognition has grown rapidly to become a leader in AI-powered software engineering</a:t>
            </a:r>
            <a:endParaRPr sz="1300">
              <a:solidFill>
                <a:schemeClr val="dk1"/>
              </a:solidFill>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Font typeface="Times New Roman"/>
              <a:buChar char="●"/>
            </a:pPr>
            <a:r>
              <a:rPr lang="en-US" sz="1300">
                <a:solidFill>
                  <a:schemeClr val="dk1"/>
                </a:solidFill>
                <a:latin typeface="Times New Roman"/>
                <a:ea typeface="Times New Roman"/>
                <a:cs typeface="Times New Roman"/>
                <a:sym typeface="Times New Roman"/>
              </a:rPr>
              <a:t>Launched Devin in 2024—our flagship AI software engineer product that can autonomously handle real engineering work like investigating codebases, fixing bugs, and executing complex development workflows independently</a:t>
            </a:r>
            <a:endParaRPr sz="1300">
              <a:solidFill>
                <a:schemeClr val="dk1"/>
              </a:solidFill>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Font typeface="Times New Roman"/>
              <a:buChar char="●"/>
            </a:pPr>
            <a:r>
              <a:rPr lang="en-US" sz="1300">
                <a:solidFill>
                  <a:schemeClr val="dk1"/>
                </a:solidFill>
                <a:latin typeface="Times New Roman"/>
                <a:ea typeface="Times New Roman"/>
                <a:cs typeface="Times New Roman"/>
                <a:sym typeface="Times New Roman"/>
              </a:rPr>
              <a:t>Expanded globally across multiple regions and customer bases, including Fortune 500 enterprises</a:t>
            </a:r>
            <a:endParaRPr sz="1300">
              <a:solidFill>
                <a:schemeClr val="dk1"/>
              </a:solidFill>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Font typeface="Times New Roman"/>
              <a:buChar char="●"/>
            </a:pPr>
            <a:r>
              <a:rPr lang="en-US" sz="1300">
                <a:solidFill>
                  <a:schemeClr val="dk1"/>
                </a:solidFill>
                <a:latin typeface="Times New Roman"/>
                <a:ea typeface="Times New Roman"/>
                <a:cs typeface="Times New Roman"/>
                <a:sym typeface="Times New Roman"/>
              </a:rPr>
              <a:t>Crossed $1 billion in revenue as of September 2026—demonstrating product-market fit and strong enterprise adoption</a:t>
            </a:r>
            <a:endParaRPr sz="1300">
              <a:solidFill>
                <a:schemeClr val="dk1"/>
              </a:solidFill>
              <a:latin typeface="Times New Roman"/>
              <a:ea typeface="Times New Roman"/>
              <a:cs typeface="Times New Roman"/>
              <a:sym typeface="Times New Roman"/>
            </a:endParaRPr>
          </a:p>
          <a:p>
            <a:pPr indent="0" lvl="0" marL="0" rtl="0" algn="l">
              <a:spcBef>
                <a:spcPts val="750"/>
              </a:spcBef>
              <a:spcAft>
                <a:spcPts val="0"/>
              </a:spcAft>
              <a:buClr>
                <a:schemeClr val="dk1"/>
              </a:buClr>
              <a:buSzPts val="1100"/>
              <a:buFont typeface="Arial"/>
              <a:buNone/>
            </a:pPr>
            <a:r>
              <a:rPr lang="en-US" sz="1300">
                <a:solidFill>
                  <a:srgbClr val="1F4D78"/>
                </a:solidFill>
                <a:latin typeface="Times New Roman"/>
                <a:ea typeface="Times New Roman"/>
                <a:cs typeface="Times New Roman"/>
                <a:sym typeface="Times New Roman"/>
              </a:rPr>
              <a:t>Core Mission</a:t>
            </a:r>
            <a:endParaRPr sz="1300">
              <a:solidFill>
                <a:srgbClr val="1F4D78"/>
              </a:solidFill>
              <a:latin typeface="Times New Roman"/>
              <a:ea typeface="Times New Roman"/>
              <a:cs typeface="Times New Roman"/>
              <a:sym typeface="Times New Roman"/>
            </a:endParaRPr>
          </a:p>
          <a:p>
            <a:pPr indent="0" lvl="0" marL="457200" rtl="0" algn="l">
              <a:spcBef>
                <a:spcPts val="500"/>
              </a:spcBef>
              <a:spcAft>
                <a:spcPts val="0"/>
              </a:spcAft>
              <a:buClr>
                <a:schemeClr val="dk1"/>
              </a:buClr>
              <a:buSzPts val="1100"/>
              <a:buFont typeface="Arial"/>
              <a:buNone/>
            </a:pPr>
            <a:r>
              <a:rPr lang="en-US" sz="1300">
                <a:solidFill>
                  <a:schemeClr val="dk1"/>
                </a:solidFill>
                <a:latin typeface="Times New Roman"/>
                <a:ea typeface="Times New Roman"/>
                <a:cs typeface="Times New Roman"/>
                <a:sym typeface="Times New Roman"/>
              </a:rPr>
              <a:t>• Build a collaborative team of AI teammates that genuinely expand what engineering teams can ship—not just assist individuals, but transform how teams work at scale</a:t>
            </a:r>
            <a:endParaRPr sz="1300">
              <a:solidFill>
                <a:schemeClr val="dk1"/>
              </a:solidFill>
              <a:latin typeface="Times New Roman"/>
              <a:ea typeface="Times New Roman"/>
              <a:cs typeface="Times New Roman"/>
              <a:sym typeface="Times New Roman"/>
            </a:endParaRPr>
          </a:p>
          <a:p>
            <a:pPr indent="0" lvl="0" marL="457200" rtl="0" algn="l">
              <a:spcBef>
                <a:spcPts val="250"/>
              </a:spcBef>
              <a:spcAft>
                <a:spcPts val="0"/>
              </a:spcAft>
              <a:buClr>
                <a:schemeClr val="dk1"/>
              </a:buClr>
              <a:buSzPts val="1100"/>
              <a:buFont typeface="Arial"/>
              <a:buNone/>
            </a:pPr>
            <a:r>
              <a:rPr lang="en-US" sz="1300">
                <a:solidFill>
                  <a:schemeClr val="dk1"/>
                </a:solidFill>
                <a:latin typeface="Times New Roman"/>
                <a:ea typeface="Times New Roman"/>
                <a:cs typeface="Times New Roman"/>
                <a:sym typeface="Times New Roman"/>
              </a:rPr>
              <a:t>• Move beyond the "AI copilot" model (autocomplete and suggestions) to create true autonomous agents that take ownership of real work</a:t>
            </a:r>
            <a:endParaRPr sz="1300">
              <a:solidFill>
                <a:schemeClr val="dk1"/>
              </a:solidFill>
              <a:latin typeface="Times New Roman"/>
              <a:ea typeface="Times New Roman"/>
              <a:cs typeface="Times New Roman"/>
              <a:sym typeface="Times New Roman"/>
            </a:endParaRPr>
          </a:p>
          <a:p>
            <a:pPr indent="0" lvl="0" marL="457200" rtl="0" algn="l">
              <a:spcBef>
                <a:spcPts val="250"/>
              </a:spcBef>
              <a:spcAft>
                <a:spcPts val="0"/>
              </a:spcAft>
              <a:buClr>
                <a:schemeClr val="dk1"/>
              </a:buClr>
              <a:buSzPts val="1100"/>
              <a:buFont typeface="Arial"/>
              <a:buNone/>
            </a:pPr>
            <a:r>
              <a:rPr lang="en-US" sz="1300">
                <a:solidFill>
                  <a:schemeClr val="dk1"/>
                </a:solidFill>
                <a:latin typeface="Times New Roman"/>
                <a:ea typeface="Times New Roman"/>
                <a:cs typeface="Times New Roman"/>
                <a:sym typeface="Times New Roman"/>
              </a:rPr>
              <a:t>• Empower engineering leaders to tackle bottlenecks that headcount alone cannot solve—modernization work, technical debt, and high-volume routine tasks</a:t>
            </a:r>
            <a:endParaRPr sz="1300">
              <a:solidFill>
                <a:schemeClr val="dk1"/>
              </a:solidFill>
              <a:latin typeface="Times New Roman"/>
              <a:ea typeface="Times New Roman"/>
              <a:cs typeface="Times New Roman"/>
              <a:sym typeface="Times New Roman"/>
            </a:endParaRPr>
          </a:p>
          <a:p>
            <a:pPr indent="0" lvl="0" marL="0" rtl="0" algn="l">
              <a:spcBef>
                <a:spcPts val="1500"/>
              </a:spcBef>
              <a:spcAft>
                <a:spcPts val="0"/>
              </a:spcAft>
              <a:buNone/>
            </a:pPr>
            <a:r>
              <a:t/>
            </a:r>
            <a:endParaRPr/>
          </a:p>
        </p:txBody>
      </p:sp>
      <p:sp>
        <p:nvSpPr>
          <p:cNvPr id="116" name="Google Shape;116;h45b0e18ed2441d3a_0_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6" name="Google Shape;156;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Transition: 'I'd like to spend the first 10-15 minutes listening.'</a:t>
            </a:r>
            <a:endParaRPr/>
          </a:p>
        </p:txBody>
      </p:sp>
      <p:sp>
        <p:nvSpPr>
          <p:cNvPr id="157" name="Google Shape;157;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h45b0e18ed2441d3a_0_3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3" name="Google Shape;163;h45b0e18ed2441d3a_0_3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200">
                <a:solidFill>
                  <a:srgbClr val="1F4D78"/>
                </a:solidFill>
                <a:latin typeface="Times New Roman"/>
                <a:ea typeface="Times New Roman"/>
                <a:cs typeface="Times New Roman"/>
                <a:sym typeface="Times New Roman"/>
              </a:rPr>
              <a:t>Engineering Time Allocation Problem</a:t>
            </a:r>
            <a:endParaRPr sz="1200">
              <a:solidFill>
                <a:srgbClr val="1F4D78"/>
              </a:solidFill>
              <a:latin typeface="Times New Roman"/>
              <a:ea typeface="Times New Roman"/>
              <a:cs typeface="Times New Roman"/>
              <a:sym typeface="Times New Roman"/>
            </a:endParaRPr>
          </a:p>
          <a:p>
            <a:pPr indent="0" lvl="0" marL="457200" rtl="0" algn="l">
              <a:spcBef>
                <a:spcPts val="500"/>
              </a:spcBef>
              <a:spcAft>
                <a:spcPts val="0"/>
              </a:spcAft>
              <a:buClr>
                <a:schemeClr val="dk1"/>
              </a:buClr>
              <a:buSzPts val="1100"/>
              <a:buFont typeface="Arial"/>
              <a:buNone/>
            </a:pPr>
            <a:r>
              <a:rPr lang="en-US" sz="1000">
                <a:solidFill>
                  <a:schemeClr val="dk1"/>
                </a:solidFill>
                <a:latin typeface="Times New Roman"/>
                <a:ea typeface="Times New Roman"/>
                <a:cs typeface="Times New Roman"/>
                <a:sym typeface="Times New Roman"/>
              </a:rPr>
              <a:t>• 40% of engineering time is spent on maintenance rather than building new features or shipping roadmap items—this is a systemic drain on productivity</a:t>
            </a:r>
            <a:endParaRPr sz="1000">
              <a:solidFill>
                <a:schemeClr val="dk1"/>
              </a:solidFill>
              <a:latin typeface="Times New Roman"/>
              <a:ea typeface="Times New Roman"/>
              <a:cs typeface="Times New Roman"/>
              <a:sym typeface="Times New Roman"/>
            </a:endParaRPr>
          </a:p>
          <a:p>
            <a:pPr indent="0" lvl="0" marL="457200" rtl="0" algn="l">
              <a:spcBef>
                <a:spcPts val="250"/>
              </a:spcBef>
              <a:spcAft>
                <a:spcPts val="0"/>
              </a:spcAft>
              <a:buClr>
                <a:schemeClr val="dk1"/>
              </a:buClr>
              <a:buSzPts val="1100"/>
              <a:buFont typeface="Arial"/>
              <a:buNone/>
            </a:pPr>
            <a:r>
              <a:rPr lang="en-US" sz="1000">
                <a:solidFill>
                  <a:schemeClr val="dk1"/>
                </a:solidFill>
                <a:latin typeface="Times New Roman"/>
                <a:ea typeface="Times New Roman"/>
                <a:cs typeface="Times New Roman"/>
                <a:sym typeface="Times New Roman"/>
              </a:rPr>
              <a:t>• Maintenance work is unglamorous but necessary: refactoring legacy code, fixing security vulnerabilities, updating deprecated dependencies, handling PR backlogs</a:t>
            </a:r>
            <a:endParaRPr sz="1000">
              <a:solidFill>
                <a:schemeClr val="dk1"/>
              </a:solidFill>
              <a:latin typeface="Times New Roman"/>
              <a:ea typeface="Times New Roman"/>
              <a:cs typeface="Times New Roman"/>
              <a:sym typeface="Times New Roman"/>
            </a:endParaRPr>
          </a:p>
          <a:p>
            <a:pPr indent="0" lvl="0" marL="0" rtl="0" algn="l">
              <a:spcBef>
                <a:spcPts val="750"/>
              </a:spcBef>
              <a:spcAft>
                <a:spcPts val="0"/>
              </a:spcAft>
              <a:buClr>
                <a:schemeClr val="dk1"/>
              </a:buClr>
              <a:buSzPts val="1100"/>
              <a:buFont typeface="Arial"/>
              <a:buNone/>
            </a:pPr>
            <a:r>
              <a:rPr lang="en-US" sz="1200">
                <a:solidFill>
                  <a:srgbClr val="1F4D78"/>
                </a:solidFill>
                <a:latin typeface="Times New Roman"/>
                <a:ea typeface="Times New Roman"/>
                <a:cs typeface="Times New Roman"/>
                <a:sym typeface="Times New Roman"/>
              </a:rPr>
              <a:t>Technical Debt Economics</a:t>
            </a:r>
            <a:endParaRPr sz="1200">
              <a:solidFill>
                <a:srgbClr val="1F4D78"/>
              </a:solidFill>
              <a:latin typeface="Times New Roman"/>
              <a:ea typeface="Times New Roman"/>
              <a:cs typeface="Times New Roman"/>
              <a:sym typeface="Times New Roman"/>
            </a:endParaRPr>
          </a:p>
          <a:p>
            <a:pPr indent="0" lvl="0" marL="457200" rtl="0" algn="l">
              <a:spcBef>
                <a:spcPts val="500"/>
              </a:spcBef>
              <a:spcAft>
                <a:spcPts val="0"/>
              </a:spcAft>
              <a:buClr>
                <a:schemeClr val="dk1"/>
              </a:buClr>
              <a:buSzPts val="1100"/>
              <a:buFont typeface="Arial"/>
              <a:buNone/>
            </a:pPr>
            <a:r>
              <a:rPr lang="en-US" sz="1000">
                <a:solidFill>
                  <a:schemeClr val="dk1"/>
                </a:solidFill>
                <a:latin typeface="Times New Roman"/>
                <a:ea typeface="Times New Roman"/>
                <a:cs typeface="Times New Roman"/>
                <a:sym typeface="Times New Roman"/>
              </a:rPr>
              <a:t>• Technical debt has a profound cost to enterprises—not just in slowed velocity, but in risk, compliance exposure, and inability to modernize</a:t>
            </a:r>
            <a:endParaRPr sz="1000">
              <a:solidFill>
                <a:schemeClr val="dk1"/>
              </a:solidFill>
              <a:latin typeface="Times New Roman"/>
              <a:ea typeface="Times New Roman"/>
              <a:cs typeface="Times New Roman"/>
              <a:sym typeface="Times New Roman"/>
            </a:endParaRPr>
          </a:p>
          <a:p>
            <a:pPr indent="0" lvl="0" marL="457200" rtl="0" algn="l">
              <a:spcBef>
                <a:spcPts val="250"/>
              </a:spcBef>
              <a:spcAft>
                <a:spcPts val="0"/>
              </a:spcAft>
              <a:buClr>
                <a:schemeClr val="dk1"/>
              </a:buClr>
              <a:buSzPts val="1100"/>
              <a:buFont typeface="Arial"/>
              <a:buNone/>
            </a:pPr>
            <a:r>
              <a:rPr lang="en-US" sz="1000">
                <a:solidFill>
                  <a:schemeClr val="dk1"/>
                </a:solidFill>
                <a:latin typeface="Times New Roman"/>
                <a:ea typeface="Times New Roman"/>
                <a:cs typeface="Times New Roman"/>
                <a:sym typeface="Times New Roman"/>
              </a:rPr>
              <a:t>• Legacy systems (COBOL, older monoliths) require specialized knowledge that's disappearing: 47% of organizations cannot find COBOL developers, 92% plan retirement by 2030</a:t>
            </a:r>
            <a:endParaRPr sz="1000">
              <a:solidFill>
                <a:schemeClr val="dk1"/>
              </a:solidFill>
              <a:latin typeface="Times New Roman"/>
              <a:ea typeface="Times New Roman"/>
              <a:cs typeface="Times New Roman"/>
              <a:sym typeface="Times New Roman"/>
            </a:endParaRPr>
          </a:p>
          <a:p>
            <a:pPr indent="0" lvl="0" marL="457200" rtl="0" algn="l">
              <a:spcBef>
                <a:spcPts val="250"/>
              </a:spcBef>
              <a:spcAft>
                <a:spcPts val="0"/>
              </a:spcAft>
              <a:buClr>
                <a:schemeClr val="dk1"/>
              </a:buClr>
              <a:buSzPts val="1100"/>
              <a:buFont typeface="Arial"/>
              <a:buNone/>
            </a:pPr>
            <a:r>
              <a:rPr lang="en-US" sz="1000">
                <a:solidFill>
                  <a:schemeClr val="dk1"/>
                </a:solidFill>
                <a:latin typeface="Times New Roman"/>
                <a:ea typeface="Times New Roman"/>
                <a:cs typeface="Times New Roman"/>
                <a:sym typeface="Times New Roman"/>
              </a:rPr>
              <a:t>• Traditional COBOL modernization projects fail 68% of the time—they're complex, risky, and resource-intensive</a:t>
            </a:r>
            <a:endParaRPr sz="1000">
              <a:solidFill>
                <a:schemeClr val="dk1"/>
              </a:solidFill>
              <a:latin typeface="Times New Roman"/>
              <a:ea typeface="Times New Roman"/>
              <a:cs typeface="Times New Roman"/>
              <a:sym typeface="Times New Roman"/>
            </a:endParaRPr>
          </a:p>
          <a:p>
            <a:pPr indent="0" lvl="0" marL="0" rtl="0" algn="l">
              <a:spcBef>
                <a:spcPts val="750"/>
              </a:spcBef>
              <a:spcAft>
                <a:spcPts val="0"/>
              </a:spcAft>
              <a:buClr>
                <a:schemeClr val="dk1"/>
              </a:buClr>
              <a:buSzPts val="1100"/>
              <a:buFont typeface="Arial"/>
              <a:buNone/>
            </a:pPr>
            <a:r>
              <a:rPr lang="en-US" sz="1200">
                <a:solidFill>
                  <a:srgbClr val="1F4D78"/>
                </a:solidFill>
                <a:latin typeface="Times New Roman"/>
                <a:ea typeface="Times New Roman"/>
                <a:cs typeface="Times New Roman"/>
                <a:sym typeface="Times New Roman"/>
              </a:rPr>
              <a:t>Onboarding &amp; Knowledge Gaps</a:t>
            </a:r>
            <a:endParaRPr sz="1200">
              <a:solidFill>
                <a:srgbClr val="1F4D78"/>
              </a:solidFill>
              <a:latin typeface="Times New Roman"/>
              <a:ea typeface="Times New Roman"/>
              <a:cs typeface="Times New Roman"/>
              <a:sym typeface="Times New Roman"/>
            </a:endParaRPr>
          </a:p>
          <a:p>
            <a:pPr indent="0" lvl="0" marL="457200" rtl="0" algn="l">
              <a:spcBef>
                <a:spcPts val="500"/>
              </a:spcBef>
              <a:spcAft>
                <a:spcPts val="0"/>
              </a:spcAft>
              <a:buClr>
                <a:schemeClr val="dk1"/>
              </a:buClr>
              <a:buSzPts val="1100"/>
              <a:buFont typeface="Arial"/>
              <a:buNone/>
            </a:pPr>
            <a:r>
              <a:rPr lang="en-US" sz="1000">
                <a:solidFill>
                  <a:schemeClr val="dk1"/>
                </a:solidFill>
                <a:latin typeface="Times New Roman"/>
                <a:ea typeface="Times New Roman"/>
                <a:cs typeface="Times New Roman"/>
                <a:sym typeface="Times New Roman"/>
              </a:rPr>
              <a:t>• New engineers take months to become productive in large, complex legacy codebases—they must learn undocumented systems, understand business logic embedded in code, and figure out architectural decisions made years ago</a:t>
            </a:r>
            <a:endParaRPr sz="1000">
              <a:solidFill>
                <a:schemeClr val="dk1"/>
              </a:solidFill>
              <a:latin typeface="Times New Roman"/>
              <a:ea typeface="Times New Roman"/>
              <a:cs typeface="Times New Roman"/>
              <a:sym typeface="Times New Roman"/>
            </a:endParaRPr>
          </a:p>
          <a:p>
            <a:pPr indent="0" lvl="0" marL="457200" rtl="0" algn="l">
              <a:spcBef>
                <a:spcPts val="250"/>
              </a:spcBef>
              <a:spcAft>
                <a:spcPts val="0"/>
              </a:spcAft>
              <a:buClr>
                <a:schemeClr val="dk1"/>
              </a:buClr>
              <a:buSzPts val="1100"/>
              <a:buFont typeface="Arial"/>
              <a:buNone/>
            </a:pPr>
            <a:r>
              <a:rPr lang="en-US" sz="1000">
                <a:solidFill>
                  <a:schemeClr val="dk1"/>
                </a:solidFill>
                <a:latin typeface="Times New Roman"/>
                <a:ea typeface="Times New Roman"/>
                <a:cs typeface="Times New Roman"/>
                <a:sym typeface="Times New Roman"/>
              </a:rPr>
              <a:t>• Subject matter experts are bottlenecks: you need them to explain the system, answer questions, and validate changes—pulling them from other work</a:t>
            </a:r>
            <a:endParaRPr sz="1000">
              <a:solidFill>
                <a:schemeClr val="dk1"/>
              </a:solidFill>
              <a:latin typeface="Times New Roman"/>
              <a:ea typeface="Times New Roman"/>
              <a:cs typeface="Times New Roman"/>
              <a:sym typeface="Times New Roman"/>
            </a:endParaRPr>
          </a:p>
          <a:p>
            <a:pPr indent="0" lvl="0" marL="0" rtl="0" algn="l">
              <a:spcBef>
                <a:spcPts val="750"/>
              </a:spcBef>
              <a:spcAft>
                <a:spcPts val="0"/>
              </a:spcAft>
              <a:buClr>
                <a:schemeClr val="dk1"/>
              </a:buClr>
              <a:buSzPts val="1100"/>
              <a:buFont typeface="Arial"/>
              <a:buNone/>
            </a:pPr>
            <a:r>
              <a:rPr lang="en-US" sz="1200">
                <a:solidFill>
                  <a:srgbClr val="1F4D78"/>
                </a:solidFill>
                <a:latin typeface="Times New Roman"/>
                <a:ea typeface="Times New Roman"/>
                <a:cs typeface="Times New Roman"/>
                <a:sym typeface="Times New Roman"/>
              </a:rPr>
              <a:t>Why Headcount Doesn't Solve This</a:t>
            </a:r>
            <a:endParaRPr sz="1200">
              <a:solidFill>
                <a:srgbClr val="1F4D78"/>
              </a:solidFill>
              <a:latin typeface="Times New Roman"/>
              <a:ea typeface="Times New Roman"/>
              <a:cs typeface="Times New Roman"/>
              <a:sym typeface="Times New Roman"/>
            </a:endParaRPr>
          </a:p>
          <a:p>
            <a:pPr indent="0" lvl="0" marL="457200" rtl="0" algn="l">
              <a:spcBef>
                <a:spcPts val="500"/>
              </a:spcBef>
              <a:spcAft>
                <a:spcPts val="0"/>
              </a:spcAft>
              <a:buClr>
                <a:schemeClr val="dk1"/>
              </a:buClr>
              <a:buSzPts val="1100"/>
              <a:buFont typeface="Arial"/>
              <a:buNone/>
            </a:pPr>
            <a:r>
              <a:rPr lang="en-US" sz="1000">
                <a:solidFill>
                  <a:schemeClr val="dk1"/>
                </a:solidFill>
                <a:latin typeface="Times New Roman"/>
                <a:ea typeface="Times New Roman"/>
                <a:cs typeface="Times New Roman"/>
                <a:sym typeface="Times New Roman"/>
              </a:rPr>
              <a:t>• Hiring more engineers doesn't automatically reduce the percentage of time spent on maintenance—it just scales the problem</a:t>
            </a:r>
            <a:endParaRPr sz="1000">
              <a:solidFill>
                <a:schemeClr val="dk1"/>
              </a:solidFill>
              <a:latin typeface="Times New Roman"/>
              <a:ea typeface="Times New Roman"/>
              <a:cs typeface="Times New Roman"/>
              <a:sym typeface="Times New Roman"/>
            </a:endParaRPr>
          </a:p>
          <a:p>
            <a:pPr indent="0" lvl="0" marL="457200" rtl="0" algn="l">
              <a:spcBef>
                <a:spcPts val="250"/>
              </a:spcBef>
              <a:spcAft>
                <a:spcPts val="0"/>
              </a:spcAft>
              <a:buClr>
                <a:schemeClr val="dk1"/>
              </a:buClr>
              <a:buSzPts val="1100"/>
              <a:buFont typeface="Arial"/>
              <a:buNone/>
            </a:pPr>
            <a:r>
              <a:rPr lang="en-US" sz="1000">
                <a:solidFill>
                  <a:schemeClr val="dk1"/>
                </a:solidFill>
                <a:latin typeface="Times New Roman"/>
                <a:ea typeface="Times New Roman"/>
                <a:cs typeface="Times New Roman"/>
                <a:sym typeface="Times New Roman"/>
              </a:rPr>
              <a:t>• New hires still need to be onboarded, managed, and coordinated. The cost-per-engineer increases, but productivity gains diminish</a:t>
            </a:r>
            <a:endParaRPr sz="1000">
              <a:solidFill>
                <a:schemeClr val="dk1"/>
              </a:solidFill>
              <a:latin typeface="Times New Roman"/>
              <a:ea typeface="Times New Roman"/>
              <a:cs typeface="Times New Roman"/>
              <a:sym typeface="Times New Roman"/>
            </a:endParaRPr>
          </a:p>
          <a:p>
            <a:pPr indent="0" lvl="0" marL="457200" rtl="0" algn="l">
              <a:spcBef>
                <a:spcPts val="250"/>
              </a:spcBef>
              <a:spcAft>
                <a:spcPts val="0"/>
              </a:spcAft>
              <a:buClr>
                <a:schemeClr val="dk1"/>
              </a:buClr>
              <a:buSzPts val="1100"/>
              <a:buFont typeface="Arial"/>
              <a:buNone/>
            </a:pPr>
            <a:r>
              <a:rPr lang="en-US" sz="1000">
                <a:solidFill>
                  <a:schemeClr val="dk1"/>
                </a:solidFill>
                <a:latin typeface="Times New Roman"/>
                <a:ea typeface="Times New Roman"/>
                <a:cs typeface="Times New Roman"/>
                <a:sym typeface="Times New Roman"/>
              </a:rPr>
              <a:t>• You need a multiplier on engineer capability and time allocation, not just more engineers</a:t>
            </a:r>
            <a:endParaRPr sz="1000">
              <a:solidFill>
                <a:schemeClr val="dk1"/>
              </a:solidFill>
              <a:latin typeface="Times New Roman"/>
              <a:ea typeface="Times New Roman"/>
              <a:cs typeface="Times New Roman"/>
              <a:sym typeface="Times New Roman"/>
            </a:endParaRPr>
          </a:p>
          <a:p>
            <a:pPr indent="0" lvl="0" marL="0" rtl="0" algn="l">
              <a:spcBef>
                <a:spcPts val="1500"/>
              </a:spcBef>
              <a:spcAft>
                <a:spcPts val="0"/>
              </a:spcAft>
              <a:buNone/>
            </a:pPr>
            <a:r>
              <a:t/>
            </a:r>
            <a:endParaRPr/>
          </a:p>
        </p:txBody>
      </p:sp>
      <p:sp>
        <p:nvSpPr>
          <p:cNvPr id="164" name="Google Shape;164;h45b0e18ed2441d3a_0_3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3" name="Google Shape;183;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200">
                <a:solidFill>
                  <a:srgbClr val="1F4D78"/>
                </a:solidFill>
                <a:latin typeface="Times New Roman"/>
                <a:ea typeface="Times New Roman"/>
                <a:cs typeface="Times New Roman"/>
                <a:sym typeface="Times New Roman"/>
              </a:rPr>
              <a:t>Reactive vs. Proactive Culture</a:t>
            </a:r>
            <a:endParaRPr sz="1200">
              <a:solidFill>
                <a:srgbClr val="1F4D78"/>
              </a:solidFill>
              <a:latin typeface="Times New Roman"/>
              <a:ea typeface="Times New Roman"/>
              <a:cs typeface="Times New Roman"/>
              <a:sym typeface="Times New Roman"/>
            </a:endParaRPr>
          </a:p>
          <a:p>
            <a:pPr indent="0" lvl="0" marL="457200" rtl="0" algn="l">
              <a:spcBef>
                <a:spcPts val="500"/>
              </a:spcBef>
              <a:spcAft>
                <a:spcPts val="0"/>
              </a:spcAft>
              <a:buClr>
                <a:schemeClr val="dk1"/>
              </a:buClr>
              <a:buSzPts val="1100"/>
              <a:buFont typeface="Arial"/>
              <a:buNone/>
            </a:pPr>
            <a:r>
              <a:rPr lang="en-US" sz="1200">
                <a:solidFill>
                  <a:schemeClr val="dk1"/>
                </a:solidFill>
                <a:latin typeface="Times New Roman"/>
                <a:ea typeface="Times New Roman"/>
                <a:cs typeface="Times New Roman"/>
                <a:sym typeface="Times New Roman"/>
              </a:rPr>
              <a:t>• Teams are trapped in reactive mode: fighting fires, fixing bugs, addressing urgent requests—leaving little bandwidth for strategic roadmap work</a:t>
            </a:r>
            <a:endParaRPr sz="1200">
              <a:solidFill>
                <a:schemeClr val="dk1"/>
              </a:solidFill>
              <a:latin typeface="Times New Roman"/>
              <a:ea typeface="Times New Roman"/>
              <a:cs typeface="Times New Roman"/>
              <a:sym typeface="Times New Roman"/>
            </a:endParaRPr>
          </a:p>
          <a:p>
            <a:pPr indent="0" lvl="0" marL="457200" rtl="0" algn="l">
              <a:spcBef>
                <a:spcPts val="250"/>
              </a:spcBef>
              <a:spcAft>
                <a:spcPts val="0"/>
              </a:spcAft>
              <a:buClr>
                <a:schemeClr val="dk1"/>
              </a:buClr>
              <a:buSzPts val="1100"/>
              <a:buFont typeface="Arial"/>
              <a:buNone/>
            </a:pPr>
            <a:r>
              <a:rPr lang="en-US" sz="1200">
                <a:solidFill>
                  <a:schemeClr val="dk1"/>
                </a:solidFill>
                <a:latin typeface="Times New Roman"/>
                <a:ea typeface="Times New Roman"/>
                <a:cs typeface="Times New Roman"/>
                <a:sym typeface="Times New Roman"/>
              </a:rPr>
              <a:t>• Maintenance work expands to fill the available time, crowding out innovation and long-term strategic initiatives</a:t>
            </a:r>
            <a:endParaRPr sz="1200">
              <a:solidFill>
                <a:schemeClr val="dk1"/>
              </a:solidFill>
              <a:latin typeface="Times New Roman"/>
              <a:ea typeface="Times New Roman"/>
              <a:cs typeface="Times New Roman"/>
              <a:sym typeface="Times New Roman"/>
            </a:endParaRPr>
          </a:p>
          <a:p>
            <a:pPr indent="0" lvl="0" marL="0" rtl="0" algn="l">
              <a:spcBef>
                <a:spcPts val="750"/>
              </a:spcBef>
              <a:spcAft>
                <a:spcPts val="0"/>
              </a:spcAft>
              <a:buClr>
                <a:schemeClr val="dk1"/>
              </a:buClr>
              <a:buSzPts val="1100"/>
              <a:buFont typeface="Arial"/>
              <a:buNone/>
            </a:pPr>
            <a:r>
              <a:rPr lang="en-US" sz="1200">
                <a:solidFill>
                  <a:srgbClr val="1F4D78"/>
                </a:solidFill>
                <a:latin typeface="Times New Roman"/>
                <a:ea typeface="Times New Roman"/>
                <a:cs typeface="Times New Roman"/>
                <a:sym typeface="Times New Roman"/>
              </a:rPr>
              <a:t>Execution Bottleneck</a:t>
            </a:r>
            <a:endParaRPr sz="1200">
              <a:solidFill>
                <a:srgbClr val="1F4D78"/>
              </a:solidFill>
              <a:latin typeface="Times New Roman"/>
              <a:ea typeface="Times New Roman"/>
              <a:cs typeface="Times New Roman"/>
              <a:sym typeface="Times New Roman"/>
            </a:endParaRPr>
          </a:p>
          <a:p>
            <a:pPr indent="0" lvl="0" marL="457200" rtl="0" algn="l">
              <a:spcBef>
                <a:spcPts val="500"/>
              </a:spcBef>
              <a:spcAft>
                <a:spcPts val="0"/>
              </a:spcAft>
              <a:buClr>
                <a:schemeClr val="dk1"/>
              </a:buClr>
              <a:buSzPts val="1100"/>
              <a:buFont typeface="Arial"/>
              <a:buNone/>
            </a:pPr>
            <a:r>
              <a:rPr lang="en-US" sz="1200">
                <a:solidFill>
                  <a:schemeClr val="dk1"/>
                </a:solidFill>
                <a:latin typeface="Times New Roman"/>
                <a:ea typeface="Times New Roman"/>
                <a:cs typeface="Times New Roman"/>
                <a:sym typeface="Times New Roman"/>
              </a:rPr>
              <a:t>• The real constraint is not ideas or strategy—it's execution capacity. Teams have roadmaps they can't ship because they don't have the engineering bandwidth</a:t>
            </a:r>
            <a:endParaRPr sz="1200">
              <a:solidFill>
                <a:schemeClr val="dk1"/>
              </a:solidFill>
              <a:latin typeface="Times New Roman"/>
              <a:ea typeface="Times New Roman"/>
              <a:cs typeface="Times New Roman"/>
              <a:sym typeface="Times New Roman"/>
            </a:endParaRPr>
          </a:p>
          <a:p>
            <a:pPr indent="0" lvl="0" marL="457200" rtl="0" algn="l">
              <a:spcBef>
                <a:spcPts val="250"/>
              </a:spcBef>
              <a:spcAft>
                <a:spcPts val="0"/>
              </a:spcAft>
              <a:buClr>
                <a:schemeClr val="dk1"/>
              </a:buClr>
              <a:buSzPts val="1100"/>
              <a:buFont typeface="Arial"/>
              <a:buNone/>
            </a:pPr>
            <a:r>
              <a:rPr lang="en-US" sz="1200">
                <a:solidFill>
                  <a:schemeClr val="dk1"/>
                </a:solidFill>
                <a:latin typeface="Times New Roman"/>
                <a:ea typeface="Times New Roman"/>
                <a:cs typeface="Times New Roman"/>
                <a:sym typeface="Times New Roman"/>
              </a:rPr>
              <a:t>• Headcount constraints are real: hiring is expensive, long-term, and doesn't immediately increase productive capacity</a:t>
            </a:r>
            <a:endParaRPr sz="1200">
              <a:solidFill>
                <a:schemeClr val="dk1"/>
              </a:solidFill>
              <a:latin typeface="Times New Roman"/>
              <a:ea typeface="Times New Roman"/>
              <a:cs typeface="Times New Roman"/>
              <a:sym typeface="Times New Roman"/>
            </a:endParaRPr>
          </a:p>
          <a:p>
            <a:pPr indent="0" lvl="0" marL="457200" rtl="0" algn="l">
              <a:spcBef>
                <a:spcPts val="250"/>
              </a:spcBef>
              <a:spcAft>
                <a:spcPts val="0"/>
              </a:spcAft>
              <a:buClr>
                <a:schemeClr val="dk1"/>
              </a:buClr>
              <a:buSzPts val="1100"/>
              <a:buFont typeface="Arial"/>
              <a:buNone/>
            </a:pPr>
            <a:r>
              <a:rPr lang="en-US" sz="1200">
                <a:solidFill>
                  <a:schemeClr val="dk1"/>
                </a:solidFill>
                <a:latin typeface="Times New Roman"/>
                <a:ea typeface="Times New Roman"/>
                <a:cs typeface="Times New Roman"/>
                <a:sym typeface="Times New Roman"/>
              </a:rPr>
              <a:t>• CTOs are looking for ways to multiply the output of their existing team, not just hire more people</a:t>
            </a:r>
            <a:endParaRPr sz="1200">
              <a:solidFill>
                <a:schemeClr val="dk1"/>
              </a:solidFill>
              <a:latin typeface="Times New Roman"/>
              <a:ea typeface="Times New Roman"/>
              <a:cs typeface="Times New Roman"/>
              <a:sym typeface="Times New Roman"/>
            </a:endParaRPr>
          </a:p>
          <a:p>
            <a:pPr indent="0" lvl="0" marL="0" rtl="0" algn="l">
              <a:spcBef>
                <a:spcPts val="750"/>
              </a:spcBef>
              <a:spcAft>
                <a:spcPts val="0"/>
              </a:spcAft>
              <a:buClr>
                <a:schemeClr val="dk1"/>
              </a:buClr>
              <a:buSzPts val="1100"/>
              <a:buFont typeface="Arial"/>
              <a:buNone/>
            </a:pPr>
            <a:r>
              <a:rPr lang="en-US" sz="1200">
                <a:solidFill>
                  <a:srgbClr val="1F4D78"/>
                </a:solidFill>
                <a:latin typeface="Times New Roman"/>
                <a:ea typeface="Times New Roman"/>
                <a:cs typeface="Times New Roman"/>
                <a:sym typeface="Times New Roman"/>
              </a:rPr>
              <a:t>Compounding Technical Debt</a:t>
            </a:r>
            <a:endParaRPr sz="1200">
              <a:solidFill>
                <a:srgbClr val="1F4D78"/>
              </a:solidFill>
              <a:latin typeface="Times New Roman"/>
              <a:ea typeface="Times New Roman"/>
              <a:cs typeface="Times New Roman"/>
              <a:sym typeface="Times New Roman"/>
            </a:endParaRPr>
          </a:p>
          <a:p>
            <a:pPr indent="0" lvl="0" marL="457200" rtl="0" algn="l">
              <a:spcBef>
                <a:spcPts val="500"/>
              </a:spcBef>
              <a:spcAft>
                <a:spcPts val="0"/>
              </a:spcAft>
              <a:buClr>
                <a:schemeClr val="dk1"/>
              </a:buClr>
              <a:buSzPts val="1100"/>
              <a:buFont typeface="Arial"/>
              <a:buNone/>
            </a:pPr>
            <a:r>
              <a:rPr lang="en-US" sz="1200">
                <a:solidFill>
                  <a:schemeClr val="dk1"/>
                </a:solidFill>
                <a:latin typeface="Times New Roman"/>
                <a:ea typeface="Times New Roman"/>
                <a:cs typeface="Times New Roman"/>
                <a:sym typeface="Times New Roman"/>
              </a:rPr>
              <a:t>• Technical debt doesn't stay static—it compounds. Delayed refactoring makes systems harder to modify, slowing velocity further</a:t>
            </a:r>
            <a:endParaRPr sz="1200">
              <a:solidFill>
                <a:schemeClr val="dk1"/>
              </a:solidFill>
              <a:latin typeface="Times New Roman"/>
              <a:ea typeface="Times New Roman"/>
              <a:cs typeface="Times New Roman"/>
              <a:sym typeface="Times New Roman"/>
            </a:endParaRPr>
          </a:p>
          <a:p>
            <a:pPr indent="0" lvl="0" marL="457200" rtl="0" algn="l">
              <a:spcBef>
                <a:spcPts val="250"/>
              </a:spcBef>
              <a:spcAft>
                <a:spcPts val="0"/>
              </a:spcAft>
              <a:buClr>
                <a:schemeClr val="dk1"/>
              </a:buClr>
              <a:buSzPts val="1100"/>
              <a:buFont typeface="Arial"/>
              <a:buNone/>
            </a:pPr>
            <a:r>
              <a:rPr lang="en-US" sz="1200">
                <a:solidFill>
                  <a:schemeClr val="dk1"/>
                </a:solidFill>
                <a:latin typeface="Times New Roman"/>
                <a:ea typeface="Times New Roman"/>
                <a:cs typeface="Times New Roman"/>
                <a:sym typeface="Times New Roman"/>
              </a:rPr>
              <a:t>• This creates a vicious cycle: more debt means slower development, which means less time to address debt, which means more debt accumulates</a:t>
            </a:r>
            <a:endParaRPr sz="1200">
              <a:solidFill>
                <a:schemeClr val="dk1"/>
              </a:solidFill>
              <a:latin typeface="Times New Roman"/>
              <a:ea typeface="Times New Roman"/>
              <a:cs typeface="Times New Roman"/>
              <a:sym typeface="Times New Roman"/>
            </a:endParaRPr>
          </a:p>
          <a:p>
            <a:pPr indent="0" lvl="0" marL="457200" rtl="0" algn="l">
              <a:spcBef>
                <a:spcPts val="250"/>
              </a:spcBef>
              <a:spcAft>
                <a:spcPts val="0"/>
              </a:spcAft>
              <a:buNone/>
            </a:pPr>
            <a:r>
              <a:rPr lang="en-US" sz="1200">
                <a:solidFill>
                  <a:schemeClr val="dk1"/>
                </a:solidFill>
                <a:latin typeface="Times New Roman"/>
                <a:ea typeface="Times New Roman"/>
                <a:cs typeface="Times New Roman"/>
                <a:sym typeface="Times New Roman"/>
              </a:rPr>
              <a:t>• Engineering leaders feel the urgency but lack the resources to break the cycle</a:t>
            </a:r>
            <a:endParaRPr sz="1200"/>
          </a:p>
          <a:p>
            <a:pPr indent="0" lvl="0" marL="0" rtl="0" algn="l">
              <a:spcBef>
                <a:spcPts val="1500"/>
              </a:spcBef>
              <a:spcAft>
                <a:spcPts val="0"/>
              </a:spcAft>
              <a:buNone/>
            </a:pPr>
            <a:r>
              <a:t/>
            </a:r>
            <a:endParaRPr/>
          </a:p>
          <a:p>
            <a:pPr indent="0" lvl="0" marL="0" rtl="0" algn="l">
              <a:spcBef>
                <a:spcPts val="0"/>
              </a:spcBef>
              <a:spcAft>
                <a:spcPts val="0"/>
              </a:spcAft>
              <a:buNone/>
            </a:pPr>
            <a:r>
              <a:rPr lang="en-US"/>
              <a:t>Bridge: 'Does any of this resonate? Which one is loudest for you?' Do not move on until they have picked at least one. Their pick becomes the anchor for the rest of the deck.</a:t>
            </a:r>
            <a:endParaRPr/>
          </a:p>
        </p:txBody>
      </p:sp>
      <p:sp>
        <p:nvSpPr>
          <p:cNvPr id="184" name="Google Shape;184;p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7" name="Google Shape;217;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Ask the CTO: 'How many of your open tickets could be handed to a capable junior engineer with a clear spec?' That is the addressable pool.</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US" sz="1300">
                <a:solidFill>
                  <a:schemeClr val="dk1"/>
                </a:solidFill>
                <a:latin typeface="Times New Roman"/>
                <a:ea typeface="Times New Roman"/>
                <a:cs typeface="Times New Roman"/>
                <a:sym typeface="Times New Roman"/>
              </a:rPr>
              <a:t>Gen 1: AI Copilots (Autocomplete)</a:t>
            </a:r>
            <a:endParaRPr sz="1300">
              <a:solidFill>
                <a:schemeClr val="dk1"/>
              </a:solidFill>
              <a:latin typeface="Times New Roman"/>
              <a:ea typeface="Times New Roman"/>
              <a:cs typeface="Times New Roman"/>
              <a:sym typeface="Times New Roman"/>
            </a:endParaRPr>
          </a:p>
          <a:p>
            <a:pPr indent="0" lvl="0" marL="457200" rtl="0" algn="l">
              <a:spcBef>
                <a:spcPts val="500"/>
              </a:spcBef>
              <a:spcAft>
                <a:spcPts val="0"/>
              </a:spcAft>
              <a:buClr>
                <a:schemeClr val="dk1"/>
              </a:buClr>
              <a:buSzPts val="1100"/>
              <a:buFont typeface="Arial"/>
              <a:buNone/>
            </a:pPr>
            <a:r>
              <a:rPr lang="en-US" sz="1300">
                <a:solidFill>
                  <a:schemeClr val="dk1"/>
                </a:solidFill>
                <a:latin typeface="Times New Roman"/>
                <a:ea typeface="Times New Roman"/>
                <a:cs typeface="Times New Roman"/>
                <a:sym typeface="Times New Roman"/>
              </a:rPr>
              <a:t>• These assist individual developers in real-time within their IDE—providing code suggestions, completing variable names, generating simple functions</a:t>
            </a:r>
            <a:endParaRPr sz="1300">
              <a:solidFill>
                <a:schemeClr val="dk1"/>
              </a:solidFill>
              <a:latin typeface="Times New Roman"/>
              <a:ea typeface="Times New Roman"/>
              <a:cs typeface="Times New Roman"/>
              <a:sym typeface="Times New Roman"/>
            </a:endParaRPr>
          </a:p>
          <a:p>
            <a:pPr indent="0" lvl="0" marL="457200" rtl="0" algn="l">
              <a:spcBef>
                <a:spcPts val="250"/>
              </a:spcBef>
              <a:spcAft>
                <a:spcPts val="0"/>
              </a:spcAft>
              <a:buClr>
                <a:schemeClr val="dk1"/>
              </a:buClr>
              <a:buSzPts val="1100"/>
              <a:buFont typeface="Arial"/>
              <a:buNone/>
            </a:pPr>
            <a:r>
              <a:rPr lang="en-US" sz="1300">
                <a:solidFill>
                  <a:schemeClr val="dk1"/>
                </a:solidFill>
                <a:latin typeface="Times New Roman"/>
                <a:ea typeface="Times New Roman"/>
                <a:cs typeface="Times New Roman"/>
                <a:sym typeface="Times New Roman"/>
              </a:rPr>
              <a:t>• They amplify the skills of experienced developers but require a human to direct every step: write the spec, review the suggestion, validate the output, run tests, handle failures</a:t>
            </a:r>
            <a:endParaRPr sz="1300">
              <a:solidFill>
                <a:schemeClr val="dk1"/>
              </a:solidFill>
              <a:latin typeface="Times New Roman"/>
              <a:ea typeface="Times New Roman"/>
              <a:cs typeface="Times New Roman"/>
              <a:sym typeface="Times New Roman"/>
            </a:endParaRPr>
          </a:p>
          <a:p>
            <a:pPr indent="0" lvl="0" marL="457200" rtl="0" algn="l">
              <a:spcBef>
                <a:spcPts val="250"/>
              </a:spcBef>
              <a:spcAft>
                <a:spcPts val="0"/>
              </a:spcAft>
              <a:buClr>
                <a:schemeClr val="dk1"/>
              </a:buClr>
              <a:buSzPts val="1100"/>
              <a:buFont typeface="Arial"/>
              <a:buNone/>
            </a:pPr>
            <a:r>
              <a:rPr lang="en-US" sz="1300">
                <a:solidFill>
                  <a:schemeClr val="dk1"/>
                </a:solidFill>
                <a:latin typeface="Times New Roman"/>
                <a:ea typeface="Times New Roman"/>
                <a:cs typeface="Times New Roman"/>
                <a:sym typeface="Times New Roman"/>
              </a:rPr>
              <a:t>• Useful for individual productivity but doesn't solve the team bottleneck or free up senior engineers to focus on higher-value work</a:t>
            </a:r>
            <a:endParaRPr sz="1300">
              <a:solidFill>
                <a:schemeClr val="dk1"/>
              </a:solidFill>
              <a:latin typeface="Times New Roman"/>
              <a:ea typeface="Times New Roman"/>
              <a:cs typeface="Times New Roman"/>
              <a:sym typeface="Times New Roman"/>
            </a:endParaRPr>
          </a:p>
          <a:p>
            <a:pPr indent="0" lvl="0" marL="0" rtl="0" algn="l">
              <a:spcBef>
                <a:spcPts val="750"/>
              </a:spcBef>
              <a:spcAft>
                <a:spcPts val="0"/>
              </a:spcAft>
              <a:buClr>
                <a:schemeClr val="dk1"/>
              </a:buClr>
              <a:buSzPts val="1100"/>
              <a:buFont typeface="Arial"/>
              <a:buNone/>
            </a:pPr>
            <a:r>
              <a:rPr lang="en-US" sz="1300">
                <a:solidFill>
                  <a:schemeClr val="dk1"/>
                </a:solidFill>
                <a:latin typeface="Times New Roman"/>
                <a:ea typeface="Times New Roman"/>
                <a:cs typeface="Times New Roman"/>
                <a:sym typeface="Times New Roman"/>
              </a:rPr>
              <a:t>Gen 2: Agentic AI Software Engineers (Devin)</a:t>
            </a:r>
            <a:endParaRPr sz="1300">
              <a:solidFill>
                <a:schemeClr val="dk1"/>
              </a:solidFill>
              <a:latin typeface="Times New Roman"/>
              <a:ea typeface="Times New Roman"/>
              <a:cs typeface="Times New Roman"/>
              <a:sym typeface="Times New Roman"/>
            </a:endParaRPr>
          </a:p>
          <a:p>
            <a:pPr indent="0" lvl="0" marL="457200" rtl="0" algn="l">
              <a:spcBef>
                <a:spcPts val="500"/>
              </a:spcBef>
              <a:spcAft>
                <a:spcPts val="0"/>
              </a:spcAft>
              <a:buClr>
                <a:schemeClr val="dk1"/>
              </a:buClr>
              <a:buSzPts val="1100"/>
              <a:buFont typeface="Arial"/>
              <a:buNone/>
            </a:pPr>
            <a:r>
              <a:rPr lang="en-US" sz="1300">
                <a:solidFill>
                  <a:schemeClr val="dk1"/>
                </a:solidFill>
                <a:latin typeface="Times New Roman"/>
                <a:ea typeface="Times New Roman"/>
                <a:cs typeface="Times New Roman"/>
                <a:sym typeface="Times New Roman"/>
              </a:rPr>
              <a:t>• Devin is not an autocomplete tool. It's an agent you can actually delegate real engineering work to and walk away from</a:t>
            </a:r>
            <a:endParaRPr sz="1300">
              <a:solidFill>
                <a:schemeClr val="dk1"/>
              </a:solidFill>
              <a:latin typeface="Times New Roman"/>
              <a:ea typeface="Times New Roman"/>
              <a:cs typeface="Times New Roman"/>
              <a:sym typeface="Times New Roman"/>
            </a:endParaRPr>
          </a:p>
          <a:p>
            <a:pPr indent="0" lvl="0" marL="457200" rtl="0" algn="l">
              <a:spcBef>
                <a:spcPts val="250"/>
              </a:spcBef>
              <a:spcAft>
                <a:spcPts val="0"/>
              </a:spcAft>
              <a:buClr>
                <a:schemeClr val="dk1"/>
              </a:buClr>
              <a:buSzPts val="1100"/>
              <a:buFont typeface="Arial"/>
              <a:buNone/>
            </a:pPr>
            <a:r>
              <a:rPr lang="en-US" sz="1300">
                <a:solidFill>
                  <a:schemeClr val="dk1"/>
                </a:solidFill>
                <a:latin typeface="Times New Roman"/>
                <a:ea typeface="Times New Roman"/>
                <a:cs typeface="Times New Roman"/>
                <a:sym typeface="Times New Roman"/>
              </a:rPr>
              <a:t>• You tag Devin in Slack/Linear/GitHub with a ticket ("Refactor the auth module" or "Fix security vulnerability XYZ"), and it plans, executes, tests, and opens a PR—autonomously</a:t>
            </a:r>
            <a:endParaRPr sz="1300">
              <a:solidFill>
                <a:schemeClr val="dk1"/>
              </a:solidFill>
              <a:latin typeface="Times New Roman"/>
              <a:ea typeface="Times New Roman"/>
              <a:cs typeface="Times New Roman"/>
              <a:sym typeface="Times New Roman"/>
            </a:endParaRPr>
          </a:p>
          <a:p>
            <a:pPr indent="0" lvl="0" marL="457200" rtl="0" algn="l">
              <a:spcBef>
                <a:spcPts val="250"/>
              </a:spcBef>
              <a:spcAft>
                <a:spcPts val="0"/>
              </a:spcAft>
              <a:buClr>
                <a:schemeClr val="dk1"/>
              </a:buClr>
              <a:buSzPts val="1100"/>
              <a:buFont typeface="Arial"/>
              <a:buNone/>
            </a:pPr>
            <a:r>
              <a:rPr lang="en-US" sz="1300">
                <a:solidFill>
                  <a:schemeClr val="dk1"/>
                </a:solidFill>
                <a:latin typeface="Times New Roman"/>
                <a:ea typeface="Times New Roman"/>
                <a:cs typeface="Times New Roman"/>
                <a:sym typeface="Times New Roman"/>
              </a:rPr>
              <a:t>• Devin reads your codebase, understands your architecture, drafts an editable plan, executes code in an isolated sandbox, fixes failing CI/tests, self-reviews, and delivers a production-ready PR</a:t>
            </a:r>
            <a:endParaRPr sz="1300">
              <a:solidFill>
                <a:schemeClr val="dk1"/>
              </a:solidFill>
              <a:latin typeface="Times New Roman"/>
              <a:ea typeface="Times New Roman"/>
              <a:cs typeface="Times New Roman"/>
              <a:sym typeface="Times New Roman"/>
            </a:endParaRPr>
          </a:p>
          <a:p>
            <a:pPr indent="0" lvl="0" marL="457200" rtl="0" algn="l">
              <a:spcBef>
                <a:spcPts val="250"/>
              </a:spcBef>
              <a:spcAft>
                <a:spcPts val="0"/>
              </a:spcAft>
              <a:buClr>
                <a:schemeClr val="dk1"/>
              </a:buClr>
              <a:buSzPts val="1100"/>
              <a:buFont typeface="Arial"/>
              <a:buNone/>
            </a:pPr>
            <a:r>
              <a:rPr lang="en-US" sz="1300">
                <a:solidFill>
                  <a:schemeClr val="dk1"/>
                </a:solidFill>
                <a:latin typeface="Times New Roman"/>
                <a:ea typeface="Times New Roman"/>
                <a:cs typeface="Times New Roman"/>
                <a:sym typeface="Times New Roman"/>
              </a:rPr>
              <a:t>• Runs async across your environment—doesn't require hand-holding or continuous supervision. Engineers can review the PR and merge it</a:t>
            </a:r>
            <a:endParaRPr sz="1300">
              <a:solidFill>
                <a:schemeClr val="dk1"/>
              </a:solidFill>
              <a:latin typeface="Times New Roman"/>
              <a:ea typeface="Times New Roman"/>
              <a:cs typeface="Times New Roman"/>
              <a:sym typeface="Times New Roman"/>
            </a:endParaRPr>
          </a:p>
          <a:p>
            <a:pPr indent="0" lvl="0" marL="0" rtl="0" algn="l">
              <a:spcBef>
                <a:spcPts val="750"/>
              </a:spcBef>
              <a:spcAft>
                <a:spcPts val="0"/>
              </a:spcAft>
              <a:buNone/>
            </a:pPr>
            <a:r>
              <a:t/>
            </a:r>
            <a:endParaRPr/>
          </a:p>
        </p:txBody>
      </p:sp>
      <p:sp>
        <p:nvSpPr>
          <p:cNvPr id="218" name="Google Shape;218;p1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1" name="Google Shape;241;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If demoing live, this is the moment. Otherwise, walk a concrete example: 'Add is_debug() helper to a framework, with tests.' Emphasize the PR is the unit of delivery.</a:t>
            </a:r>
            <a:endParaRPr/>
          </a:p>
          <a:p>
            <a:pPr indent="0" lvl="0" marL="0" rtl="0" algn="l">
              <a:spcBef>
                <a:spcPts val="0"/>
              </a:spcBef>
              <a:spcAft>
                <a:spcPts val="0"/>
              </a:spcAft>
              <a:buNone/>
            </a:pPr>
            <a:r>
              <a:t/>
            </a:r>
            <a:endParaRPr/>
          </a:p>
          <a:p>
            <a:pPr indent="-323850" lvl="0" marL="457200" rtl="0" algn="l">
              <a:lnSpc>
                <a:spcPct val="115000"/>
              </a:lnSpc>
              <a:spcBef>
                <a:spcPts val="0"/>
              </a:spcBef>
              <a:spcAft>
                <a:spcPts val="0"/>
              </a:spcAft>
              <a:buClr>
                <a:schemeClr val="dk1"/>
              </a:buClr>
              <a:buSzPts val="1500"/>
              <a:buChar char="●"/>
            </a:pPr>
            <a:r>
              <a:rPr lang="en-US" sz="1500">
                <a:solidFill>
                  <a:schemeClr val="dk1"/>
                </a:solidFill>
              </a:rPr>
              <a:t>Devin is Cognition's AI software engineer - an agent you can actually delegate a real engineering task to.</a:t>
            </a:r>
            <a:endParaRPr sz="1500">
              <a:solidFill>
                <a:schemeClr val="dk1"/>
              </a:solidFill>
            </a:endParaRPr>
          </a:p>
          <a:p>
            <a:pPr indent="-317500" lvl="1" marL="914400" rtl="0" algn="l">
              <a:lnSpc>
                <a:spcPct val="115000"/>
              </a:lnSpc>
              <a:spcBef>
                <a:spcPts val="0"/>
              </a:spcBef>
              <a:spcAft>
                <a:spcPts val="0"/>
              </a:spcAft>
              <a:buClr>
                <a:schemeClr val="dk1"/>
              </a:buClr>
              <a:buSzPts val="1400"/>
              <a:buChar char="○"/>
            </a:pPr>
            <a:r>
              <a:rPr lang="en-US">
                <a:solidFill>
                  <a:schemeClr val="dk1"/>
                </a:solidFill>
              </a:rPr>
              <a:t>It is a fully autonomous, cloud-based agent. what that means in practice is…you hand it a task — via chat, Slack, Linear, Jira, GitHub, or the API — and it works asynchronously in its own sandboxed environment (Linux shell, code editor, browser), planning, writing, testing, and shipping a pull request without a human watching every step.</a:t>
            </a:r>
            <a:endParaRPr sz="1500">
              <a:solidFill>
                <a:schemeClr val="dk1"/>
              </a:solidFill>
            </a:endParaRPr>
          </a:p>
          <a:p>
            <a:pPr indent="-323850" lvl="1" marL="914400" rtl="0" algn="l">
              <a:lnSpc>
                <a:spcPct val="115000"/>
              </a:lnSpc>
              <a:spcBef>
                <a:spcPts val="0"/>
              </a:spcBef>
              <a:spcAft>
                <a:spcPts val="0"/>
              </a:spcAft>
              <a:buClr>
                <a:schemeClr val="dk1"/>
              </a:buClr>
              <a:buSzPts val="1500"/>
              <a:buChar char="○"/>
            </a:pPr>
            <a:r>
              <a:rPr lang="en-US" sz="1500">
                <a:solidFill>
                  <a:schemeClr val="dk1"/>
                </a:solidFill>
              </a:rPr>
              <a:t>It plans the work, writes the code, tests it, and opens a pull request inside your existing GitHub, Slack, and Linear workflows — the same way a new hire would. </a:t>
            </a:r>
            <a:endParaRPr sz="1500">
              <a:solidFill>
                <a:schemeClr val="dk1"/>
              </a:solidFill>
            </a:endParaRPr>
          </a:p>
          <a:p>
            <a:pPr indent="0" lvl="0" marL="0" rtl="0" algn="l">
              <a:spcBef>
                <a:spcPts val="1500"/>
              </a:spcBef>
              <a:spcAft>
                <a:spcPts val="0"/>
              </a:spcAft>
              <a:buNone/>
            </a:pPr>
            <a:r>
              <a:t/>
            </a:r>
            <a:endParaRPr/>
          </a:p>
        </p:txBody>
      </p:sp>
      <p:sp>
        <p:nvSpPr>
          <p:cNvPr id="242" name="Google Shape;242;p1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9" name="Google Shape;269;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Frame: Desktop is for the engineer in the loop; Devin is for the work you want off your plate. Most customers start with Devin on a well-defined class of tasks.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304800" lvl="0" marL="457200" rtl="0" algn="l">
              <a:lnSpc>
                <a:spcPct val="115000"/>
              </a:lnSpc>
              <a:spcBef>
                <a:spcPts val="0"/>
              </a:spcBef>
              <a:spcAft>
                <a:spcPts val="0"/>
              </a:spcAft>
              <a:buClr>
                <a:schemeClr val="dk1"/>
              </a:buClr>
              <a:buSzPts val="1200"/>
              <a:buChar char="●"/>
            </a:pPr>
            <a:r>
              <a:rPr lang="en-US" sz="1200">
                <a:solidFill>
                  <a:schemeClr val="dk1"/>
                </a:solidFill>
              </a:rPr>
              <a:t>And it's not just Devin the cloud agent — it's a full platform: </a:t>
            </a:r>
            <a:endParaRPr sz="1200">
              <a:solidFill>
                <a:schemeClr val="dk1"/>
              </a:solidFill>
            </a:endParaRPr>
          </a:p>
          <a:p>
            <a:pPr indent="-304800" lvl="1" marL="914400" rtl="0" algn="l">
              <a:lnSpc>
                <a:spcPct val="115000"/>
              </a:lnSpc>
              <a:spcBef>
                <a:spcPts val="0"/>
              </a:spcBef>
              <a:spcAft>
                <a:spcPts val="0"/>
              </a:spcAft>
              <a:buClr>
                <a:schemeClr val="dk1"/>
              </a:buClr>
              <a:buSzPts val="1200"/>
              <a:buChar char="○"/>
            </a:pPr>
            <a:r>
              <a:rPr lang="en-US" sz="1200">
                <a:solidFill>
                  <a:schemeClr val="dk1"/>
                </a:solidFill>
              </a:rPr>
              <a:t>Devin Desktop for local development with the Agent Command Center so you can manage local and cloud based agents, PRs in one place.</a:t>
            </a:r>
            <a:endParaRPr sz="1200">
              <a:solidFill>
                <a:schemeClr val="dk1"/>
              </a:solidFill>
            </a:endParaRPr>
          </a:p>
          <a:p>
            <a:pPr indent="-304800" lvl="1" marL="914400" rtl="0" algn="l">
              <a:lnSpc>
                <a:spcPct val="115000"/>
              </a:lnSpc>
              <a:spcBef>
                <a:spcPts val="0"/>
              </a:spcBef>
              <a:spcAft>
                <a:spcPts val="0"/>
              </a:spcAft>
              <a:buClr>
                <a:schemeClr val="dk1"/>
              </a:buClr>
              <a:buSzPts val="1200"/>
              <a:buChar char="○"/>
            </a:pPr>
            <a:r>
              <a:rPr lang="en-US" sz="1200">
                <a:solidFill>
                  <a:schemeClr val="dk1"/>
                </a:solidFill>
              </a:rPr>
              <a:t>There is also Devin Review for PR and visual QA, DeepWiki for auto-generated documentation </a:t>
            </a:r>
            <a:r>
              <a:rPr lang="en-US" sz="1100">
                <a:solidFill>
                  <a:schemeClr val="dk1"/>
                </a:solidFill>
              </a:rPr>
              <a:t>and architecture diagrams for any codebase</a:t>
            </a:r>
            <a:r>
              <a:rPr lang="en-US" sz="1200">
                <a:solidFill>
                  <a:schemeClr val="dk1"/>
                </a:solidFill>
              </a:rPr>
              <a:t>, </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t/>
            </a:r>
            <a:endParaRPr sz="1200">
              <a:solidFill>
                <a:schemeClr val="dk1"/>
              </a:solidFill>
            </a:endParaRPr>
          </a:p>
          <a:p>
            <a:pPr indent="0" lvl="0" marL="0" rtl="0" algn="l">
              <a:lnSpc>
                <a:spcPct val="115000"/>
              </a:lnSpc>
              <a:spcBef>
                <a:spcPts val="1500"/>
              </a:spcBef>
              <a:spcAft>
                <a:spcPts val="0"/>
              </a:spcAft>
              <a:buNone/>
            </a:pPr>
            <a:r>
              <a:rPr lang="en-US" sz="1150">
                <a:solidFill>
                  <a:schemeClr val="dk1"/>
                </a:solidFill>
                <a:highlight>
                  <a:srgbClr val="F7F6F5"/>
                </a:highlight>
              </a:rPr>
              <a:t>The best engineers we work with are not just pair programming with one agent at a time. They are using agents to scope and plan work, delegating tasks to cloud agents, reviewing progress, and deciding what makes it to production</a:t>
            </a:r>
            <a:endParaRPr sz="1200">
              <a:solidFill>
                <a:schemeClr val="dk1"/>
              </a:solidFill>
            </a:endParaRPr>
          </a:p>
          <a:p>
            <a:pPr indent="-304800" lvl="0" marL="457200" rtl="0" algn="l">
              <a:lnSpc>
                <a:spcPct val="115000"/>
              </a:lnSpc>
              <a:spcBef>
                <a:spcPts val="1500"/>
              </a:spcBef>
              <a:spcAft>
                <a:spcPts val="0"/>
              </a:spcAft>
              <a:buClr>
                <a:schemeClr val="dk1"/>
              </a:buClr>
              <a:buSzPts val="1200"/>
              <a:buChar char="●"/>
            </a:pPr>
            <a:r>
              <a:rPr lang="en-US" sz="1200">
                <a:solidFill>
                  <a:schemeClr val="dk1"/>
                </a:solidFill>
              </a:rPr>
              <a:t>We're so confident in the ROI that our Enterprise plan comes with a productivity guarantee — if Devin doesn't deliver more engineering value than you're paying for, we credit the difference, up to $10 million</a:t>
            </a:r>
            <a:endParaRPr sz="1500">
              <a:solidFill>
                <a:schemeClr val="dk1"/>
              </a:solidFill>
            </a:endParaRPr>
          </a:p>
          <a:p>
            <a:pPr indent="0" lvl="0" marL="0" rtl="0" algn="l">
              <a:spcBef>
                <a:spcPts val="1500"/>
              </a:spcBef>
              <a:spcAft>
                <a:spcPts val="0"/>
              </a:spcAft>
              <a:buNone/>
            </a:pPr>
            <a:r>
              <a:t/>
            </a:r>
            <a:endParaRPr/>
          </a:p>
        </p:txBody>
      </p:sp>
      <p:sp>
        <p:nvSpPr>
          <p:cNvPr id="270" name="Google Shape;270;p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9" name="Google Shape;299;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For the CTO: the reproducible environment is what separates a toy from an engineer. For migrations, parallelism is the headline: 1,000 repos in a week, not a year.</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304800" lvl="0" marL="914400" rtl="0" algn="l">
              <a:lnSpc>
                <a:spcPct val="115000"/>
              </a:lnSpc>
              <a:spcBef>
                <a:spcPts val="0"/>
              </a:spcBef>
              <a:spcAft>
                <a:spcPts val="0"/>
              </a:spcAft>
              <a:buClr>
                <a:schemeClr val="dk1"/>
              </a:buClr>
              <a:buSzPts val="1200"/>
              <a:buChar char="●"/>
            </a:pPr>
            <a:r>
              <a:rPr lang="en-US" sz="1200">
                <a:solidFill>
                  <a:schemeClr val="dk1"/>
                </a:solidFill>
              </a:rPr>
              <a:t>Where it really shines for large organizations is the unglamorous, high-volume work engineers dread:</a:t>
            </a:r>
            <a:endParaRPr sz="1200">
              <a:solidFill>
                <a:schemeClr val="dk1"/>
              </a:solidFill>
            </a:endParaRPr>
          </a:p>
          <a:p>
            <a:pPr indent="-304800" lvl="1" marL="1371600" rtl="0" algn="l">
              <a:lnSpc>
                <a:spcPct val="115000"/>
              </a:lnSpc>
              <a:spcBef>
                <a:spcPts val="0"/>
              </a:spcBef>
              <a:spcAft>
                <a:spcPts val="0"/>
              </a:spcAft>
              <a:buClr>
                <a:schemeClr val="dk1"/>
              </a:buClr>
              <a:buSzPts val="1200"/>
              <a:buChar char="○"/>
            </a:pPr>
            <a:r>
              <a:rPr lang="en-US" sz="1200">
                <a:solidFill>
                  <a:schemeClr val="dk1"/>
                </a:solidFill>
              </a:rPr>
              <a:t> legacy code migrations, </a:t>
            </a:r>
            <a:endParaRPr sz="1200">
              <a:solidFill>
                <a:schemeClr val="dk1"/>
              </a:solidFill>
            </a:endParaRPr>
          </a:p>
          <a:p>
            <a:pPr indent="-304800" lvl="1" marL="1371600" rtl="0" algn="l">
              <a:lnSpc>
                <a:spcPct val="115000"/>
              </a:lnSpc>
              <a:spcBef>
                <a:spcPts val="0"/>
              </a:spcBef>
              <a:spcAft>
                <a:spcPts val="0"/>
              </a:spcAft>
              <a:buClr>
                <a:schemeClr val="dk1"/>
              </a:buClr>
              <a:buSzPts val="1200"/>
              <a:buChar char="○"/>
            </a:pPr>
            <a:r>
              <a:rPr lang="en-US" sz="1200">
                <a:solidFill>
                  <a:schemeClr val="dk1"/>
                </a:solidFill>
              </a:rPr>
              <a:t>refactors, </a:t>
            </a:r>
            <a:endParaRPr sz="1200">
              <a:solidFill>
                <a:schemeClr val="dk1"/>
              </a:solidFill>
            </a:endParaRPr>
          </a:p>
          <a:p>
            <a:pPr indent="-304800" lvl="1" marL="1371600" rtl="0" algn="l">
              <a:lnSpc>
                <a:spcPct val="115000"/>
              </a:lnSpc>
              <a:spcBef>
                <a:spcPts val="0"/>
              </a:spcBef>
              <a:spcAft>
                <a:spcPts val="0"/>
              </a:spcAft>
              <a:buClr>
                <a:schemeClr val="dk1"/>
              </a:buClr>
              <a:buSzPts val="1200"/>
              <a:buChar char="○"/>
            </a:pPr>
            <a:r>
              <a:rPr lang="en-US" sz="1200">
                <a:solidFill>
                  <a:schemeClr val="dk1"/>
                </a:solidFill>
              </a:rPr>
              <a:t>security-vulnerability fixes, and</a:t>
            </a:r>
            <a:endParaRPr sz="1200">
              <a:solidFill>
                <a:schemeClr val="dk1"/>
              </a:solidFill>
            </a:endParaRPr>
          </a:p>
          <a:p>
            <a:pPr indent="-304800" lvl="1" marL="1371600" rtl="0" algn="l">
              <a:lnSpc>
                <a:spcPct val="115000"/>
              </a:lnSpc>
              <a:spcBef>
                <a:spcPts val="0"/>
              </a:spcBef>
              <a:spcAft>
                <a:spcPts val="0"/>
              </a:spcAft>
              <a:buClr>
                <a:schemeClr val="dk1"/>
              </a:buClr>
              <a:buSzPts val="1200"/>
              <a:buChar char="○"/>
            </a:pPr>
            <a:r>
              <a:rPr lang="en-US" sz="1200">
                <a:solidFill>
                  <a:schemeClr val="dk1"/>
                </a:solidFill>
              </a:rPr>
              <a:t> PR backlog. </a:t>
            </a:r>
            <a:endParaRPr sz="1200">
              <a:solidFill>
                <a:schemeClr val="dk1"/>
              </a:solidFill>
            </a:endParaRPr>
          </a:p>
          <a:p>
            <a:pPr indent="-304800" lvl="0" marL="914400" rtl="0" algn="l">
              <a:lnSpc>
                <a:spcPct val="115000"/>
              </a:lnSpc>
              <a:spcBef>
                <a:spcPts val="0"/>
              </a:spcBef>
              <a:spcAft>
                <a:spcPts val="0"/>
              </a:spcAft>
              <a:buClr>
                <a:schemeClr val="dk1"/>
              </a:buClr>
              <a:buSzPts val="1200"/>
              <a:buChar char="●"/>
            </a:pPr>
            <a:r>
              <a:rPr lang="en-US" sz="1200">
                <a:solidFill>
                  <a:schemeClr val="dk1"/>
                </a:solidFill>
              </a:rPr>
              <a:t>Mercedes-Benz used it to cut an 8-month COBOL modernization down to 8 days. </a:t>
            </a:r>
            <a:endParaRPr sz="1200">
              <a:solidFill>
                <a:schemeClr val="dk1"/>
              </a:solidFill>
            </a:endParaRPr>
          </a:p>
          <a:p>
            <a:pPr indent="-304800" lvl="0" marL="914400" rtl="0" algn="l">
              <a:lnSpc>
                <a:spcPct val="115000"/>
              </a:lnSpc>
              <a:spcBef>
                <a:spcPts val="0"/>
              </a:spcBef>
              <a:spcAft>
                <a:spcPts val="0"/>
              </a:spcAft>
              <a:buClr>
                <a:schemeClr val="dk1"/>
              </a:buClr>
              <a:buSzPts val="1200"/>
              <a:buChar char="●"/>
            </a:pPr>
            <a:r>
              <a:rPr lang="en-US" sz="1200">
                <a:solidFill>
                  <a:schemeClr val="dk1"/>
                </a:solidFill>
              </a:rPr>
              <a:t>Nubank saw an 8-to-12x efficiency gain refactoring a 6-million-line ETL monolith. </a:t>
            </a:r>
            <a:endParaRPr sz="1200">
              <a:solidFill>
                <a:schemeClr val="dk1"/>
              </a:solidFill>
            </a:endParaRPr>
          </a:p>
          <a:p>
            <a:pPr indent="0" lvl="0" marL="457200" rtl="0" algn="l">
              <a:spcBef>
                <a:spcPts val="1500"/>
              </a:spcBef>
              <a:spcAft>
                <a:spcPts val="0"/>
              </a:spcAft>
              <a:buNone/>
            </a:pPr>
            <a:r>
              <a:t/>
            </a:r>
            <a:endParaRPr/>
          </a:p>
          <a:p>
            <a:pPr indent="0" lvl="0" marL="457200" rtl="0" algn="l">
              <a:lnSpc>
                <a:spcPct val="115000"/>
              </a:lnSpc>
              <a:spcBef>
                <a:spcPts val="0"/>
              </a:spcBef>
              <a:spcAft>
                <a:spcPts val="0"/>
              </a:spcAft>
              <a:buClr>
                <a:schemeClr val="dk1"/>
              </a:buClr>
              <a:buSzPts val="1100"/>
              <a:buFont typeface="Arial"/>
              <a:buNone/>
            </a:pPr>
            <a:r>
              <a:rPr lang="en-US" sz="1150">
                <a:solidFill>
                  <a:schemeClr val="dk1"/>
                </a:solidFill>
                <a:highlight>
                  <a:srgbClr val="F7F6F5"/>
                </a:highlight>
              </a:rPr>
              <a:t>The best engineers we work with are not just pair programming with one agent at a time. They are using agents to scope and plan work, delegating tasks to cloud agents, reviewing progress, and deciding what makes it to production</a:t>
            </a:r>
            <a:endParaRPr sz="1200">
              <a:solidFill>
                <a:schemeClr val="dk1"/>
              </a:solidFill>
            </a:endParaRPr>
          </a:p>
          <a:p>
            <a:pPr indent="0" lvl="0" marL="0" rtl="0" algn="l">
              <a:spcBef>
                <a:spcPts val="1500"/>
              </a:spcBef>
              <a:spcAft>
                <a:spcPts val="0"/>
              </a:spcAft>
              <a:buNone/>
            </a:pPr>
            <a:r>
              <a:t/>
            </a:r>
            <a:endParaRPr/>
          </a:p>
        </p:txBody>
      </p:sp>
      <p:sp>
        <p:nvSpPr>
          <p:cNvPr id="300" name="Google Shape;300;p1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1" name="Google Shape;321;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Circle the one or two that match the pain they named. Say it explicitly: 'You mentioned the Java 8 migration. That is exactly the shape of work Devin does best.'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304800" lvl="0" marL="914400" rtl="0" algn="l">
              <a:lnSpc>
                <a:spcPct val="115000"/>
              </a:lnSpc>
              <a:spcBef>
                <a:spcPts val="0"/>
              </a:spcBef>
              <a:spcAft>
                <a:spcPts val="0"/>
              </a:spcAft>
              <a:buClr>
                <a:schemeClr val="dk1"/>
              </a:buClr>
              <a:buSzPts val="1200"/>
              <a:buChar char="●"/>
            </a:pPr>
            <a:r>
              <a:rPr lang="en-US" sz="1200">
                <a:solidFill>
                  <a:schemeClr val="dk1"/>
                </a:solidFill>
              </a:rPr>
              <a:t>Where it really shines for large organizations is the unglamorous, high-volume work engineers dread:</a:t>
            </a:r>
            <a:endParaRPr sz="1200">
              <a:solidFill>
                <a:schemeClr val="dk1"/>
              </a:solidFill>
            </a:endParaRPr>
          </a:p>
          <a:p>
            <a:pPr indent="-304800" lvl="1" marL="1371600" rtl="0" algn="l">
              <a:lnSpc>
                <a:spcPct val="115000"/>
              </a:lnSpc>
              <a:spcBef>
                <a:spcPts val="0"/>
              </a:spcBef>
              <a:spcAft>
                <a:spcPts val="0"/>
              </a:spcAft>
              <a:buClr>
                <a:schemeClr val="dk1"/>
              </a:buClr>
              <a:buSzPts val="1200"/>
              <a:buChar char="○"/>
            </a:pPr>
            <a:r>
              <a:rPr lang="en-US" sz="1200">
                <a:solidFill>
                  <a:schemeClr val="dk1"/>
                </a:solidFill>
              </a:rPr>
              <a:t> legacy code migrations, </a:t>
            </a:r>
            <a:endParaRPr sz="1200">
              <a:solidFill>
                <a:schemeClr val="dk1"/>
              </a:solidFill>
            </a:endParaRPr>
          </a:p>
          <a:p>
            <a:pPr indent="-304800" lvl="1" marL="1371600" rtl="0" algn="l">
              <a:lnSpc>
                <a:spcPct val="115000"/>
              </a:lnSpc>
              <a:spcBef>
                <a:spcPts val="0"/>
              </a:spcBef>
              <a:spcAft>
                <a:spcPts val="0"/>
              </a:spcAft>
              <a:buClr>
                <a:schemeClr val="dk1"/>
              </a:buClr>
              <a:buSzPts val="1200"/>
              <a:buChar char="○"/>
            </a:pPr>
            <a:r>
              <a:rPr lang="en-US" sz="1200">
                <a:solidFill>
                  <a:schemeClr val="dk1"/>
                </a:solidFill>
              </a:rPr>
              <a:t>refactors, </a:t>
            </a:r>
            <a:endParaRPr sz="1200">
              <a:solidFill>
                <a:schemeClr val="dk1"/>
              </a:solidFill>
            </a:endParaRPr>
          </a:p>
          <a:p>
            <a:pPr indent="-304800" lvl="1" marL="1371600" rtl="0" algn="l">
              <a:lnSpc>
                <a:spcPct val="115000"/>
              </a:lnSpc>
              <a:spcBef>
                <a:spcPts val="0"/>
              </a:spcBef>
              <a:spcAft>
                <a:spcPts val="0"/>
              </a:spcAft>
              <a:buClr>
                <a:schemeClr val="dk1"/>
              </a:buClr>
              <a:buSzPts val="1200"/>
              <a:buChar char="○"/>
            </a:pPr>
            <a:r>
              <a:rPr lang="en-US" sz="1200">
                <a:solidFill>
                  <a:schemeClr val="dk1"/>
                </a:solidFill>
              </a:rPr>
              <a:t>security-vulnerability fixes, and</a:t>
            </a:r>
            <a:endParaRPr sz="1200">
              <a:solidFill>
                <a:schemeClr val="dk1"/>
              </a:solidFill>
            </a:endParaRPr>
          </a:p>
          <a:p>
            <a:pPr indent="-304800" lvl="1" marL="1371600" rtl="0" algn="l">
              <a:lnSpc>
                <a:spcPct val="115000"/>
              </a:lnSpc>
              <a:spcBef>
                <a:spcPts val="0"/>
              </a:spcBef>
              <a:spcAft>
                <a:spcPts val="0"/>
              </a:spcAft>
              <a:buClr>
                <a:schemeClr val="dk1"/>
              </a:buClr>
              <a:buSzPts val="1200"/>
              <a:buChar char="○"/>
            </a:pPr>
            <a:r>
              <a:rPr lang="en-US" sz="1200">
                <a:solidFill>
                  <a:schemeClr val="dk1"/>
                </a:solidFill>
              </a:rPr>
              <a:t> PR backlog. </a:t>
            </a:r>
            <a:endParaRPr sz="1200">
              <a:solidFill>
                <a:schemeClr val="dk1"/>
              </a:solidFill>
            </a:endParaRPr>
          </a:p>
          <a:p>
            <a:pPr indent="-304800" lvl="0" marL="914400" rtl="0" algn="l">
              <a:lnSpc>
                <a:spcPct val="115000"/>
              </a:lnSpc>
              <a:spcBef>
                <a:spcPts val="0"/>
              </a:spcBef>
              <a:spcAft>
                <a:spcPts val="0"/>
              </a:spcAft>
              <a:buClr>
                <a:schemeClr val="dk1"/>
              </a:buClr>
              <a:buSzPts val="1200"/>
              <a:buChar char="●"/>
            </a:pPr>
            <a:r>
              <a:rPr lang="en-US" sz="1200">
                <a:solidFill>
                  <a:schemeClr val="dk1"/>
                </a:solidFill>
              </a:rPr>
              <a:t>Mercedes-Benz used it to cut an 8-month COBOL modernization down to 8 days. </a:t>
            </a:r>
            <a:endParaRPr sz="1200">
              <a:solidFill>
                <a:schemeClr val="dk1"/>
              </a:solidFill>
            </a:endParaRPr>
          </a:p>
          <a:p>
            <a:pPr indent="-304800" lvl="0" marL="914400" rtl="0" algn="l">
              <a:lnSpc>
                <a:spcPct val="115000"/>
              </a:lnSpc>
              <a:spcBef>
                <a:spcPts val="0"/>
              </a:spcBef>
              <a:spcAft>
                <a:spcPts val="0"/>
              </a:spcAft>
              <a:buClr>
                <a:schemeClr val="dk1"/>
              </a:buClr>
              <a:buSzPts val="1200"/>
              <a:buChar char="●"/>
            </a:pPr>
            <a:r>
              <a:rPr lang="en-US" sz="1200">
                <a:solidFill>
                  <a:schemeClr val="dk1"/>
                </a:solidFill>
              </a:rPr>
              <a:t>Nubank saw an 8-to-12x efficiency gain refactoring a 6-million-line ETL monolith. </a:t>
            </a:r>
            <a:endParaRPr sz="1200">
              <a:solidFill>
                <a:schemeClr val="dk1"/>
              </a:solidFill>
            </a:endParaRPr>
          </a:p>
          <a:p>
            <a:pPr indent="0" lvl="0" marL="457200" rtl="0" algn="l">
              <a:spcBef>
                <a:spcPts val="1500"/>
              </a:spcBef>
              <a:spcAft>
                <a:spcPts val="0"/>
              </a:spcAft>
              <a:buClr>
                <a:schemeClr val="dk1"/>
              </a:buClr>
              <a:buSzPts val="1100"/>
              <a:buFont typeface="Arial"/>
              <a:buNone/>
            </a:pPr>
            <a:r>
              <a:t/>
            </a:r>
            <a:endParaRPr>
              <a:solidFill>
                <a:schemeClr val="dk1"/>
              </a:solidFill>
            </a:endParaRPr>
          </a:p>
          <a:p>
            <a:pPr indent="0" lvl="0" marL="457200" rtl="0" algn="l">
              <a:lnSpc>
                <a:spcPct val="115000"/>
              </a:lnSpc>
              <a:spcBef>
                <a:spcPts val="0"/>
              </a:spcBef>
              <a:spcAft>
                <a:spcPts val="0"/>
              </a:spcAft>
              <a:buClr>
                <a:schemeClr val="dk1"/>
              </a:buClr>
              <a:buSzPts val="1100"/>
              <a:buFont typeface="Arial"/>
              <a:buNone/>
            </a:pPr>
            <a:r>
              <a:rPr lang="en-US" sz="1150">
                <a:solidFill>
                  <a:schemeClr val="dk1"/>
                </a:solidFill>
                <a:highlight>
                  <a:srgbClr val="F7F6F5"/>
                </a:highlight>
              </a:rPr>
              <a:t>The best engineers we work with are not just pair programming with one agent at a time. They are using agents to scope and plan work, delegating tasks to cloud agents, reviewing progress, and deciding what makes it to production</a:t>
            </a:r>
            <a:endParaRPr sz="1200">
              <a:solidFill>
                <a:schemeClr val="dk1"/>
              </a:solidFill>
            </a:endParaRPr>
          </a:p>
          <a:p>
            <a:pPr indent="0" lvl="0" marL="0" rtl="0" algn="l">
              <a:spcBef>
                <a:spcPts val="1500"/>
              </a:spcBef>
              <a:spcAft>
                <a:spcPts val="0"/>
              </a:spcAft>
              <a:buNone/>
            </a:pPr>
            <a:r>
              <a:t/>
            </a:r>
            <a:endParaRPr/>
          </a:p>
        </p:txBody>
      </p:sp>
      <p:sp>
        <p:nvSpPr>
          <p:cNvPr id="322" name="Google Shape;322;p1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5" name="Google Shape;355;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where you show you are a partner, not a tool vendor. Tie step 1 back to the pain they named in discovery.</a:t>
            </a:r>
            <a:endParaRPr/>
          </a:p>
        </p:txBody>
      </p:sp>
      <p:sp>
        <p:nvSpPr>
          <p:cNvPr id="356" name="Google Shape;356;p1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p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0" name="Google Shape;390;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Public case study on cognition.ai. Key line: 'The bank's engineers stayed in control; Devin did the volume.' Ties directly to the CISO's concern about oversight.</a:t>
            </a:r>
            <a:endParaRPr/>
          </a:p>
        </p:txBody>
      </p:sp>
      <p:sp>
        <p:nvSpPr>
          <p:cNvPr id="391" name="Google Shape;391;p2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9" name="Google Shape;409;p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Choose the story closest to the prospect's industry and tell it in detail; mention the others in one sentence. Interview note: the Goldman Sachs pilot was reported publicly in July 2025; other details are drawn from Cognition's public customer references and should be refreshed before a real pitch.</a:t>
            </a:r>
            <a:endParaRPr/>
          </a:p>
        </p:txBody>
      </p:sp>
      <p:sp>
        <p:nvSpPr>
          <p:cNvPr id="410" name="Google Shape;410;p2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p2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5" name="Google Shape;435;p2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Do not over-claim. Use the customer's own numbers from discovery: team size, toil %, fully loaded cost per engineer. Let them do the math out loud.</a:t>
            </a:r>
            <a:endParaRPr/>
          </a:p>
        </p:txBody>
      </p:sp>
      <p:sp>
        <p:nvSpPr>
          <p:cNvPr id="436" name="Google Shape;436;p2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p2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5" name="Google Shape;475;p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Make the ask concrete and small. Suggest specific dates. Confirm the sponsor in the room. Offer to send the security package today.</a:t>
            </a:r>
            <a:endParaRPr/>
          </a:p>
        </p:txBody>
      </p:sp>
      <p:sp>
        <p:nvSpPr>
          <p:cNvPr id="476" name="Google Shape;476;p2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p2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9" name="Google Shape;499;p2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Close with a question, not a statement: 'Does a two-week window work for the security review? Who should I coordinate with on your side?' Then stop talking.</a:t>
            </a:r>
            <a:endParaRPr/>
          </a:p>
        </p:txBody>
      </p:sp>
      <p:sp>
        <p:nvSpPr>
          <p:cNvPr id="500" name="Google Shape;500;p2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h1bbba60e94861fb1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h1bbba60e94861fb1_0_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6" name="Google Shape;516;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Pick 3-4 questions, do not read the slide. Listen for: migration projects, test debt, slow onboarding, senior engineers buried in review. Write down their exact words; you will echo them back in the proposal.</a:t>
            </a:r>
            <a:endParaRPr/>
          </a:p>
        </p:txBody>
      </p:sp>
      <p:sp>
        <p:nvSpPr>
          <p:cNvPr id="517" name="Google Shape;517;p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4" name="Google Shape;534;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For the CISO, lead with respect for the concern. Surface deal-breakers early: data residency, training on code, deployment model. Note which controls are 'must-have' vs 'nice-to-have'. This shapes the pilot scope.</a:t>
            </a:r>
            <a:endParaRPr/>
          </a:p>
        </p:txBody>
      </p:sp>
      <p:sp>
        <p:nvSpPr>
          <p:cNvPr id="535" name="Google Shape;535;p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2" name="Google Shape;552;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Address the CISO directly here. Offer the security package (SOC 2 report, pen test summary, DPA) as an immediate next step. Note for interview: confirm current certifications (SOC 2, ISO, HIPAA readiness) on cognition.ai/security before presenting.</a:t>
            </a:r>
            <a:endParaRPr/>
          </a:p>
        </p:txBody>
      </p:sp>
      <p:sp>
        <p:nvSpPr>
          <p:cNvPr id="553" name="Google Shape;553;p1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p2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4" name="Google Shape;574;p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Backup slide for Q&amp;A. Pricing changes frequently; check cognition.ai/pricing before the interview and be ready to state current Core / Team / Enterprise tiers.</a:t>
            </a:r>
            <a:endParaRPr/>
          </a:p>
        </p:txBody>
      </p:sp>
      <p:sp>
        <p:nvSpPr>
          <p:cNvPr id="575" name="Google Shape;575;p2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Spend 6-8 minutes here. Read the three columns in 60 seconds, then STOP and ask. The goal is to get the CTO to name a real constraint and the CISO to name an approval bar. Write their words down and reuse them on the value slides and in the pilot proposal. Facts to re-verify the morning of: latest quarterly revenue/GMV, Tobi Lutke's AI memo wording (April 2025), current CTO name.</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This is the bridge slide. Each row is one initiative you recapped; the third column names the Devin surface you will demo for it. Say explicitly: 'Everything in the demo maps to a row on this table.' If the CTO named a different constraint on the recap slide, add it verbally here as row six.</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Pre-empt the 'toy repo' objection: Liquid is a production dependency for millions of stores. Also note that the same workflow applies to any repo in Shopify's org; Liquid is just the one everyone in the room can follow.</a:t>
            </a: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Timing: ~15 minutes total. Start the Session FIRST (before slides 1-2 of the demo) so it is finishing by the time you reach step 2; narrate the plan and the live PR. Always have a completed session and PR from the night before as a fallback. Call out the 'Ties to' line on each step out loud: that is what the exercise is grading.</a:t>
            </a: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Shopify engineers already use Cursor, Copilot, and Claude Code. Do NOT attack them. The line: 'Those tools make your engineers faster. Devin adds engineers.' Then the three differentiators: (1) autonomous, parallel, sandboxed execution to a merged PR; (2) org-wide compounding knowledge (Wiki, Knowledge, Review) instead of per-user context; (3) enterprise control plane (audit, VPC, scoping, automations) the CISO can govern. Competitor rows are high-level and should be double-checked against current product pages before the meeting.</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9"/>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9"/>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31"/>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31"/>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3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32"/>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32"/>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3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33"/>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33"/>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33"/>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33"/>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3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35"/>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35"/>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35"/>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36"/>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36"/>
          <p:cNvSpPr/>
          <p:nvPr>
            <p:ph idx="2" type="pic"/>
          </p:nvPr>
        </p:nvSpPr>
        <p:spPr>
          <a:xfrm>
            <a:off x="1792288" y="612775"/>
            <a:ext cx="5486400" cy="4114800"/>
          </a:xfrm>
          <a:prstGeom prst="rect">
            <a:avLst/>
          </a:prstGeom>
          <a:noFill/>
          <a:ln>
            <a:noFill/>
          </a:ln>
        </p:spPr>
      </p:sp>
      <p:sp>
        <p:nvSpPr>
          <p:cNvPr id="64" name="Google Shape;64;p36"/>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3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7"/>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3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8"/>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8"/>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3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8.png"/><Relationship Id="rId4" Type="http://schemas.openxmlformats.org/officeDocument/2006/relationships/image" Target="../media/image16.png"/><Relationship Id="rId5" Type="http://schemas.openxmlformats.org/officeDocument/2006/relationships/image" Target="../media/image18.png"/><Relationship Id="rId6" Type="http://schemas.openxmlformats.org/officeDocument/2006/relationships/image" Target="../media/image7.png"/><Relationship Id="rId7" Type="http://schemas.openxmlformats.org/officeDocument/2006/relationships/image" Target="../media/image14.png"/><Relationship Id="rId8" Type="http://schemas.openxmlformats.org/officeDocument/2006/relationships/image" Target="../media/image2.png"/><Relationship Id="rId9" Type="http://schemas.openxmlformats.org/officeDocument/2006/relationships/image" Target="../media/image3.png"/><Relationship Id="rId10" Type="http://schemas.openxmlformats.org/officeDocument/2006/relationships/image" Target="../media/image17.png"/><Relationship Id="rId11" Type="http://schemas.openxmlformats.org/officeDocument/2006/relationships/image" Target="../media/image12.png"/><Relationship Id="rId12" Type="http://schemas.openxmlformats.org/officeDocument/2006/relationships/image" Target="../media/image10.png"/><Relationship Id="rId13" Type="http://schemas.openxmlformats.org/officeDocument/2006/relationships/image" Target="../media/image1.png"/><Relationship Id="rId14" Type="http://schemas.openxmlformats.org/officeDocument/2006/relationships/image" Target="../media/image5.png"/><Relationship Id="rId15" Type="http://schemas.openxmlformats.org/officeDocument/2006/relationships/image" Target="../media/image15.png"/><Relationship Id="rId16"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1.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9.png"/><Relationship Id="rId4" Type="http://schemas.openxmlformats.org/officeDocument/2006/relationships/image" Target="../media/image13.png"/><Relationship Id="rId5"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226"/>
        </a:solidFill>
      </p:bgPr>
    </p:bg>
    <p:spTree>
      <p:nvGrpSpPr>
        <p:cNvPr id="84" name="Shape 84"/>
        <p:cNvGrpSpPr/>
        <p:nvPr/>
      </p:nvGrpSpPr>
      <p:grpSpPr>
        <a:xfrm>
          <a:off x="0" y="0"/>
          <a:ext cx="0" cy="0"/>
          <a:chOff x="0" y="0"/>
          <a:chExt cx="0" cy="0"/>
        </a:xfrm>
      </p:grpSpPr>
      <p:sp>
        <p:nvSpPr>
          <p:cNvPr id="85" name="Google Shape;85;p1"/>
          <p:cNvSpPr/>
          <p:nvPr/>
        </p:nvSpPr>
        <p:spPr>
          <a:xfrm>
            <a:off x="0" y="0"/>
            <a:ext cx="228600" cy="6858000"/>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6" name="Google Shape;86;p1"/>
          <p:cNvSpPr txBox="1"/>
          <p:nvPr/>
        </p:nvSpPr>
        <p:spPr>
          <a:xfrm>
            <a:off x="838035" y="3958430"/>
            <a:ext cx="10515600" cy="7941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4800" u="none" cap="none" strike="noStrike">
                <a:solidFill>
                  <a:srgbClr val="FFFFFF"/>
                </a:solidFill>
                <a:latin typeface="Calibri"/>
                <a:ea typeface="Calibri"/>
                <a:cs typeface="Calibri"/>
                <a:sym typeface="Calibri"/>
              </a:rPr>
              <a:t>Devin: The AI Software Engineer</a:t>
            </a:r>
            <a:endParaRPr/>
          </a:p>
        </p:txBody>
      </p:sp>
      <p:pic>
        <p:nvPicPr>
          <p:cNvPr id="87" name="Google Shape;87;p1" title="brand-logo-cognition-1.png"/>
          <p:cNvPicPr preferRelativeResize="0"/>
          <p:nvPr/>
        </p:nvPicPr>
        <p:blipFill>
          <a:blip r:embed="rId3">
            <a:alphaModFix/>
          </a:blip>
          <a:stretch>
            <a:fillRect/>
          </a:stretch>
        </p:blipFill>
        <p:spPr>
          <a:xfrm>
            <a:off x="838025" y="2365576"/>
            <a:ext cx="5255373" cy="10161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2" name="Shape 92"/>
        <p:cNvGrpSpPr/>
        <p:nvPr/>
      </p:nvGrpSpPr>
      <p:grpSpPr>
        <a:xfrm>
          <a:off x="0" y="0"/>
          <a:ext cx="0" cy="0"/>
          <a:chOff x="0" y="0"/>
          <a:chExt cx="0" cy="0"/>
        </a:xfrm>
      </p:grpSpPr>
      <p:sp>
        <p:nvSpPr>
          <p:cNvPr id="93" name="Google Shape;93;p2"/>
          <p:cNvSpPr/>
          <p:nvPr/>
        </p:nvSpPr>
        <p:spPr>
          <a:xfrm>
            <a:off x="0" y="0"/>
            <a:ext cx="12191695" cy="109728"/>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4" name="Google Shape;94;p2"/>
          <p:cNvSpPr txBox="1"/>
          <p:nvPr/>
        </p:nvSpPr>
        <p:spPr>
          <a:xfrm>
            <a:off x="548640" y="411480"/>
            <a:ext cx="7315200" cy="36576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200" u="none" cap="none" strike="noStrike">
                <a:solidFill>
                  <a:srgbClr val="3B82F6"/>
                </a:solidFill>
                <a:latin typeface="Calibri"/>
                <a:ea typeface="Calibri"/>
                <a:cs typeface="Calibri"/>
                <a:sym typeface="Calibri"/>
              </a:rPr>
              <a:t>TODAY</a:t>
            </a:r>
            <a:endParaRPr/>
          </a:p>
        </p:txBody>
      </p:sp>
      <p:sp>
        <p:nvSpPr>
          <p:cNvPr id="95" name="Google Shape;95;p2"/>
          <p:cNvSpPr txBox="1"/>
          <p:nvPr/>
        </p:nvSpPr>
        <p:spPr>
          <a:xfrm>
            <a:off x="548640" y="731520"/>
            <a:ext cx="11155680" cy="9144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3000" u="none" cap="none" strike="noStrike">
                <a:solidFill>
                  <a:srgbClr val="141B2D"/>
                </a:solidFill>
                <a:latin typeface="Calibri"/>
                <a:ea typeface="Calibri"/>
                <a:cs typeface="Calibri"/>
                <a:sym typeface="Calibri"/>
              </a:rPr>
              <a:t>Agenda</a:t>
            </a:r>
            <a:endParaRPr/>
          </a:p>
        </p:txBody>
      </p:sp>
      <p:sp>
        <p:nvSpPr>
          <p:cNvPr id="96" name="Google Shape;96;p2"/>
          <p:cNvSpPr txBox="1"/>
          <p:nvPr/>
        </p:nvSpPr>
        <p:spPr>
          <a:xfrm>
            <a:off x="548640" y="6446520"/>
            <a:ext cx="7315200" cy="2094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000" u="none" cap="none" strike="noStrike">
                <a:solidFill>
                  <a:srgbClr val="6B7280"/>
                </a:solidFill>
                <a:latin typeface="Calibri"/>
                <a:ea typeface="Calibri"/>
                <a:cs typeface="Calibri"/>
                <a:sym typeface="Calibri"/>
              </a:rPr>
              <a:t>Cognition  |  Devin </a:t>
            </a:r>
            <a:endParaRPr/>
          </a:p>
        </p:txBody>
      </p:sp>
      <p:sp>
        <p:nvSpPr>
          <p:cNvPr id="97" name="Google Shape;97;p2"/>
          <p:cNvSpPr txBox="1"/>
          <p:nvPr/>
        </p:nvSpPr>
        <p:spPr>
          <a:xfrm>
            <a:off x="10789920" y="6446520"/>
            <a:ext cx="914400" cy="274320"/>
          </a:xfrm>
          <a:prstGeom prst="rect">
            <a:avLst/>
          </a:prstGeom>
          <a:noFill/>
          <a:ln>
            <a:noFill/>
          </a:ln>
        </p:spPr>
        <p:txBody>
          <a:bodyPr anchorCtr="0" anchor="t" bIns="27425" lIns="45700" spcFirstLastPara="1" rIns="45700" wrap="square" tIns="27425">
            <a:spAutoFit/>
          </a:bodyPr>
          <a:lstStyle/>
          <a:p>
            <a:pPr indent="0" lvl="0" marL="0" marR="0" rtl="0" algn="r">
              <a:spcBef>
                <a:spcPts val="0"/>
              </a:spcBef>
              <a:spcAft>
                <a:spcPts val="0"/>
              </a:spcAft>
              <a:buNone/>
            </a:pPr>
            <a:r>
              <a:rPr b="0" i="0" lang="en-US" sz="1000" u="none" cap="none" strike="noStrike">
                <a:solidFill>
                  <a:srgbClr val="6B7280"/>
                </a:solidFill>
                <a:latin typeface="Calibri"/>
                <a:ea typeface="Calibri"/>
                <a:cs typeface="Calibri"/>
                <a:sym typeface="Calibri"/>
              </a:rPr>
              <a:t>2</a:t>
            </a:r>
            <a:endParaRPr/>
          </a:p>
        </p:txBody>
      </p:sp>
      <p:sp>
        <p:nvSpPr>
          <p:cNvPr id="98" name="Google Shape;98;p2"/>
          <p:cNvSpPr txBox="1"/>
          <p:nvPr/>
        </p:nvSpPr>
        <p:spPr>
          <a:xfrm>
            <a:off x="1061951" y="2541651"/>
            <a:ext cx="3967200" cy="3633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lang="en-US" sz="2000">
                <a:solidFill>
                  <a:srgbClr val="141B2D"/>
                </a:solidFill>
                <a:latin typeface="Calibri"/>
                <a:ea typeface="Calibri"/>
                <a:cs typeface="Calibri"/>
                <a:sym typeface="Calibri"/>
              </a:rPr>
              <a:t>Market Environment &amp; </a:t>
            </a:r>
            <a:r>
              <a:rPr b="1" lang="en-US" sz="2000">
                <a:solidFill>
                  <a:srgbClr val="141B2D"/>
                </a:solidFill>
                <a:latin typeface="Calibri"/>
                <a:ea typeface="Calibri"/>
                <a:cs typeface="Calibri"/>
                <a:sym typeface="Calibri"/>
              </a:rPr>
              <a:t>Challenges  </a:t>
            </a:r>
            <a:endParaRPr/>
          </a:p>
        </p:txBody>
      </p:sp>
      <p:sp>
        <p:nvSpPr>
          <p:cNvPr id="99" name="Google Shape;99;p2"/>
          <p:cNvSpPr txBox="1"/>
          <p:nvPr/>
        </p:nvSpPr>
        <p:spPr>
          <a:xfrm>
            <a:off x="4899700" y="2577980"/>
            <a:ext cx="6675000" cy="286200"/>
          </a:xfrm>
          <a:prstGeom prst="rect">
            <a:avLst/>
          </a:prstGeom>
          <a:noFill/>
          <a:ln>
            <a:noFill/>
          </a:ln>
        </p:spPr>
        <p:txBody>
          <a:bodyPr anchorCtr="0" anchor="t" bIns="27425" lIns="45700" spcFirstLastPara="1" rIns="45700" wrap="square" tIns="27425">
            <a:spAutoFit/>
          </a:bodyPr>
          <a:lstStyle/>
          <a:p>
            <a:pPr indent="0" lvl="0" marL="0" rtl="0" algn="l">
              <a:spcBef>
                <a:spcPts val="0"/>
              </a:spcBef>
              <a:spcAft>
                <a:spcPts val="0"/>
              </a:spcAft>
              <a:buNone/>
            </a:pPr>
            <a:r>
              <a:rPr lang="en-US" sz="1500">
                <a:solidFill>
                  <a:srgbClr val="6B7280"/>
                </a:solidFill>
                <a:latin typeface="Calibri"/>
                <a:ea typeface="Calibri"/>
                <a:cs typeface="Calibri"/>
                <a:sym typeface="Calibri"/>
              </a:rPr>
              <a:t>Why software delivery is the bottleneck, and why now</a:t>
            </a:r>
            <a:endParaRPr sz="1500">
              <a:solidFill>
                <a:srgbClr val="6B7280"/>
              </a:solidFill>
              <a:latin typeface="Calibri"/>
              <a:ea typeface="Calibri"/>
              <a:cs typeface="Calibri"/>
              <a:sym typeface="Calibri"/>
            </a:endParaRPr>
          </a:p>
        </p:txBody>
      </p:sp>
      <p:sp>
        <p:nvSpPr>
          <p:cNvPr id="100" name="Google Shape;100;p2"/>
          <p:cNvSpPr txBox="1"/>
          <p:nvPr/>
        </p:nvSpPr>
        <p:spPr>
          <a:xfrm>
            <a:off x="1146965" y="1784793"/>
            <a:ext cx="3657600" cy="3633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2000" u="none" cap="none" strike="noStrike">
                <a:solidFill>
                  <a:srgbClr val="141B2D"/>
                </a:solidFill>
                <a:latin typeface="Calibri"/>
                <a:ea typeface="Calibri"/>
                <a:cs typeface="Calibri"/>
                <a:sym typeface="Calibri"/>
              </a:rPr>
              <a:t>Cognition </a:t>
            </a:r>
            <a:r>
              <a:rPr b="1" lang="en-US" sz="2000">
                <a:solidFill>
                  <a:srgbClr val="141B2D"/>
                </a:solidFill>
                <a:latin typeface="Calibri"/>
                <a:ea typeface="Calibri"/>
                <a:cs typeface="Calibri"/>
                <a:sym typeface="Calibri"/>
              </a:rPr>
              <a:t>Overview</a:t>
            </a:r>
            <a:endParaRPr/>
          </a:p>
        </p:txBody>
      </p:sp>
      <p:sp>
        <p:nvSpPr>
          <p:cNvPr id="101" name="Google Shape;101;p2"/>
          <p:cNvSpPr txBox="1"/>
          <p:nvPr/>
        </p:nvSpPr>
        <p:spPr>
          <a:xfrm>
            <a:off x="4315335" y="1891825"/>
            <a:ext cx="6675000" cy="2862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500" u="none" cap="none" strike="noStrike">
                <a:solidFill>
                  <a:srgbClr val="6B7280"/>
                </a:solidFill>
                <a:latin typeface="Calibri"/>
                <a:ea typeface="Calibri"/>
                <a:cs typeface="Calibri"/>
                <a:sym typeface="Calibri"/>
              </a:rPr>
              <a:t>30,000-foot view of the company, products, and how we serve customers</a:t>
            </a:r>
            <a:endParaRPr/>
          </a:p>
        </p:txBody>
      </p:sp>
      <p:sp>
        <p:nvSpPr>
          <p:cNvPr id="102" name="Google Shape;102;p2"/>
          <p:cNvSpPr txBox="1"/>
          <p:nvPr/>
        </p:nvSpPr>
        <p:spPr>
          <a:xfrm>
            <a:off x="548655" y="3292595"/>
            <a:ext cx="822900" cy="4557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2600" u="none" cap="none" strike="noStrike">
                <a:solidFill>
                  <a:srgbClr val="3B82F6"/>
                </a:solidFill>
                <a:latin typeface="Calibri"/>
                <a:ea typeface="Calibri"/>
                <a:cs typeface="Calibri"/>
                <a:sym typeface="Calibri"/>
              </a:rPr>
              <a:t>0</a:t>
            </a:r>
            <a:r>
              <a:rPr b="1" lang="en-US" sz="2600">
                <a:solidFill>
                  <a:srgbClr val="3B82F6"/>
                </a:solidFill>
                <a:latin typeface="Calibri"/>
                <a:ea typeface="Calibri"/>
                <a:cs typeface="Calibri"/>
                <a:sym typeface="Calibri"/>
              </a:rPr>
              <a:t>3</a:t>
            </a:r>
            <a:endParaRPr/>
          </a:p>
        </p:txBody>
      </p:sp>
      <p:sp>
        <p:nvSpPr>
          <p:cNvPr id="103" name="Google Shape;103;p2"/>
          <p:cNvSpPr txBox="1"/>
          <p:nvPr/>
        </p:nvSpPr>
        <p:spPr>
          <a:xfrm>
            <a:off x="1216740" y="3330695"/>
            <a:ext cx="3657600" cy="3633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lang="en-US" sz="2000">
                <a:solidFill>
                  <a:srgbClr val="141B2D"/>
                </a:solidFill>
                <a:latin typeface="Calibri"/>
                <a:ea typeface="Calibri"/>
                <a:cs typeface="Calibri"/>
                <a:sym typeface="Calibri"/>
              </a:rPr>
              <a:t>Meet</a:t>
            </a:r>
            <a:r>
              <a:rPr b="1" i="0" lang="en-US" sz="2000" u="none" cap="none" strike="noStrike">
                <a:solidFill>
                  <a:srgbClr val="141B2D"/>
                </a:solidFill>
                <a:latin typeface="Calibri"/>
                <a:ea typeface="Calibri"/>
                <a:cs typeface="Calibri"/>
                <a:sym typeface="Calibri"/>
              </a:rPr>
              <a:t> Devin</a:t>
            </a:r>
            <a:r>
              <a:rPr b="1" lang="en-US" sz="2000">
                <a:solidFill>
                  <a:srgbClr val="141B2D"/>
                </a:solidFill>
                <a:latin typeface="Calibri"/>
                <a:ea typeface="Calibri"/>
                <a:cs typeface="Calibri"/>
                <a:sym typeface="Calibri"/>
              </a:rPr>
              <a:t>!</a:t>
            </a:r>
            <a:endParaRPr/>
          </a:p>
        </p:txBody>
      </p:sp>
      <p:sp>
        <p:nvSpPr>
          <p:cNvPr id="104" name="Google Shape;104;p2"/>
          <p:cNvSpPr txBox="1"/>
          <p:nvPr/>
        </p:nvSpPr>
        <p:spPr>
          <a:xfrm>
            <a:off x="4804585" y="3392340"/>
            <a:ext cx="6675000" cy="2862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500" u="none" cap="none" strike="noStrike">
                <a:solidFill>
                  <a:srgbClr val="6B7280"/>
                </a:solidFill>
                <a:latin typeface="Calibri"/>
                <a:ea typeface="Calibri"/>
                <a:cs typeface="Calibri"/>
                <a:sym typeface="Calibri"/>
              </a:rPr>
              <a:t>Architecture, workflow, security model, and live examples</a:t>
            </a:r>
            <a:endParaRPr/>
          </a:p>
        </p:txBody>
      </p:sp>
      <p:sp>
        <p:nvSpPr>
          <p:cNvPr id="105" name="Google Shape;105;p2"/>
          <p:cNvSpPr txBox="1"/>
          <p:nvPr/>
        </p:nvSpPr>
        <p:spPr>
          <a:xfrm>
            <a:off x="548650" y="4160525"/>
            <a:ext cx="822900" cy="4557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2600" u="none" cap="none" strike="noStrike">
                <a:solidFill>
                  <a:srgbClr val="3B82F6"/>
                </a:solidFill>
                <a:latin typeface="Calibri"/>
                <a:ea typeface="Calibri"/>
                <a:cs typeface="Calibri"/>
                <a:sym typeface="Calibri"/>
              </a:rPr>
              <a:t>0</a:t>
            </a:r>
            <a:r>
              <a:rPr b="1" lang="en-US" sz="2600">
                <a:solidFill>
                  <a:srgbClr val="3B82F6"/>
                </a:solidFill>
                <a:latin typeface="Calibri"/>
                <a:ea typeface="Calibri"/>
                <a:cs typeface="Calibri"/>
                <a:sym typeface="Calibri"/>
              </a:rPr>
              <a:t>4</a:t>
            </a:r>
            <a:endParaRPr/>
          </a:p>
        </p:txBody>
      </p:sp>
      <p:sp>
        <p:nvSpPr>
          <p:cNvPr id="106" name="Google Shape;106;p2"/>
          <p:cNvSpPr txBox="1"/>
          <p:nvPr/>
        </p:nvSpPr>
        <p:spPr>
          <a:xfrm>
            <a:off x="1308240" y="4206728"/>
            <a:ext cx="3657600" cy="3633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2000" u="none" cap="none" strike="noStrike">
                <a:solidFill>
                  <a:srgbClr val="141B2D"/>
                </a:solidFill>
                <a:latin typeface="Calibri"/>
                <a:ea typeface="Calibri"/>
                <a:cs typeface="Calibri"/>
                <a:sym typeface="Calibri"/>
              </a:rPr>
              <a:t>Customer Impact</a:t>
            </a:r>
            <a:endParaRPr/>
          </a:p>
        </p:txBody>
      </p:sp>
      <p:sp>
        <p:nvSpPr>
          <p:cNvPr id="107" name="Google Shape;107;p2"/>
          <p:cNvSpPr txBox="1"/>
          <p:nvPr/>
        </p:nvSpPr>
        <p:spPr>
          <a:xfrm>
            <a:off x="4861660" y="4245285"/>
            <a:ext cx="6675000" cy="2862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500" u="none" cap="none" strike="noStrike">
                <a:solidFill>
                  <a:srgbClr val="6B7280"/>
                </a:solidFill>
                <a:latin typeface="Calibri"/>
                <a:ea typeface="Calibri"/>
                <a:cs typeface="Calibri"/>
                <a:sym typeface="Calibri"/>
              </a:rPr>
              <a:t>Stories and measurable outcomes</a:t>
            </a:r>
            <a:endParaRPr/>
          </a:p>
        </p:txBody>
      </p:sp>
      <p:sp>
        <p:nvSpPr>
          <p:cNvPr id="108" name="Google Shape;108;p2"/>
          <p:cNvSpPr txBox="1"/>
          <p:nvPr/>
        </p:nvSpPr>
        <p:spPr>
          <a:xfrm>
            <a:off x="548655" y="5028460"/>
            <a:ext cx="822900" cy="4557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2600" u="none" cap="none" strike="noStrike">
                <a:solidFill>
                  <a:srgbClr val="3B82F6"/>
                </a:solidFill>
                <a:latin typeface="Calibri"/>
                <a:ea typeface="Calibri"/>
                <a:cs typeface="Calibri"/>
                <a:sym typeface="Calibri"/>
              </a:rPr>
              <a:t>0</a:t>
            </a:r>
            <a:r>
              <a:rPr b="1" lang="en-US" sz="2600">
                <a:solidFill>
                  <a:srgbClr val="3B82F6"/>
                </a:solidFill>
                <a:latin typeface="Calibri"/>
                <a:ea typeface="Calibri"/>
                <a:cs typeface="Calibri"/>
                <a:sym typeface="Calibri"/>
              </a:rPr>
              <a:t>5</a:t>
            </a:r>
            <a:endParaRPr/>
          </a:p>
        </p:txBody>
      </p:sp>
      <p:sp>
        <p:nvSpPr>
          <p:cNvPr id="109" name="Google Shape;109;p2"/>
          <p:cNvSpPr txBox="1"/>
          <p:nvPr/>
        </p:nvSpPr>
        <p:spPr>
          <a:xfrm>
            <a:off x="1371540" y="5074660"/>
            <a:ext cx="3657600" cy="3633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2000" u="none" cap="none" strike="noStrike">
                <a:solidFill>
                  <a:srgbClr val="141B2D"/>
                </a:solidFill>
                <a:latin typeface="Calibri"/>
                <a:ea typeface="Calibri"/>
                <a:cs typeface="Calibri"/>
                <a:sym typeface="Calibri"/>
              </a:rPr>
              <a:t>Next Steps</a:t>
            </a:r>
            <a:endParaRPr/>
          </a:p>
        </p:txBody>
      </p:sp>
      <p:sp>
        <p:nvSpPr>
          <p:cNvPr id="110" name="Google Shape;110;p2"/>
          <p:cNvSpPr txBox="1"/>
          <p:nvPr/>
        </p:nvSpPr>
        <p:spPr>
          <a:xfrm>
            <a:off x="4899698" y="5120855"/>
            <a:ext cx="6675000" cy="2862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lang="en-US" sz="1500">
                <a:solidFill>
                  <a:srgbClr val="6B7280"/>
                </a:solidFill>
                <a:latin typeface="Calibri"/>
                <a:ea typeface="Calibri"/>
                <a:cs typeface="Calibri"/>
                <a:sym typeface="Calibri"/>
              </a:rPr>
              <a:t>How to get started?</a:t>
            </a:r>
            <a:endParaRPr/>
          </a:p>
        </p:txBody>
      </p:sp>
      <p:sp>
        <p:nvSpPr>
          <p:cNvPr id="111" name="Google Shape;111;p2"/>
          <p:cNvSpPr txBox="1"/>
          <p:nvPr/>
        </p:nvSpPr>
        <p:spPr>
          <a:xfrm>
            <a:off x="548655" y="1698320"/>
            <a:ext cx="822900" cy="4557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2600" u="none" cap="none" strike="noStrike">
                <a:solidFill>
                  <a:srgbClr val="3B82F6"/>
                </a:solidFill>
                <a:latin typeface="Calibri"/>
                <a:ea typeface="Calibri"/>
                <a:cs typeface="Calibri"/>
                <a:sym typeface="Calibri"/>
              </a:rPr>
              <a:t>0</a:t>
            </a:r>
            <a:r>
              <a:rPr b="1" lang="en-US" sz="2600">
                <a:solidFill>
                  <a:srgbClr val="3B82F6"/>
                </a:solidFill>
                <a:latin typeface="Calibri"/>
                <a:ea typeface="Calibri"/>
                <a:cs typeface="Calibri"/>
                <a:sym typeface="Calibri"/>
              </a:rPr>
              <a:t>1</a:t>
            </a:r>
            <a:endParaRPr/>
          </a:p>
        </p:txBody>
      </p:sp>
      <p:sp>
        <p:nvSpPr>
          <p:cNvPr id="112" name="Google Shape;112;p2"/>
          <p:cNvSpPr txBox="1"/>
          <p:nvPr/>
        </p:nvSpPr>
        <p:spPr>
          <a:xfrm>
            <a:off x="548655" y="2492495"/>
            <a:ext cx="822900" cy="4557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2600" u="none" cap="none" strike="noStrike">
                <a:solidFill>
                  <a:srgbClr val="3B82F6"/>
                </a:solidFill>
                <a:latin typeface="Calibri"/>
                <a:ea typeface="Calibri"/>
                <a:cs typeface="Calibri"/>
                <a:sym typeface="Calibri"/>
              </a:rPr>
              <a:t>0</a:t>
            </a:r>
            <a:r>
              <a:rPr b="1" lang="en-US" sz="2600">
                <a:solidFill>
                  <a:srgbClr val="3B82F6"/>
                </a:solidFill>
                <a:latin typeface="Calibri"/>
                <a:ea typeface="Calibri"/>
                <a:cs typeface="Calibri"/>
                <a:sym typeface="Calibri"/>
              </a:rPr>
              <a:t>2</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226"/>
        </a:solidFill>
      </p:bgPr>
    </p:bg>
    <p:spTree>
      <p:nvGrpSpPr>
        <p:cNvPr id="117" name="Shape 117"/>
        <p:cNvGrpSpPr/>
        <p:nvPr/>
      </p:nvGrpSpPr>
      <p:grpSpPr>
        <a:xfrm>
          <a:off x="0" y="0"/>
          <a:ext cx="0" cy="0"/>
          <a:chOff x="0" y="0"/>
          <a:chExt cx="0" cy="0"/>
        </a:xfrm>
      </p:grpSpPr>
      <p:sp>
        <p:nvSpPr>
          <p:cNvPr id="118" name="Google Shape;118;h45b0e18ed2441d3a_0_1"/>
          <p:cNvSpPr/>
          <p:nvPr/>
        </p:nvSpPr>
        <p:spPr>
          <a:xfrm>
            <a:off x="0" y="0"/>
            <a:ext cx="12191700" cy="109800"/>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9" name="Google Shape;119;h45b0e18ed2441d3a_0_1"/>
          <p:cNvSpPr txBox="1"/>
          <p:nvPr/>
        </p:nvSpPr>
        <p:spPr>
          <a:xfrm>
            <a:off x="548640" y="411480"/>
            <a:ext cx="7315200" cy="2400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200" u="none" cap="none" strike="noStrike">
                <a:solidFill>
                  <a:srgbClr val="3B82F6"/>
                </a:solidFill>
                <a:latin typeface="Calibri"/>
                <a:ea typeface="Calibri"/>
                <a:cs typeface="Calibri"/>
                <a:sym typeface="Calibri"/>
              </a:rPr>
              <a:t>WHO WE ARE</a:t>
            </a:r>
            <a:endParaRPr/>
          </a:p>
        </p:txBody>
      </p:sp>
      <p:sp>
        <p:nvSpPr>
          <p:cNvPr id="120" name="Google Shape;120;h45b0e18ed2441d3a_0_1"/>
          <p:cNvSpPr txBox="1"/>
          <p:nvPr/>
        </p:nvSpPr>
        <p:spPr>
          <a:xfrm>
            <a:off x="2827040" y="820760"/>
            <a:ext cx="11155800" cy="517200"/>
          </a:xfrm>
          <a:prstGeom prst="rect">
            <a:avLst/>
          </a:prstGeom>
          <a:noFill/>
          <a:ln>
            <a:noFill/>
          </a:ln>
        </p:spPr>
        <p:txBody>
          <a:bodyPr anchorCtr="0" anchor="t" bIns="27425" lIns="45700" spcFirstLastPara="1" rIns="45700" wrap="square" tIns="27425">
            <a:spAutoFit/>
          </a:bodyPr>
          <a:lstStyle/>
          <a:p>
            <a:pPr indent="-419100" lvl="0" marL="457200" marR="0" rtl="0" algn="l">
              <a:spcBef>
                <a:spcPts val="0"/>
              </a:spcBef>
              <a:spcAft>
                <a:spcPts val="0"/>
              </a:spcAft>
              <a:buClr>
                <a:srgbClr val="FFFFFF"/>
              </a:buClr>
              <a:buSzPts val="3000"/>
              <a:buFont typeface="Calibri"/>
              <a:buChar char="-"/>
            </a:pPr>
            <a:r>
              <a:rPr b="1" i="0" lang="en-US" sz="3000" u="none" cap="none" strike="noStrike">
                <a:solidFill>
                  <a:srgbClr val="FFFFFF"/>
                </a:solidFill>
                <a:latin typeface="Calibri"/>
                <a:ea typeface="Calibri"/>
                <a:cs typeface="Calibri"/>
                <a:sym typeface="Calibri"/>
              </a:rPr>
              <a:t>the applied AI lab behind Devin</a:t>
            </a:r>
            <a:endParaRPr/>
          </a:p>
        </p:txBody>
      </p:sp>
      <p:sp>
        <p:nvSpPr>
          <p:cNvPr id="121" name="Google Shape;121;h45b0e18ed2441d3a_0_1"/>
          <p:cNvSpPr txBox="1"/>
          <p:nvPr/>
        </p:nvSpPr>
        <p:spPr>
          <a:xfrm>
            <a:off x="548640" y="6446520"/>
            <a:ext cx="7315200" cy="2094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000" u="none" cap="none" strike="noStrike">
                <a:solidFill>
                  <a:srgbClr val="6B7280"/>
                </a:solidFill>
                <a:latin typeface="Calibri"/>
                <a:ea typeface="Calibri"/>
                <a:cs typeface="Calibri"/>
                <a:sym typeface="Calibri"/>
              </a:rPr>
              <a:t>Cognition  |  Devin </a:t>
            </a:r>
            <a:endParaRPr/>
          </a:p>
        </p:txBody>
      </p:sp>
      <p:sp>
        <p:nvSpPr>
          <p:cNvPr id="122" name="Google Shape;122;h45b0e18ed2441d3a_0_1"/>
          <p:cNvSpPr txBox="1"/>
          <p:nvPr/>
        </p:nvSpPr>
        <p:spPr>
          <a:xfrm>
            <a:off x="10789920" y="6446520"/>
            <a:ext cx="914400" cy="209400"/>
          </a:xfrm>
          <a:prstGeom prst="rect">
            <a:avLst/>
          </a:prstGeom>
          <a:noFill/>
          <a:ln>
            <a:noFill/>
          </a:ln>
        </p:spPr>
        <p:txBody>
          <a:bodyPr anchorCtr="0" anchor="t" bIns="27425" lIns="45700" spcFirstLastPara="1" rIns="45700" wrap="square" tIns="27425">
            <a:spAutoFit/>
          </a:bodyPr>
          <a:lstStyle/>
          <a:p>
            <a:pPr indent="0" lvl="0" marL="0" marR="0" rtl="0" algn="r">
              <a:spcBef>
                <a:spcPts val="0"/>
              </a:spcBef>
              <a:spcAft>
                <a:spcPts val="0"/>
              </a:spcAft>
              <a:buNone/>
            </a:pPr>
            <a:r>
              <a:rPr b="0" i="0" lang="en-US" sz="1000" u="none" cap="none" strike="noStrike">
                <a:solidFill>
                  <a:srgbClr val="6B7280"/>
                </a:solidFill>
                <a:latin typeface="Calibri"/>
                <a:ea typeface="Calibri"/>
                <a:cs typeface="Calibri"/>
                <a:sym typeface="Calibri"/>
              </a:rPr>
              <a:t>8</a:t>
            </a:r>
            <a:endParaRPr/>
          </a:p>
        </p:txBody>
      </p:sp>
      <p:sp>
        <p:nvSpPr>
          <p:cNvPr id="123" name="Google Shape;123;h45b0e18ed2441d3a_0_1"/>
          <p:cNvSpPr txBox="1"/>
          <p:nvPr/>
        </p:nvSpPr>
        <p:spPr>
          <a:xfrm>
            <a:off x="607275" y="1805699"/>
            <a:ext cx="5366700" cy="15945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t/>
            </a:r>
            <a:endParaRPr/>
          </a:p>
          <a:p>
            <a:pPr indent="0" lvl="0" marL="0" marR="0" rtl="0" algn="l">
              <a:spcBef>
                <a:spcPts val="0"/>
              </a:spcBef>
              <a:spcAft>
                <a:spcPts val="0"/>
              </a:spcAft>
              <a:buNone/>
            </a:pPr>
            <a:r>
              <a:t/>
            </a:r>
            <a:endParaRPr b="0" i="0" sz="1600" u="none" cap="none" strike="noStrike">
              <a:solidFill>
                <a:srgbClr val="D9DDE5"/>
              </a:solidFill>
              <a:latin typeface="Calibri"/>
              <a:ea typeface="Calibri"/>
              <a:cs typeface="Calibri"/>
              <a:sym typeface="Calibri"/>
            </a:endParaRPr>
          </a:p>
          <a:p>
            <a:pPr indent="0" lvl="0" marL="0" marR="0" rtl="0" algn="l">
              <a:spcBef>
                <a:spcPts val="0"/>
              </a:spcBef>
              <a:spcAft>
                <a:spcPts val="0"/>
              </a:spcAft>
              <a:buNone/>
            </a:pPr>
            <a:r>
              <a:rPr b="1" i="0" lang="en-US" sz="2000" u="none" cap="none" strike="noStrike">
                <a:solidFill>
                  <a:srgbClr val="D9DDE5"/>
                </a:solidFill>
                <a:latin typeface="Calibri"/>
                <a:ea typeface="Calibri"/>
                <a:cs typeface="Calibri"/>
                <a:sym typeface="Calibri"/>
              </a:rPr>
              <a:t>Mission</a:t>
            </a:r>
            <a:r>
              <a:rPr b="0" i="0" lang="en-US" sz="2000" u="none" cap="none" strike="noStrike">
                <a:solidFill>
                  <a:srgbClr val="D9DDE5"/>
                </a:solidFill>
                <a:latin typeface="Calibri"/>
                <a:ea typeface="Calibri"/>
                <a:cs typeface="Calibri"/>
                <a:sym typeface="Calibri"/>
              </a:rPr>
              <a:t>: build collaborative AI teammates that expand what engineering teams can ship.</a:t>
            </a:r>
            <a:endParaRPr sz="1800"/>
          </a:p>
          <a:p>
            <a:pPr indent="0" lvl="0" marL="0" marR="0" rtl="0" algn="l">
              <a:spcBef>
                <a:spcPts val="0"/>
              </a:spcBef>
              <a:spcAft>
                <a:spcPts val="0"/>
              </a:spcAft>
              <a:buNone/>
            </a:pPr>
            <a:r>
              <a:t/>
            </a:r>
            <a:endParaRPr b="0" i="0" sz="1600" u="none" cap="none" strike="noStrike">
              <a:solidFill>
                <a:srgbClr val="D9DDE5"/>
              </a:solidFill>
              <a:latin typeface="Calibri"/>
              <a:ea typeface="Calibri"/>
              <a:cs typeface="Calibri"/>
              <a:sym typeface="Calibri"/>
            </a:endParaRPr>
          </a:p>
          <a:p>
            <a:pPr indent="0" lvl="0" marL="0" marR="0" rtl="0" algn="l">
              <a:spcBef>
                <a:spcPts val="0"/>
              </a:spcBef>
              <a:spcAft>
                <a:spcPts val="0"/>
              </a:spcAft>
              <a:buNone/>
            </a:pPr>
            <a:r>
              <a:t/>
            </a:r>
            <a:endParaRPr/>
          </a:p>
        </p:txBody>
      </p:sp>
      <p:sp>
        <p:nvSpPr>
          <p:cNvPr id="124" name="Google Shape;124;h45b0e18ed2441d3a_0_1"/>
          <p:cNvSpPr txBox="1"/>
          <p:nvPr/>
        </p:nvSpPr>
        <p:spPr>
          <a:xfrm>
            <a:off x="6719666" y="1988775"/>
            <a:ext cx="1118100" cy="241500"/>
          </a:xfrm>
          <a:prstGeom prst="rect">
            <a:avLst/>
          </a:prstGeom>
          <a:noFill/>
          <a:ln>
            <a:noFill/>
          </a:ln>
        </p:spPr>
        <p:txBody>
          <a:bodyPr anchorCtr="0" anchor="t" bIns="23150" lIns="38575" spcFirstLastPara="1" rIns="38575" wrap="square" tIns="23150">
            <a:spAutoFit/>
          </a:bodyPr>
          <a:lstStyle/>
          <a:p>
            <a:pPr indent="0" lvl="0" marL="0" marR="0" rtl="0" algn="ctr">
              <a:spcBef>
                <a:spcPts val="0"/>
              </a:spcBef>
              <a:spcAft>
                <a:spcPts val="0"/>
              </a:spcAft>
              <a:buNone/>
            </a:pPr>
            <a:r>
              <a:rPr b="1" lang="en-US" sz="1266">
                <a:solidFill>
                  <a:srgbClr val="22C55E"/>
                </a:solidFill>
                <a:latin typeface="Calibri"/>
                <a:ea typeface="Calibri"/>
                <a:cs typeface="Calibri"/>
                <a:sym typeface="Calibri"/>
              </a:rPr>
              <a:t>Nov </a:t>
            </a:r>
            <a:r>
              <a:rPr b="1" i="0" lang="en-US" sz="1266" u="none" cap="none" strike="noStrike">
                <a:solidFill>
                  <a:srgbClr val="22C55E"/>
                </a:solidFill>
                <a:latin typeface="Calibri"/>
                <a:ea typeface="Calibri"/>
                <a:cs typeface="Calibri"/>
                <a:sym typeface="Calibri"/>
              </a:rPr>
              <a:t>2023</a:t>
            </a:r>
            <a:endParaRPr sz="1266"/>
          </a:p>
        </p:txBody>
      </p:sp>
      <p:sp>
        <p:nvSpPr>
          <p:cNvPr id="125" name="Google Shape;125;h45b0e18ed2441d3a_0_1"/>
          <p:cNvSpPr txBox="1"/>
          <p:nvPr/>
        </p:nvSpPr>
        <p:spPr>
          <a:xfrm>
            <a:off x="6352899" y="2196919"/>
            <a:ext cx="1851600" cy="150600"/>
          </a:xfrm>
          <a:prstGeom prst="rect">
            <a:avLst/>
          </a:prstGeom>
          <a:noFill/>
          <a:ln>
            <a:noFill/>
          </a:ln>
        </p:spPr>
        <p:txBody>
          <a:bodyPr anchorCtr="0" anchor="t" bIns="23150" lIns="38575" spcFirstLastPara="1" rIns="38575" wrap="square" tIns="23150">
            <a:spAutoFit/>
          </a:bodyPr>
          <a:lstStyle/>
          <a:p>
            <a:pPr indent="0" lvl="0" marL="0" marR="0" rtl="0" algn="ctr">
              <a:spcBef>
                <a:spcPts val="0"/>
              </a:spcBef>
              <a:spcAft>
                <a:spcPts val="0"/>
              </a:spcAft>
              <a:buNone/>
            </a:pPr>
            <a:r>
              <a:rPr b="0" i="0" lang="en-US" sz="675" u="none" cap="none" strike="noStrike">
                <a:solidFill>
                  <a:srgbClr val="D9DDE5"/>
                </a:solidFill>
                <a:latin typeface="Calibri"/>
                <a:ea typeface="Calibri"/>
                <a:cs typeface="Calibri"/>
                <a:sym typeface="Calibri"/>
              </a:rPr>
              <a:t>Founded</a:t>
            </a:r>
            <a:endParaRPr sz="759"/>
          </a:p>
        </p:txBody>
      </p:sp>
      <p:sp>
        <p:nvSpPr>
          <p:cNvPr id="126" name="Google Shape;126;h45b0e18ed2441d3a_0_1"/>
          <p:cNvSpPr txBox="1"/>
          <p:nvPr/>
        </p:nvSpPr>
        <p:spPr>
          <a:xfrm>
            <a:off x="7290564" y="3140804"/>
            <a:ext cx="1851600" cy="241500"/>
          </a:xfrm>
          <a:prstGeom prst="rect">
            <a:avLst/>
          </a:prstGeom>
          <a:noFill/>
          <a:ln>
            <a:noFill/>
          </a:ln>
        </p:spPr>
        <p:txBody>
          <a:bodyPr anchorCtr="0" anchor="t" bIns="23150" lIns="38575" spcFirstLastPara="1" rIns="38575" wrap="square" tIns="23150">
            <a:spAutoFit/>
          </a:bodyPr>
          <a:lstStyle/>
          <a:p>
            <a:pPr indent="0" lvl="0" marL="0" marR="0" rtl="0" algn="ctr">
              <a:spcBef>
                <a:spcPts val="0"/>
              </a:spcBef>
              <a:spcAft>
                <a:spcPts val="0"/>
              </a:spcAft>
              <a:buNone/>
            </a:pPr>
            <a:r>
              <a:rPr b="1" lang="en-US" sz="1266">
                <a:solidFill>
                  <a:srgbClr val="22C55E"/>
                </a:solidFill>
                <a:latin typeface="Calibri"/>
                <a:ea typeface="Calibri"/>
                <a:cs typeface="Calibri"/>
                <a:sym typeface="Calibri"/>
              </a:rPr>
              <a:t>March </a:t>
            </a:r>
            <a:r>
              <a:rPr b="1" i="0" lang="en-US" sz="1266" u="none" cap="none" strike="noStrike">
                <a:solidFill>
                  <a:srgbClr val="22C55E"/>
                </a:solidFill>
                <a:latin typeface="Calibri"/>
                <a:ea typeface="Calibri"/>
                <a:cs typeface="Calibri"/>
                <a:sym typeface="Calibri"/>
              </a:rPr>
              <a:t>2024</a:t>
            </a:r>
            <a:endParaRPr sz="1266"/>
          </a:p>
        </p:txBody>
      </p:sp>
      <p:sp>
        <p:nvSpPr>
          <p:cNvPr id="127" name="Google Shape;127;h45b0e18ed2441d3a_0_1"/>
          <p:cNvSpPr txBox="1"/>
          <p:nvPr/>
        </p:nvSpPr>
        <p:spPr>
          <a:xfrm>
            <a:off x="10611512" y="1978425"/>
            <a:ext cx="1851600" cy="241500"/>
          </a:xfrm>
          <a:prstGeom prst="rect">
            <a:avLst/>
          </a:prstGeom>
          <a:noFill/>
          <a:ln>
            <a:noFill/>
          </a:ln>
        </p:spPr>
        <p:txBody>
          <a:bodyPr anchorCtr="0" anchor="t" bIns="23150" lIns="38575" spcFirstLastPara="1" rIns="38575" wrap="square" tIns="23150">
            <a:spAutoFit/>
          </a:bodyPr>
          <a:lstStyle/>
          <a:p>
            <a:pPr indent="0" lvl="0" marL="0" marR="0" rtl="0" algn="ctr">
              <a:spcBef>
                <a:spcPts val="0"/>
              </a:spcBef>
              <a:spcAft>
                <a:spcPts val="0"/>
              </a:spcAft>
              <a:buNone/>
            </a:pPr>
            <a:r>
              <a:rPr b="1" lang="en-US" sz="1266">
                <a:solidFill>
                  <a:srgbClr val="22C55E"/>
                </a:solidFill>
                <a:latin typeface="Calibri"/>
                <a:ea typeface="Calibri"/>
                <a:cs typeface="Calibri"/>
                <a:sym typeface="Calibri"/>
              </a:rPr>
              <a:t>Sept 2026</a:t>
            </a:r>
            <a:endParaRPr sz="1266"/>
          </a:p>
        </p:txBody>
      </p:sp>
      <p:sp>
        <p:nvSpPr>
          <p:cNvPr id="128" name="Google Shape;128;h45b0e18ed2441d3a_0_1"/>
          <p:cNvSpPr txBox="1"/>
          <p:nvPr/>
        </p:nvSpPr>
        <p:spPr>
          <a:xfrm>
            <a:off x="10581640" y="2212987"/>
            <a:ext cx="1911300" cy="202500"/>
          </a:xfrm>
          <a:prstGeom prst="rect">
            <a:avLst/>
          </a:prstGeom>
          <a:noFill/>
          <a:ln>
            <a:noFill/>
          </a:ln>
        </p:spPr>
        <p:txBody>
          <a:bodyPr anchorCtr="0" anchor="t" bIns="23150" lIns="38575" spcFirstLastPara="1" rIns="38575" wrap="square" tIns="23150">
            <a:spAutoFit/>
          </a:bodyPr>
          <a:lstStyle/>
          <a:p>
            <a:pPr indent="0" lvl="0" marL="0" rtl="0" algn="ctr">
              <a:spcBef>
                <a:spcPts val="0"/>
              </a:spcBef>
              <a:spcAft>
                <a:spcPts val="0"/>
              </a:spcAft>
              <a:buNone/>
            </a:pPr>
            <a:r>
              <a:rPr b="1" lang="en-US" sz="1012">
                <a:solidFill>
                  <a:srgbClr val="22C55E"/>
                </a:solidFill>
                <a:latin typeface="Calibri"/>
                <a:ea typeface="Calibri"/>
                <a:cs typeface="Calibri"/>
                <a:sym typeface="Calibri"/>
              </a:rPr>
              <a:t>$1B+</a:t>
            </a:r>
            <a:r>
              <a:rPr lang="en-US" sz="1012">
                <a:solidFill>
                  <a:schemeClr val="dk1"/>
                </a:solidFill>
              </a:rPr>
              <a:t> </a:t>
            </a:r>
            <a:r>
              <a:rPr lang="en-US" sz="675">
                <a:solidFill>
                  <a:srgbClr val="D9DDE5"/>
                </a:solidFill>
                <a:latin typeface="Calibri"/>
                <a:ea typeface="Calibri"/>
                <a:cs typeface="Calibri"/>
                <a:sym typeface="Calibri"/>
              </a:rPr>
              <a:t>Revenue</a:t>
            </a:r>
            <a:r>
              <a:rPr b="0" i="0" lang="en-US" sz="675" u="none" cap="none" strike="noStrike">
                <a:solidFill>
                  <a:srgbClr val="D9DDE5"/>
                </a:solidFill>
                <a:latin typeface="Calibri"/>
                <a:ea typeface="Calibri"/>
                <a:cs typeface="Calibri"/>
                <a:sym typeface="Calibri"/>
              </a:rPr>
              <a:t> </a:t>
            </a:r>
            <a:endParaRPr sz="759"/>
          </a:p>
        </p:txBody>
      </p:sp>
      <p:sp>
        <p:nvSpPr>
          <p:cNvPr id="129" name="Google Shape;129;h45b0e18ed2441d3a_0_1"/>
          <p:cNvSpPr txBox="1"/>
          <p:nvPr/>
        </p:nvSpPr>
        <p:spPr>
          <a:xfrm>
            <a:off x="9532941" y="3125768"/>
            <a:ext cx="1851600" cy="241500"/>
          </a:xfrm>
          <a:prstGeom prst="rect">
            <a:avLst/>
          </a:prstGeom>
          <a:noFill/>
          <a:ln>
            <a:noFill/>
          </a:ln>
        </p:spPr>
        <p:txBody>
          <a:bodyPr anchorCtr="0" anchor="t" bIns="23150" lIns="38575" spcFirstLastPara="1" rIns="38575" wrap="square" tIns="23150">
            <a:spAutoFit/>
          </a:bodyPr>
          <a:lstStyle/>
          <a:p>
            <a:pPr indent="0" lvl="0" marL="0" marR="0" rtl="0" algn="ctr">
              <a:spcBef>
                <a:spcPts val="0"/>
              </a:spcBef>
              <a:spcAft>
                <a:spcPts val="0"/>
              </a:spcAft>
              <a:buNone/>
            </a:pPr>
            <a:r>
              <a:rPr b="1" i="0" lang="en-US" sz="1266" u="none" cap="none" strike="noStrike">
                <a:solidFill>
                  <a:srgbClr val="22C55E"/>
                </a:solidFill>
                <a:latin typeface="Calibri"/>
                <a:ea typeface="Calibri"/>
                <a:cs typeface="Calibri"/>
                <a:sym typeface="Calibri"/>
              </a:rPr>
              <a:t>Global Expansion</a:t>
            </a:r>
            <a:endParaRPr sz="1266"/>
          </a:p>
        </p:txBody>
      </p:sp>
      <p:sp>
        <p:nvSpPr>
          <p:cNvPr id="130" name="Google Shape;130;h45b0e18ed2441d3a_0_1"/>
          <p:cNvSpPr txBox="1"/>
          <p:nvPr/>
        </p:nvSpPr>
        <p:spPr>
          <a:xfrm>
            <a:off x="9570508" y="3012527"/>
            <a:ext cx="1851600" cy="150600"/>
          </a:xfrm>
          <a:prstGeom prst="rect">
            <a:avLst/>
          </a:prstGeom>
          <a:noFill/>
          <a:ln>
            <a:noFill/>
          </a:ln>
        </p:spPr>
        <p:txBody>
          <a:bodyPr anchorCtr="0" anchor="t" bIns="23150" lIns="38575" spcFirstLastPara="1" rIns="38575" wrap="square" tIns="23150">
            <a:spAutoFit/>
          </a:bodyPr>
          <a:lstStyle/>
          <a:p>
            <a:pPr indent="0" lvl="0" marL="0" marR="0" rtl="0" algn="ctr">
              <a:spcBef>
                <a:spcPts val="0"/>
              </a:spcBef>
              <a:spcAft>
                <a:spcPts val="0"/>
              </a:spcAft>
              <a:buNone/>
            </a:pPr>
            <a:r>
              <a:rPr b="0" i="0" lang="en-US" sz="675" u="none" cap="none" strike="noStrike">
                <a:solidFill>
                  <a:srgbClr val="D9DDE5"/>
                </a:solidFill>
                <a:latin typeface="Calibri"/>
                <a:ea typeface="Calibri"/>
                <a:cs typeface="Calibri"/>
                <a:sym typeface="Calibri"/>
              </a:rPr>
              <a:t>Banks, fintech, SaaS customers</a:t>
            </a:r>
            <a:endParaRPr sz="759"/>
          </a:p>
        </p:txBody>
      </p:sp>
      <p:pic>
        <p:nvPicPr>
          <p:cNvPr id="131" name="Google Shape;131;h45b0e18ed2441d3a_0_1" title="Screenshot 2026-09-25 at 4.42.04 PM.png"/>
          <p:cNvPicPr preferRelativeResize="0"/>
          <p:nvPr/>
        </p:nvPicPr>
        <p:blipFill rotWithShape="1">
          <a:blip r:embed="rId3">
            <a:alphaModFix/>
          </a:blip>
          <a:srcRect b="-125260" l="-12000" r="12000" t="125260"/>
          <a:stretch/>
        </p:blipFill>
        <p:spPr>
          <a:xfrm>
            <a:off x="5880613" y="3613188"/>
            <a:ext cx="7743825" cy="3800475"/>
          </a:xfrm>
          <a:prstGeom prst="rect">
            <a:avLst/>
          </a:prstGeom>
          <a:noFill/>
          <a:ln>
            <a:noFill/>
          </a:ln>
        </p:spPr>
      </p:pic>
      <p:cxnSp>
        <p:nvCxnSpPr>
          <p:cNvPr id="132" name="Google Shape;132;h45b0e18ed2441d3a_0_1"/>
          <p:cNvCxnSpPr/>
          <p:nvPr/>
        </p:nvCxnSpPr>
        <p:spPr>
          <a:xfrm>
            <a:off x="7245243" y="2692870"/>
            <a:ext cx="4334400" cy="18000"/>
          </a:xfrm>
          <a:prstGeom prst="straightConnector1">
            <a:avLst/>
          </a:prstGeom>
          <a:noFill/>
          <a:ln cap="flat" cmpd="sng" w="96450">
            <a:solidFill>
              <a:schemeClr val="lt1"/>
            </a:solidFill>
            <a:prstDash val="solid"/>
            <a:round/>
            <a:headEnd len="med" w="med" type="none"/>
            <a:tailEnd len="med" w="med" type="none"/>
          </a:ln>
        </p:spPr>
      </p:cxnSp>
      <p:cxnSp>
        <p:nvCxnSpPr>
          <p:cNvPr id="133" name="Google Shape;133;h45b0e18ed2441d3a_0_1"/>
          <p:cNvCxnSpPr/>
          <p:nvPr/>
        </p:nvCxnSpPr>
        <p:spPr>
          <a:xfrm flipH="1" rot="10800000">
            <a:off x="7245246" y="2451901"/>
            <a:ext cx="1500" cy="302100"/>
          </a:xfrm>
          <a:prstGeom prst="straightConnector1">
            <a:avLst/>
          </a:prstGeom>
          <a:noFill/>
          <a:ln cap="flat" cmpd="sng" w="96450">
            <a:solidFill>
              <a:schemeClr val="lt1"/>
            </a:solidFill>
            <a:prstDash val="solid"/>
            <a:round/>
            <a:headEnd len="med" w="med" type="none"/>
            <a:tailEnd len="med" w="med" type="none"/>
          </a:ln>
        </p:spPr>
      </p:cxnSp>
      <p:cxnSp>
        <p:nvCxnSpPr>
          <p:cNvPr id="134" name="Google Shape;134;h45b0e18ed2441d3a_0_1"/>
          <p:cNvCxnSpPr/>
          <p:nvPr/>
        </p:nvCxnSpPr>
        <p:spPr>
          <a:xfrm>
            <a:off x="8216353" y="2692869"/>
            <a:ext cx="0" cy="285900"/>
          </a:xfrm>
          <a:prstGeom prst="straightConnector1">
            <a:avLst/>
          </a:prstGeom>
          <a:noFill/>
          <a:ln cap="flat" cmpd="sng" w="96450">
            <a:solidFill>
              <a:schemeClr val="lt1"/>
            </a:solidFill>
            <a:prstDash val="solid"/>
            <a:round/>
            <a:headEnd len="med" w="med" type="none"/>
            <a:tailEnd len="med" w="med" type="none"/>
          </a:ln>
        </p:spPr>
      </p:cxnSp>
      <p:sp>
        <p:nvSpPr>
          <p:cNvPr id="135" name="Google Shape;135;h45b0e18ed2441d3a_0_1"/>
          <p:cNvSpPr txBox="1"/>
          <p:nvPr/>
        </p:nvSpPr>
        <p:spPr>
          <a:xfrm>
            <a:off x="7290577" y="2999573"/>
            <a:ext cx="1851600" cy="150600"/>
          </a:xfrm>
          <a:prstGeom prst="rect">
            <a:avLst/>
          </a:prstGeom>
          <a:noFill/>
          <a:ln>
            <a:noFill/>
          </a:ln>
        </p:spPr>
        <p:txBody>
          <a:bodyPr anchorCtr="0" anchor="t" bIns="23150" lIns="38575" spcFirstLastPara="1" rIns="38575" wrap="square" tIns="23150">
            <a:spAutoFit/>
          </a:bodyPr>
          <a:lstStyle/>
          <a:p>
            <a:pPr indent="0" lvl="0" marL="0" marR="0" rtl="0" algn="ctr">
              <a:spcBef>
                <a:spcPts val="0"/>
              </a:spcBef>
              <a:spcAft>
                <a:spcPts val="0"/>
              </a:spcAft>
              <a:buNone/>
            </a:pPr>
            <a:r>
              <a:rPr lang="en-US" sz="675">
                <a:solidFill>
                  <a:srgbClr val="D9DDE5"/>
                </a:solidFill>
                <a:latin typeface="Calibri"/>
                <a:ea typeface="Calibri"/>
                <a:cs typeface="Calibri"/>
                <a:sym typeface="Calibri"/>
              </a:rPr>
              <a:t>Devin Launched</a:t>
            </a:r>
            <a:endParaRPr sz="759"/>
          </a:p>
        </p:txBody>
      </p:sp>
      <p:sp>
        <p:nvSpPr>
          <p:cNvPr id="136" name="Google Shape;136;h45b0e18ed2441d3a_0_1"/>
          <p:cNvSpPr txBox="1"/>
          <p:nvPr/>
        </p:nvSpPr>
        <p:spPr>
          <a:xfrm>
            <a:off x="8405804" y="1988771"/>
            <a:ext cx="1851600" cy="241500"/>
          </a:xfrm>
          <a:prstGeom prst="rect">
            <a:avLst/>
          </a:prstGeom>
          <a:noFill/>
          <a:ln>
            <a:noFill/>
          </a:ln>
        </p:spPr>
        <p:txBody>
          <a:bodyPr anchorCtr="0" anchor="t" bIns="23150" lIns="38575" spcFirstLastPara="1" rIns="38575" wrap="square" tIns="23150">
            <a:spAutoFit/>
          </a:bodyPr>
          <a:lstStyle/>
          <a:p>
            <a:pPr indent="0" lvl="0" marL="0" marR="0" rtl="0" algn="ctr">
              <a:spcBef>
                <a:spcPts val="0"/>
              </a:spcBef>
              <a:spcAft>
                <a:spcPts val="0"/>
              </a:spcAft>
              <a:buNone/>
            </a:pPr>
            <a:r>
              <a:rPr b="1" lang="en-US" sz="1266">
                <a:solidFill>
                  <a:srgbClr val="22C55E"/>
                </a:solidFill>
                <a:latin typeface="Calibri"/>
                <a:ea typeface="Calibri"/>
                <a:cs typeface="Calibri"/>
                <a:sym typeface="Calibri"/>
              </a:rPr>
              <a:t>July</a:t>
            </a:r>
            <a:r>
              <a:rPr b="1" lang="en-US" sz="1266">
                <a:solidFill>
                  <a:srgbClr val="22C55E"/>
                </a:solidFill>
                <a:latin typeface="Calibri"/>
                <a:ea typeface="Calibri"/>
                <a:cs typeface="Calibri"/>
                <a:sym typeface="Calibri"/>
              </a:rPr>
              <a:t> </a:t>
            </a:r>
            <a:r>
              <a:rPr b="1" i="0" lang="en-US" sz="1266" u="none" cap="none" strike="noStrike">
                <a:solidFill>
                  <a:srgbClr val="22C55E"/>
                </a:solidFill>
                <a:latin typeface="Calibri"/>
                <a:ea typeface="Calibri"/>
                <a:cs typeface="Calibri"/>
                <a:sym typeface="Calibri"/>
              </a:rPr>
              <a:t>202</a:t>
            </a:r>
            <a:r>
              <a:rPr b="1" lang="en-US" sz="1266">
                <a:solidFill>
                  <a:srgbClr val="22C55E"/>
                </a:solidFill>
                <a:latin typeface="Calibri"/>
                <a:ea typeface="Calibri"/>
                <a:cs typeface="Calibri"/>
                <a:sym typeface="Calibri"/>
              </a:rPr>
              <a:t>5</a:t>
            </a:r>
            <a:endParaRPr sz="1266"/>
          </a:p>
        </p:txBody>
      </p:sp>
      <p:sp>
        <p:nvSpPr>
          <p:cNvPr id="137" name="Google Shape;137;h45b0e18ed2441d3a_0_1"/>
          <p:cNvSpPr txBox="1"/>
          <p:nvPr/>
        </p:nvSpPr>
        <p:spPr>
          <a:xfrm>
            <a:off x="8405817" y="2219416"/>
            <a:ext cx="1851600" cy="150600"/>
          </a:xfrm>
          <a:prstGeom prst="rect">
            <a:avLst/>
          </a:prstGeom>
          <a:noFill/>
          <a:ln>
            <a:noFill/>
          </a:ln>
        </p:spPr>
        <p:txBody>
          <a:bodyPr anchorCtr="0" anchor="t" bIns="23150" lIns="38575" spcFirstLastPara="1" rIns="38575" wrap="square" tIns="23150">
            <a:spAutoFit/>
          </a:bodyPr>
          <a:lstStyle/>
          <a:p>
            <a:pPr indent="0" lvl="0" marL="0" marR="0" rtl="0" algn="ctr">
              <a:spcBef>
                <a:spcPts val="0"/>
              </a:spcBef>
              <a:spcAft>
                <a:spcPts val="0"/>
              </a:spcAft>
              <a:buNone/>
            </a:pPr>
            <a:r>
              <a:rPr lang="en-US" sz="675">
                <a:solidFill>
                  <a:srgbClr val="D9DDE5"/>
                </a:solidFill>
                <a:latin typeface="Calibri"/>
                <a:ea typeface="Calibri"/>
                <a:cs typeface="Calibri"/>
                <a:sym typeface="Calibri"/>
              </a:rPr>
              <a:t>Windsurf Acquisition</a:t>
            </a:r>
            <a:endParaRPr sz="759"/>
          </a:p>
        </p:txBody>
      </p:sp>
      <p:cxnSp>
        <p:nvCxnSpPr>
          <p:cNvPr id="138" name="Google Shape;138;h45b0e18ed2441d3a_0_1"/>
          <p:cNvCxnSpPr/>
          <p:nvPr/>
        </p:nvCxnSpPr>
        <p:spPr>
          <a:xfrm>
            <a:off x="11537289" y="2436617"/>
            <a:ext cx="0" cy="285900"/>
          </a:xfrm>
          <a:prstGeom prst="straightConnector1">
            <a:avLst/>
          </a:prstGeom>
          <a:noFill/>
          <a:ln cap="flat" cmpd="sng" w="96450">
            <a:solidFill>
              <a:schemeClr val="lt1"/>
            </a:solidFill>
            <a:prstDash val="solid"/>
            <a:round/>
            <a:headEnd len="med" w="med" type="none"/>
            <a:tailEnd len="med" w="med" type="none"/>
          </a:ln>
        </p:spPr>
      </p:cxnSp>
      <p:cxnSp>
        <p:nvCxnSpPr>
          <p:cNvPr id="139" name="Google Shape;139;h45b0e18ed2441d3a_0_1"/>
          <p:cNvCxnSpPr/>
          <p:nvPr/>
        </p:nvCxnSpPr>
        <p:spPr>
          <a:xfrm>
            <a:off x="10458730" y="2659911"/>
            <a:ext cx="0" cy="285900"/>
          </a:xfrm>
          <a:prstGeom prst="straightConnector1">
            <a:avLst/>
          </a:prstGeom>
          <a:noFill/>
          <a:ln cap="flat" cmpd="sng" w="96450">
            <a:solidFill>
              <a:schemeClr val="lt1"/>
            </a:solidFill>
            <a:prstDash val="solid"/>
            <a:round/>
            <a:headEnd len="med" w="med" type="none"/>
            <a:tailEnd len="med" w="med" type="none"/>
          </a:ln>
        </p:spPr>
      </p:cxnSp>
      <p:cxnSp>
        <p:nvCxnSpPr>
          <p:cNvPr id="140" name="Google Shape;140;h45b0e18ed2441d3a_0_1"/>
          <p:cNvCxnSpPr/>
          <p:nvPr/>
        </p:nvCxnSpPr>
        <p:spPr>
          <a:xfrm>
            <a:off x="9331593" y="2436617"/>
            <a:ext cx="0" cy="285900"/>
          </a:xfrm>
          <a:prstGeom prst="straightConnector1">
            <a:avLst/>
          </a:prstGeom>
          <a:noFill/>
          <a:ln cap="flat" cmpd="sng" w="96450">
            <a:solidFill>
              <a:schemeClr val="lt1"/>
            </a:solidFill>
            <a:prstDash val="solid"/>
            <a:round/>
            <a:headEnd len="med" w="med" type="none"/>
            <a:tailEnd len="med" w="med" type="none"/>
          </a:ln>
        </p:spPr>
      </p:cxnSp>
      <p:pic>
        <p:nvPicPr>
          <p:cNvPr id="141" name="Google Shape;141;h45b0e18ed2441d3a_0_1" title="brand-logo-cognition-1.png"/>
          <p:cNvPicPr preferRelativeResize="0"/>
          <p:nvPr/>
        </p:nvPicPr>
        <p:blipFill>
          <a:blip r:embed="rId4">
            <a:alphaModFix/>
          </a:blip>
          <a:stretch>
            <a:fillRect/>
          </a:stretch>
        </p:blipFill>
        <p:spPr>
          <a:xfrm>
            <a:off x="632550" y="882439"/>
            <a:ext cx="2194499" cy="424328"/>
          </a:xfrm>
          <a:prstGeom prst="rect">
            <a:avLst/>
          </a:prstGeom>
          <a:noFill/>
          <a:ln>
            <a:noFill/>
          </a:ln>
        </p:spPr>
      </p:pic>
      <p:pic>
        <p:nvPicPr>
          <p:cNvPr id="142" name="Google Shape;142;h45b0e18ed2441d3a_0_1" title="ATT-Logo.png"/>
          <p:cNvPicPr preferRelativeResize="0"/>
          <p:nvPr/>
        </p:nvPicPr>
        <p:blipFill>
          <a:blip r:embed="rId5">
            <a:alphaModFix/>
          </a:blip>
          <a:stretch>
            <a:fillRect/>
          </a:stretch>
        </p:blipFill>
        <p:spPr>
          <a:xfrm>
            <a:off x="505762" y="5574537"/>
            <a:ext cx="1167974" cy="657000"/>
          </a:xfrm>
          <a:prstGeom prst="rect">
            <a:avLst/>
          </a:prstGeom>
          <a:noFill/>
          <a:ln>
            <a:noFill/>
          </a:ln>
        </p:spPr>
      </p:pic>
      <p:pic>
        <p:nvPicPr>
          <p:cNvPr id="143" name="Google Shape;143;h45b0e18ed2441d3a_0_1" title="mercedes-benz-logo-png_seeklogo-190348.png"/>
          <p:cNvPicPr preferRelativeResize="0"/>
          <p:nvPr/>
        </p:nvPicPr>
        <p:blipFill>
          <a:blip r:embed="rId6">
            <a:alphaModFix/>
          </a:blip>
          <a:stretch>
            <a:fillRect/>
          </a:stretch>
        </p:blipFill>
        <p:spPr>
          <a:xfrm>
            <a:off x="2140813" y="4274113"/>
            <a:ext cx="1032600" cy="1032600"/>
          </a:xfrm>
          <a:prstGeom prst="rect">
            <a:avLst/>
          </a:prstGeom>
          <a:noFill/>
          <a:ln>
            <a:noFill/>
          </a:ln>
        </p:spPr>
      </p:pic>
      <p:pic>
        <p:nvPicPr>
          <p:cNvPr id="144" name="Google Shape;144;h45b0e18ed2441d3a_0_1" title="Goldman-Sachs-Logo.png"/>
          <p:cNvPicPr preferRelativeResize="0"/>
          <p:nvPr/>
        </p:nvPicPr>
        <p:blipFill>
          <a:blip r:embed="rId7">
            <a:alphaModFix/>
          </a:blip>
          <a:stretch>
            <a:fillRect/>
          </a:stretch>
        </p:blipFill>
        <p:spPr>
          <a:xfrm>
            <a:off x="4022938" y="4417736"/>
            <a:ext cx="1325100" cy="745377"/>
          </a:xfrm>
          <a:prstGeom prst="rect">
            <a:avLst/>
          </a:prstGeom>
          <a:noFill/>
          <a:ln>
            <a:noFill/>
          </a:ln>
        </p:spPr>
      </p:pic>
      <p:pic>
        <p:nvPicPr>
          <p:cNvPr id="145" name="Google Shape;145;h45b0e18ed2441d3a_0_1" title="Lowes-Logo.png"/>
          <p:cNvPicPr preferRelativeResize="0"/>
          <p:nvPr/>
        </p:nvPicPr>
        <p:blipFill>
          <a:blip r:embed="rId8">
            <a:alphaModFix/>
          </a:blip>
          <a:stretch>
            <a:fillRect/>
          </a:stretch>
        </p:blipFill>
        <p:spPr>
          <a:xfrm>
            <a:off x="6283850" y="4417744"/>
            <a:ext cx="1325102" cy="745356"/>
          </a:xfrm>
          <a:prstGeom prst="rect">
            <a:avLst/>
          </a:prstGeom>
          <a:noFill/>
          <a:ln>
            <a:noFill/>
          </a:ln>
        </p:spPr>
      </p:pic>
      <p:pic>
        <p:nvPicPr>
          <p:cNvPr id="146" name="Google Shape;146;h45b0e18ed2441d3a_0_1" title="200310-A-UM169-001.png"/>
          <p:cNvPicPr preferRelativeResize="0"/>
          <p:nvPr/>
        </p:nvPicPr>
        <p:blipFill>
          <a:blip r:embed="rId9">
            <a:alphaModFix/>
          </a:blip>
          <a:stretch>
            <a:fillRect/>
          </a:stretch>
        </p:blipFill>
        <p:spPr>
          <a:xfrm>
            <a:off x="8759024" y="4417726"/>
            <a:ext cx="650351" cy="868275"/>
          </a:xfrm>
          <a:prstGeom prst="rect">
            <a:avLst/>
          </a:prstGeom>
          <a:noFill/>
          <a:ln>
            <a:noFill/>
          </a:ln>
        </p:spPr>
      </p:pic>
      <p:pic>
        <p:nvPicPr>
          <p:cNvPr id="147" name="Google Shape;147;h45b0e18ed2441d3a_0_1" title="Rivian-Logo.png"/>
          <p:cNvPicPr preferRelativeResize="0"/>
          <p:nvPr/>
        </p:nvPicPr>
        <p:blipFill>
          <a:blip r:embed="rId10">
            <a:alphaModFix/>
          </a:blip>
          <a:stretch>
            <a:fillRect/>
          </a:stretch>
        </p:blipFill>
        <p:spPr>
          <a:xfrm>
            <a:off x="6273275" y="5530670"/>
            <a:ext cx="1325102" cy="744720"/>
          </a:xfrm>
          <a:prstGeom prst="rect">
            <a:avLst/>
          </a:prstGeom>
          <a:noFill/>
          <a:ln>
            <a:noFill/>
          </a:ln>
        </p:spPr>
      </p:pic>
      <p:pic>
        <p:nvPicPr>
          <p:cNvPr id="148" name="Google Shape;148;h45b0e18ed2441d3a_0_1" title="nubank-brandlogo.net_.png"/>
          <p:cNvPicPr preferRelativeResize="0"/>
          <p:nvPr/>
        </p:nvPicPr>
        <p:blipFill>
          <a:blip r:embed="rId11">
            <a:alphaModFix/>
          </a:blip>
          <a:stretch>
            <a:fillRect/>
          </a:stretch>
        </p:blipFill>
        <p:spPr>
          <a:xfrm>
            <a:off x="2073137" y="5319062"/>
            <a:ext cx="1167975" cy="1167975"/>
          </a:xfrm>
          <a:prstGeom prst="rect">
            <a:avLst/>
          </a:prstGeom>
          <a:noFill/>
          <a:ln>
            <a:noFill/>
          </a:ln>
        </p:spPr>
      </p:pic>
      <p:pic>
        <p:nvPicPr>
          <p:cNvPr id="149" name="Google Shape;149;h45b0e18ed2441d3a_0_1" title="NASA-Logo-1975.png"/>
          <p:cNvPicPr preferRelativeResize="0"/>
          <p:nvPr/>
        </p:nvPicPr>
        <p:blipFill>
          <a:blip r:embed="rId12">
            <a:alphaModFix/>
          </a:blip>
          <a:stretch>
            <a:fillRect/>
          </a:stretch>
        </p:blipFill>
        <p:spPr>
          <a:xfrm>
            <a:off x="3855524" y="5436189"/>
            <a:ext cx="1659950" cy="933699"/>
          </a:xfrm>
          <a:prstGeom prst="rect">
            <a:avLst/>
          </a:prstGeom>
          <a:noFill/>
          <a:ln>
            <a:noFill/>
          </a:ln>
        </p:spPr>
      </p:pic>
      <p:pic>
        <p:nvPicPr>
          <p:cNvPr id="150" name="Google Shape;150;h45b0e18ed2441d3a_0_1" title="Emblem_of_the_United_States_Navy.png"/>
          <p:cNvPicPr preferRelativeResize="0"/>
          <p:nvPr/>
        </p:nvPicPr>
        <p:blipFill>
          <a:blip r:embed="rId13">
            <a:alphaModFix/>
          </a:blip>
          <a:stretch>
            <a:fillRect/>
          </a:stretch>
        </p:blipFill>
        <p:spPr>
          <a:xfrm>
            <a:off x="10719368" y="4417727"/>
            <a:ext cx="745420" cy="745400"/>
          </a:xfrm>
          <a:prstGeom prst="rect">
            <a:avLst/>
          </a:prstGeom>
          <a:noFill/>
          <a:ln>
            <a:noFill/>
          </a:ln>
        </p:spPr>
      </p:pic>
      <p:pic>
        <p:nvPicPr>
          <p:cNvPr id="151" name="Google Shape;151;h45b0e18ed2441d3a_0_1" title="Santander_Logo.png"/>
          <p:cNvPicPr preferRelativeResize="0"/>
          <p:nvPr/>
        </p:nvPicPr>
        <p:blipFill>
          <a:blip r:embed="rId14">
            <a:alphaModFix/>
          </a:blip>
          <a:stretch>
            <a:fillRect/>
          </a:stretch>
        </p:blipFill>
        <p:spPr>
          <a:xfrm>
            <a:off x="8166675" y="5648473"/>
            <a:ext cx="1751624" cy="626928"/>
          </a:xfrm>
          <a:prstGeom prst="rect">
            <a:avLst/>
          </a:prstGeom>
          <a:noFill/>
          <a:ln>
            <a:noFill/>
          </a:ln>
        </p:spPr>
      </p:pic>
      <p:pic>
        <p:nvPicPr>
          <p:cNvPr id="152" name="Google Shape;152;h45b0e18ed2441d3a_0_1" title="ServiceNow_logo.png"/>
          <p:cNvPicPr preferRelativeResize="0"/>
          <p:nvPr/>
        </p:nvPicPr>
        <p:blipFill>
          <a:blip r:embed="rId15">
            <a:alphaModFix/>
          </a:blip>
          <a:stretch>
            <a:fillRect/>
          </a:stretch>
        </p:blipFill>
        <p:spPr>
          <a:xfrm>
            <a:off x="10283617" y="5783057"/>
            <a:ext cx="1616916" cy="240000"/>
          </a:xfrm>
          <a:prstGeom prst="rect">
            <a:avLst/>
          </a:prstGeom>
          <a:noFill/>
          <a:ln>
            <a:noFill/>
          </a:ln>
        </p:spPr>
      </p:pic>
      <p:pic>
        <p:nvPicPr>
          <p:cNvPr id="153" name="Google Shape;153;h45b0e18ed2441d3a_0_1" title="Citigroup.png"/>
          <p:cNvPicPr preferRelativeResize="0"/>
          <p:nvPr/>
        </p:nvPicPr>
        <p:blipFill>
          <a:blip r:embed="rId16">
            <a:alphaModFix/>
          </a:blip>
          <a:stretch>
            <a:fillRect/>
          </a:stretch>
        </p:blipFill>
        <p:spPr>
          <a:xfrm>
            <a:off x="607150" y="4498938"/>
            <a:ext cx="965163" cy="5829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226"/>
        </a:solidFill>
      </p:bgPr>
    </p:bg>
    <p:spTree>
      <p:nvGrpSpPr>
        <p:cNvPr id="158" name="Shape 158"/>
        <p:cNvGrpSpPr/>
        <p:nvPr/>
      </p:nvGrpSpPr>
      <p:grpSpPr>
        <a:xfrm>
          <a:off x="0" y="0"/>
          <a:ext cx="0" cy="0"/>
          <a:chOff x="0" y="0"/>
          <a:chExt cx="0" cy="0"/>
        </a:xfrm>
      </p:grpSpPr>
      <p:sp>
        <p:nvSpPr>
          <p:cNvPr id="159" name="Google Shape;159;p3"/>
          <p:cNvSpPr txBox="1"/>
          <p:nvPr/>
        </p:nvSpPr>
        <p:spPr>
          <a:xfrm>
            <a:off x="81035" y="75590"/>
            <a:ext cx="3657600" cy="3018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600" u="none" cap="none" strike="noStrike">
                <a:solidFill>
                  <a:srgbClr val="3B82F6"/>
                </a:solidFill>
                <a:latin typeface="Calibri"/>
                <a:ea typeface="Calibri"/>
                <a:cs typeface="Calibri"/>
                <a:sym typeface="Calibri"/>
              </a:rPr>
              <a:t>SECTION 01</a:t>
            </a:r>
            <a:endParaRPr/>
          </a:p>
        </p:txBody>
      </p:sp>
      <p:sp>
        <p:nvSpPr>
          <p:cNvPr id="160" name="Google Shape;160;p3"/>
          <p:cNvSpPr txBox="1"/>
          <p:nvPr/>
        </p:nvSpPr>
        <p:spPr>
          <a:xfrm>
            <a:off x="1317585" y="2634890"/>
            <a:ext cx="10058400" cy="794100"/>
          </a:xfrm>
          <a:prstGeom prst="rect">
            <a:avLst/>
          </a:prstGeom>
          <a:noFill/>
          <a:ln>
            <a:noFill/>
          </a:ln>
        </p:spPr>
        <p:txBody>
          <a:bodyPr anchorCtr="0" anchor="t" bIns="27425" lIns="45700" spcFirstLastPara="1" rIns="45700" wrap="square" tIns="27425">
            <a:spAutoFit/>
          </a:bodyPr>
          <a:lstStyle/>
          <a:p>
            <a:pPr indent="0" lvl="0" marL="0" marR="0" rtl="0" algn="ctr">
              <a:spcBef>
                <a:spcPts val="0"/>
              </a:spcBef>
              <a:spcAft>
                <a:spcPts val="0"/>
              </a:spcAft>
              <a:buNone/>
            </a:pPr>
            <a:r>
              <a:rPr b="1" lang="en-US" sz="4800">
                <a:solidFill>
                  <a:srgbClr val="FFFFFF"/>
                </a:solidFill>
                <a:latin typeface="Calibri"/>
                <a:ea typeface="Calibri"/>
                <a:cs typeface="Calibri"/>
                <a:sym typeface="Calibri"/>
              </a:rPr>
              <a:t>Market Environment &amp; </a:t>
            </a:r>
            <a:r>
              <a:rPr b="1" lang="en-US" sz="4800">
                <a:solidFill>
                  <a:schemeClr val="lt1"/>
                </a:solidFill>
                <a:latin typeface="Calibri"/>
                <a:ea typeface="Calibri"/>
                <a:cs typeface="Calibri"/>
                <a:sym typeface="Calibri"/>
              </a:rPr>
              <a:t>Challenges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5" name="Shape 165"/>
        <p:cNvGrpSpPr/>
        <p:nvPr/>
      </p:nvGrpSpPr>
      <p:grpSpPr>
        <a:xfrm>
          <a:off x="0" y="0"/>
          <a:ext cx="0" cy="0"/>
          <a:chOff x="0" y="0"/>
          <a:chExt cx="0" cy="0"/>
        </a:xfrm>
      </p:grpSpPr>
      <p:sp>
        <p:nvSpPr>
          <p:cNvPr id="166" name="Google Shape;166;h45b0e18ed2441d3a_0_35"/>
          <p:cNvSpPr/>
          <p:nvPr/>
        </p:nvSpPr>
        <p:spPr>
          <a:xfrm>
            <a:off x="0" y="0"/>
            <a:ext cx="12191700" cy="109800"/>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7" name="Google Shape;167;h45b0e18ed2441d3a_0_35"/>
          <p:cNvSpPr txBox="1"/>
          <p:nvPr/>
        </p:nvSpPr>
        <p:spPr>
          <a:xfrm>
            <a:off x="548640" y="411480"/>
            <a:ext cx="7315200" cy="2400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200" u="none" cap="none" strike="noStrike">
                <a:solidFill>
                  <a:srgbClr val="3B82F6"/>
                </a:solidFill>
                <a:latin typeface="Calibri"/>
                <a:ea typeface="Calibri"/>
                <a:cs typeface="Calibri"/>
                <a:sym typeface="Calibri"/>
              </a:rPr>
              <a:t>THE MARKET </a:t>
            </a:r>
            <a:r>
              <a:rPr b="1" lang="en-US" sz="1200">
                <a:solidFill>
                  <a:srgbClr val="3B82F6"/>
                </a:solidFill>
                <a:latin typeface="Calibri"/>
                <a:ea typeface="Calibri"/>
                <a:cs typeface="Calibri"/>
                <a:sym typeface="Calibri"/>
              </a:rPr>
              <a:t>CHALLENGES</a:t>
            </a:r>
            <a:endParaRPr/>
          </a:p>
        </p:txBody>
      </p:sp>
      <p:sp>
        <p:nvSpPr>
          <p:cNvPr id="168" name="Google Shape;168;h45b0e18ed2441d3a_0_35"/>
          <p:cNvSpPr txBox="1"/>
          <p:nvPr/>
        </p:nvSpPr>
        <p:spPr>
          <a:xfrm>
            <a:off x="548640" y="731520"/>
            <a:ext cx="11155800" cy="5172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3000" u="none" cap="none" strike="noStrike">
                <a:solidFill>
                  <a:srgbClr val="141B2D"/>
                </a:solidFill>
                <a:latin typeface="Calibri"/>
                <a:ea typeface="Calibri"/>
                <a:cs typeface="Calibri"/>
                <a:sym typeface="Calibri"/>
              </a:rPr>
              <a:t>Engineering is every business's bottleneck</a:t>
            </a:r>
            <a:endParaRPr>
              <a:solidFill>
                <a:srgbClr val="141B2D"/>
              </a:solidFill>
            </a:endParaRPr>
          </a:p>
        </p:txBody>
      </p:sp>
      <p:sp>
        <p:nvSpPr>
          <p:cNvPr id="169" name="Google Shape;169;h45b0e18ed2441d3a_0_35"/>
          <p:cNvSpPr txBox="1"/>
          <p:nvPr/>
        </p:nvSpPr>
        <p:spPr>
          <a:xfrm>
            <a:off x="548640" y="6446520"/>
            <a:ext cx="7315200" cy="2094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000" u="none" cap="none" strike="noStrike">
                <a:solidFill>
                  <a:srgbClr val="6B7280"/>
                </a:solidFill>
                <a:latin typeface="Calibri"/>
                <a:ea typeface="Calibri"/>
                <a:cs typeface="Calibri"/>
                <a:sym typeface="Calibri"/>
              </a:rPr>
              <a:t>Cognition  |  Devin </a:t>
            </a:r>
            <a:endParaRPr/>
          </a:p>
        </p:txBody>
      </p:sp>
      <p:sp>
        <p:nvSpPr>
          <p:cNvPr id="170" name="Google Shape;170;h45b0e18ed2441d3a_0_35"/>
          <p:cNvSpPr txBox="1"/>
          <p:nvPr/>
        </p:nvSpPr>
        <p:spPr>
          <a:xfrm>
            <a:off x="10789920" y="6446520"/>
            <a:ext cx="914400" cy="209400"/>
          </a:xfrm>
          <a:prstGeom prst="rect">
            <a:avLst/>
          </a:prstGeom>
          <a:noFill/>
          <a:ln>
            <a:noFill/>
          </a:ln>
        </p:spPr>
        <p:txBody>
          <a:bodyPr anchorCtr="0" anchor="t" bIns="27425" lIns="45700" spcFirstLastPara="1" rIns="45700" wrap="square" tIns="27425">
            <a:spAutoFit/>
          </a:bodyPr>
          <a:lstStyle/>
          <a:p>
            <a:pPr indent="0" lvl="0" marL="0" marR="0" rtl="0" algn="r">
              <a:spcBef>
                <a:spcPts val="0"/>
              </a:spcBef>
              <a:spcAft>
                <a:spcPts val="0"/>
              </a:spcAft>
              <a:buNone/>
            </a:pPr>
            <a:r>
              <a:rPr b="0" i="0" lang="en-US" sz="1000" u="none" cap="none" strike="noStrike">
                <a:solidFill>
                  <a:srgbClr val="6B7280"/>
                </a:solidFill>
                <a:latin typeface="Calibri"/>
                <a:ea typeface="Calibri"/>
                <a:cs typeface="Calibri"/>
                <a:sym typeface="Calibri"/>
              </a:rPr>
              <a:t>12</a:t>
            </a:r>
            <a:endParaRPr/>
          </a:p>
        </p:txBody>
      </p:sp>
      <p:sp>
        <p:nvSpPr>
          <p:cNvPr id="171" name="Google Shape;171;h45b0e18ed2441d3a_0_35"/>
          <p:cNvSpPr txBox="1"/>
          <p:nvPr/>
        </p:nvSpPr>
        <p:spPr>
          <a:xfrm>
            <a:off x="548640" y="1737360"/>
            <a:ext cx="2743200" cy="732600"/>
          </a:xfrm>
          <a:prstGeom prst="rect">
            <a:avLst/>
          </a:prstGeom>
          <a:noFill/>
          <a:ln>
            <a:noFill/>
          </a:ln>
        </p:spPr>
        <p:txBody>
          <a:bodyPr anchorCtr="0" anchor="t" bIns="27425" lIns="45700" spcFirstLastPara="1" rIns="45700" wrap="square" tIns="27425">
            <a:spAutoFit/>
          </a:bodyPr>
          <a:lstStyle/>
          <a:p>
            <a:pPr indent="0" lvl="0" marL="0" marR="0" rtl="0" algn="ctr">
              <a:spcBef>
                <a:spcPts val="0"/>
              </a:spcBef>
              <a:spcAft>
                <a:spcPts val="0"/>
              </a:spcAft>
              <a:buNone/>
            </a:pPr>
            <a:r>
              <a:rPr b="1" i="0" lang="en-US" sz="4400" u="none" cap="none" strike="noStrike">
                <a:solidFill>
                  <a:srgbClr val="22C55E"/>
                </a:solidFill>
                <a:latin typeface="Calibri"/>
                <a:ea typeface="Calibri"/>
                <a:cs typeface="Calibri"/>
                <a:sym typeface="Calibri"/>
              </a:rPr>
              <a:t>~40%</a:t>
            </a:r>
            <a:endParaRPr/>
          </a:p>
        </p:txBody>
      </p:sp>
      <p:sp>
        <p:nvSpPr>
          <p:cNvPr id="172" name="Google Shape;172;h45b0e18ed2441d3a_0_35"/>
          <p:cNvSpPr txBox="1"/>
          <p:nvPr/>
        </p:nvSpPr>
        <p:spPr>
          <a:xfrm>
            <a:off x="548640" y="2560320"/>
            <a:ext cx="2743200" cy="655800"/>
          </a:xfrm>
          <a:prstGeom prst="rect">
            <a:avLst/>
          </a:prstGeom>
          <a:noFill/>
          <a:ln>
            <a:noFill/>
          </a:ln>
        </p:spPr>
        <p:txBody>
          <a:bodyPr anchorCtr="0" anchor="t" bIns="27425" lIns="45700" spcFirstLastPara="1" rIns="45700" wrap="square" tIns="27425">
            <a:spAutoFit/>
          </a:bodyPr>
          <a:lstStyle/>
          <a:p>
            <a:pPr indent="0" lvl="0" marL="0" marR="0" rtl="0" algn="ctr">
              <a:spcBef>
                <a:spcPts val="0"/>
              </a:spcBef>
              <a:spcAft>
                <a:spcPts val="0"/>
              </a:spcAft>
              <a:buNone/>
            </a:pPr>
            <a:r>
              <a:rPr b="0" i="0" lang="en-US" sz="1300" u="none" cap="none" strike="noStrike">
                <a:solidFill>
                  <a:srgbClr val="141B2D"/>
                </a:solidFill>
                <a:latin typeface="Calibri"/>
                <a:ea typeface="Calibri"/>
                <a:cs typeface="Calibri"/>
                <a:sym typeface="Calibri"/>
              </a:rPr>
              <a:t>of developer time is spent on maintenance and toil rather than buildin</a:t>
            </a:r>
            <a:r>
              <a:rPr lang="en-US" sz="1300">
                <a:solidFill>
                  <a:srgbClr val="141B2D"/>
                </a:solidFill>
                <a:latin typeface="Calibri"/>
                <a:ea typeface="Calibri"/>
                <a:cs typeface="Calibri"/>
                <a:sym typeface="Calibri"/>
              </a:rPr>
              <a:t>g</a:t>
            </a:r>
            <a:r>
              <a:rPr i="1" lang="en-US" sz="1100">
                <a:solidFill>
                  <a:srgbClr val="141B2D"/>
                </a:solidFill>
                <a:latin typeface="Calibri"/>
                <a:ea typeface="Calibri"/>
                <a:cs typeface="Calibri"/>
                <a:sym typeface="Calibri"/>
              </a:rPr>
              <a:t> </a:t>
            </a:r>
            <a:r>
              <a:rPr b="0" i="1" lang="en-US" sz="1100" u="none" cap="none" strike="noStrike">
                <a:solidFill>
                  <a:srgbClr val="141B2D"/>
                </a:solidFill>
                <a:latin typeface="Calibri"/>
                <a:ea typeface="Calibri"/>
                <a:cs typeface="Calibri"/>
                <a:sym typeface="Calibri"/>
              </a:rPr>
              <a:t>(</a:t>
            </a:r>
            <a:r>
              <a:rPr i="1" lang="en-US" sz="1100">
                <a:solidFill>
                  <a:srgbClr val="141B2D"/>
                </a:solidFill>
                <a:latin typeface="Calibri"/>
                <a:ea typeface="Calibri"/>
                <a:cs typeface="Calibri"/>
                <a:sym typeface="Calibri"/>
              </a:rPr>
              <a:t>McKinsey</a:t>
            </a:r>
            <a:r>
              <a:rPr b="0" i="1" lang="en-US" sz="1100" u="none" cap="none" strike="noStrike">
                <a:solidFill>
                  <a:srgbClr val="141B2D"/>
                </a:solidFill>
                <a:latin typeface="Calibri"/>
                <a:ea typeface="Calibri"/>
                <a:cs typeface="Calibri"/>
                <a:sym typeface="Calibri"/>
              </a:rPr>
              <a:t>)</a:t>
            </a:r>
            <a:endParaRPr i="1" sz="1100">
              <a:solidFill>
                <a:srgbClr val="141B2D"/>
              </a:solidFill>
            </a:endParaRPr>
          </a:p>
        </p:txBody>
      </p:sp>
      <p:sp>
        <p:nvSpPr>
          <p:cNvPr id="173" name="Google Shape;173;h45b0e18ed2441d3a_0_35"/>
          <p:cNvSpPr txBox="1"/>
          <p:nvPr/>
        </p:nvSpPr>
        <p:spPr>
          <a:xfrm>
            <a:off x="3383280" y="1737360"/>
            <a:ext cx="2743200" cy="732600"/>
          </a:xfrm>
          <a:prstGeom prst="rect">
            <a:avLst/>
          </a:prstGeom>
          <a:noFill/>
          <a:ln>
            <a:noFill/>
          </a:ln>
        </p:spPr>
        <p:txBody>
          <a:bodyPr anchorCtr="0" anchor="t" bIns="27425" lIns="45700" spcFirstLastPara="1" rIns="45700" wrap="square" tIns="27425">
            <a:spAutoFit/>
          </a:bodyPr>
          <a:lstStyle/>
          <a:p>
            <a:pPr indent="0" lvl="0" marL="0" marR="0" rtl="0" algn="ctr">
              <a:spcBef>
                <a:spcPts val="0"/>
              </a:spcBef>
              <a:spcAft>
                <a:spcPts val="0"/>
              </a:spcAft>
              <a:buNone/>
            </a:pPr>
            <a:r>
              <a:rPr b="1" i="0" lang="en-US" sz="4400" u="none" cap="none" strike="noStrike">
                <a:solidFill>
                  <a:srgbClr val="22C55E"/>
                </a:solidFill>
                <a:latin typeface="Calibri"/>
                <a:ea typeface="Calibri"/>
                <a:cs typeface="Calibri"/>
                <a:sym typeface="Calibri"/>
              </a:rPr>
              <a:t>$85B+</a:t>
            </a:r>
            <a:endParaRPr/>
          </a:p>
        </p:txBody>
      </p:sp>
      <p:sp>
        <p:nvSpPr>
          <p:cNvPr id="174" name="Google Shape;174;h45b0e18ed2441d3a_0_35"/>
          <p:cNvSpPr txBox="1"/>
          <p:nvPr/>
        </p:nvSpPr>
        <p:spPr>
          <a:xfrm>
            <a:off x="3383280" y="2560320"/>
            <a:ext cx="2743200" cy="455700"/>
          </a:xfrm>
          <a:prstGeom prst="rect">
            <a:avLst/>
          </a:prstGeom>
          <a:noFill/>
          <a:ln>
            <a:noFill/>
          </a:ln>
        </p:spPr>
        <p:txBody>
          <a:bodyPr anchorCtr="0" anchor="t" bIns="27425" lIns="45700" spcFirstLastPara="1" rIns="45700" wrap="square" tIns="27425">
            <a:spAutoFit/>
          </a:bodyPr>
          <a:lstStyle/>
          <a:p>
            <a:pPr indent="0" lvl="0" marL="0" marR="0" rtl="0" algn="ctr">
              <a:spcBef>
                <a:spcPts val="0"/>
              </a:spcBef>
              <a:spcAft>
                <a:spcPts val="0"/>
              </a:spcAft>
              <a:buNone/>
            </a:pPr>
            <a:r>
              <a:rPr b="0" i="0" lang="en-US" sz="1300" u="none" cap="none" strike="noStrike">
                <a:solidFill>
                  <a:srgbClr val="141B2D"/>
                </a:solidFill>
                <a:latin typeface="Calibri"/>
                <a:ea typeface="Calibri"/>
                <a:cs typeface="Calibri"/>
                <a:sym typeface="Calibri"/>
              </a:rPr>
              <a:t>estimated annual cost of technical debt to enterprises</a:t>
            </a:r>
            <a:endParaRPr>
              <a:solidFill>
                <a:srgbClr val="141B2D"/>
              </a:solidFill>
            </a:endParaRPr>
          </a:p>
        </p:txBody>
      </p:sp>
      <p:sp>
        <p:nvSpPr>
          <p:cNvPr id="175" name="Google Shape;175;h45b0e18ed2441d3a_0_35"/>
          <p:cNvSpPr txBox="1"/>
          <p:nvPr/>
        </p:nvSpPr>
        <p:spPr>
          <a:xfrm>
            <a:off x="6217908" y="1853710"/>
            <a:ext cx="2743200" cy="563400"/>
          </a:xfrm>
          <a:prstGeom prst="rect">
            <a:avLst/>
          </a:prstGeom>
          <a:noFill/>
          <a:ln>
            <a:noFill/>
          </a:ln>
        </p:spPr>
        <p:txBody>
          <a:bodyPr anchorCtr="0" anchor="t" bIns="27425" lIns="45700" spcFirstLastPara="1" rIns="45700" wrap="square" tIns="27425">
            <a:spAutoFit/>
          </a:bodyPr>
          <a:lstStyle/>
          <a:p>
            <a:pPr indent="0" lvl="0" marL="0" marR="0" rtl="0" algn="ctr">
              <a:spcBef>
                <a:spcPts val="0"/>
              </a:spcBef>
              <a:spcAft>
                <a:spcPts val="0"/>
              </a:spcAft>
              <a:buNone/>
            </a:pPr>
            <a:r>
              <a:rPr b="1" i="0" lang="en-US" sz="3300" u="none" cap="none" strike="noStrike">
                <a:solidFill>
                  <a:srgbClr val="22C55E"/>
                </a:solidFill>
                <a:latin typeface="Calibri"/>
                <a:ea typeface="Calibri"/>
                <a:cs typeface="Calibri"/>
                <a:sym typeface="Calibri"/>
              </a:rPr>
              <a:t>Months</a:t>
            </a:r>
            <a:endParaRPr sz="1700"/>
          </a:p>
        </p:txBody>
      </p:sp>
      <p:sp>
        <p:nvSpPr>
          <p:cNvPr id="176" name="Google Shape;176;h45b0e18ed2441d3a_0_35"/>
          <p:cNvSpPr txBox="1"/>
          <p:nvPr/>
        </p:nvSpPr>
        <p:spPr>
          <a:xfrm>
            <a:off x="6217920" y="2560320"/>
            <a:ext cx="2743200" cy="455700"/>
          </a:xfrm>
          <a:prstGeom prst="rect">
            <a:avLst/>
          </a:prstGeom>
          <a:noFill/>
          <a:ln>
            <a:noFill/>
          </a:ln>
        </p:spPr>
        <p:txBody>
          <a:bodyPr anchorCtr="0" anchor="t" bIns="27425" lIns="45700" spcFirstLastPara="1" rIns="45700" wrap="square" tIns="27425">
            <a:spAutoFit/>
          </a:bodyPr>
          <a:lstStyle/>
          <a:p>
            <a:pPr indent="0" lvl="0" marL="0" marR="0" rtl="0" algn="ctr">
              <a:spcBef>
                <a:spcPts val="0"/>
              </a:spcBef>
              <a:spcAft>
                <a:spcPts val="0"/>
              </a:spcAft>
              <a:buNone/>
            </a:pPr>
            <a:r>
              <a:rPr b="0" i="0" lang="en-US" sz="1300" u="none" cap="none" strike="noStrike">
                <a:solidFill>
                  <a:srgbClr val="141B2D"/>
                </a:solidFill>
                <a:latin typeface="Calibri"/>
                <a:ea typeface="Calibri"/>
                <a:cs typeface="Calibri"/>
                <a:sym typeface="Calibri"/>
              </a:rPr>
              <a:t>to onboard a new engineer to a large legacy codebase</a:t>
            </a:r>
            <a:endParaRPr>
              <a:solidFill>
                <a:srgbClr val="141B2D"/>
              </a:solidFill>
            </a:endParaRPr>
          </a:p>
        </p:txBody>
      </p:sp>
      <p:sp>
        <p:nvSpPr>
          <p:cNvPr id="177" name="Google Shape;177;h45b0e18ed2441d3a_0_35"/>
          <p:cNvSpPr txBox="1"/>
          <p:nvPr/>
        </p:nvSpPr>
        <p:spPr>
          <a:xfrm>
            <a:off x="9052535" y="1815310"/>
            <a:ext cx="2743200" cy="594000"/>
          </a:xfrm>
          <a:prstGeom prst="rect">
            <a:avLst/>
          </a:prstGeom>
          <a:noFill/>
          <a:ln>
            <a:noFill/>
          </a:ln>
        </p:spPr>
        <p:txBody>
          <a:bodyPr anchorCtr="0" anchor="t" bIns="27425" lIns="45700" spcFirstLastPara="1" rIns="45700" wrap="square" tIns="27425">
            <a:spAutoFit/>
          </a:bodyPr>
          <a:lstStyle/>
          <a:p>
            <a:pPr indent="0" lvl="0" marL="0" marR="0" rtl="0" algn="ctr">
              <a:spcBef>
                <a:spcPts val="0"/>
              </a:spcBef>
              <a:spcAft>
                <a:spcPts val="0"/>
              </a:spcAft>
              <a:buNone/>
            </a:pPr>
            <a:r>
              <a:rPr b="1" i="0" lang="en-US" sz="3500" u="none" cap="none" strike="noStrike">
                <a:solidFill>
                  <a:srgbClr val="22C55E"/>
                </a:solidFill>
                <a:latin typeface="Calibri"/>
                <a:ea typeface="Calibri"/>
                <a:cs typeface="Calibri"/>
                <a:sym typeface="Calibri"/>
              </a:rPr>
              <a:t>Weeks</a:t>
            </a:r>
            <a:endParaRPr sz="500"/>
          </a:p>
        </p:txBody>
      </p:sp>
      <p:sp>
        <p:nvSpPr>
          <p:cNvPr id="178" name="Google Shape;178;h45b0e18ed2441d3a_0_35"/>
          <p:cNvSpPr txBox="1"/>
          <p:nvPr/>
        </p:nvSpPr>
        <p:spPr>
          <a:xfrm>
            <a:off x="9052560" y="2560320"/>
            <a:ext cx="2743200" cy="455700"/>
          </a:xfrm>
          <a:prstGeom prst="rect">
            <a:avLst/>
          </a:prstGeom>
          <a:noFill/>
          <a:ln>
            <a:noFill/>
          </a:ln>
        </p:spPr>
        <p:txBody>
          <a:bodyPr anchorCtr="0" anchor="t" bIns="27425" lIns="45700" spcFirstLastPara="1" rIns="45700" wrap="square" tIns="27425">
            <a:spAutoFit/>
          </a:bodyPr>
          <a:lstStyle/>
          <a:p>
            <a:pPr indent="0" lvl="0" marL="0" marR="0" rtl="0" algn="ctr">
              <a:spcBef>
                <a:spcPts val="0"/>
              </a:spcBef>
              <a:spcAft>
                <a:spcPts val="0"/>
              </a:spcAft>
              <a:buNone/>
            </a:pPr>
            <a:r>
              <a:rPr b="0" i="0" lang="en-US" sz="1300" u="none" cap="none" strike="noStrike">
                <a:solidFill>
                  <a:srgbClr val="141B2D"/>
                </a:solidFill>
                <a:latin typeface="Calibri"/>
                <a:ea typeface="Calibri"/>
                <a:cs typeface="Calibri"/>
                <a:sym typeface="Calibri"/>
              </a:rPr>
              <a:t>median time known CVEs stay unpatched in production dependencies</a:t>
            </a:r>
            <a:endParaRPr>
              <a:solidFill>
                <a:srgbClr val="141B2D"/>
              </a:solidFill>
            </a:endParaRPr>
          </a:p>
        </p:txBody>
      </p:sp>
      <p:sp>
        <p:nvSpPr>
          <p:cNvPr id="179" name="Google Shape;179;h45b0e18ed2441d3a_0_35"/>
          <p:cNvSpPr/>
          <p:nvPr/>
        </p:nvSpPr>
        <p:spPr>
          <a:xfrm>
            <a:off x="548640" y="3840480"/>
            <a:ext cx="11064300" cy="18300"/>
          </a:xfrm>
          <a:prstGeom prst="rect">
            <a:avLst/>
          </a:prstGeom>
          <a:solidFill>
            <a:srgbClr val="6B728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0" name="Google Shape;180;h45b0e18ed2441d3a_0_35"/>
          <p:cNvSpPr txBox="1"/>
          <p:nvPr/>
        </p:nvSpPr>
        <p:spPr>
          <a:xfrm>
            <a:off x="548640" y="4114800"/>
            <a:ext cx="10972800" cy="16776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1600" u="none" cap="none" strike="noStrike">
                <a:solidFill>
                  <a:srgbClr val="141B2D"/>
                </a:solidFill>
                <a:latin typeface="Calibri"/>
                <a:ea typeface="Calibri"/>
                <a:cs typeface="Calibri"/>
                <a:sym typeface="Calibri"/>
              </a:rPr>
              <a:t>▪  Every company is now a software company, but headcount growth cannot match demand for software.</a:t>
            </a:r>
            <a:endParaRPr>
              <a:solidFill>
                <a:srgbClr val="141B2D"/>
              </a:solidFill>
            </a:endParaRPr>
          </a:p>
          <a:p>
            <a:pPr indent="0" lvl="0" marL="0" marR="0" rtl="0" algn="l">
              <a:spcBef>
                <a:spcPts val="600"/>
              </a:spcBef>
              <a:spcAft>
                <a:spcPts val="0"/>
              </a:spcAft>
              <a:buNone/>
            </a:pPr>
            <a:r>
              <a:rPr b="0" i="0" lang="en-US" sz="1600" u="none" cap="none" strike="noStrike">
                <a:solidFill>
                  <a:srgbClr val="141B2D"/>
                </a:solidFill>
                <a:latin typeface="Calibri"/>
                <a:ea typeface="Calibri"/>
                <a:cs typeface="Calibri"/>
                <a:sym typeface="Calibri"/>
              </a:rPr>
              <a:t>▪  Legacy systems, migrations, and compliance work consume the most experienced engineers.</a:t>
            </a:r>
            <a:endParaRPr>
              <a:solidFill>
                <a:srgbClr val="141B2D"/>
              </a:solidFill>
            </a:endParaRPr>
          </a:p>
          <a:p>
            <a:pPr indent="0" lvl="0" marL="0" marR="0" rtl="0" algn="l">
              <a:spcBef>
                <a:spcPts val="600"/>
              </a:spcBef>
              <a:spcAft>
                <a:spcPts val="0"/>
              </a:spcAft>
              <a:buNone/>
            </a:pPr>
            <a:r>
              <a:rPr b="0" i="0" lang="en-US" sz="1600" u="none" cap="none" strike="noStrike">
                <a:solidFill>
                  <a:srgbClr val="141B2D"/>
                </a:solidFill>
                <a:latin typeface="Calibri"/>
                <a:ea typeface="Calibri"/>
                <a:cs typeface="Calibri"/>
                <a:sym typeface="Calibri"/>
              </a:rPr>
              <a:t>▪  Security teams inherit vulnerability debt they cannot fix themselves.</a:t>
            </a:r>
            <a:endParaRPr>
              <a:solidFill>
                <a:srgbClr val="141B2D"/>
              </a:solidFill>
            </a:endParaRPr>
          </a:p>
          <a:p>
            <a:pPr indent="0" lvl="0" marL="0" marR="0" rtl="0" algn="l">
              <a:spcBef>
                <a:spcPts val="600"/>
              </a:spcBef>
              <a:spcAft>
                <a:spcPts val="0"/>
              </a:spcAft>
              <a:buNone/>
            </a:pPr>
            <a:r>
              <a:t/>
            </a:r>
            <a:endParaRPr sz="1600">
              <a:solidFill>
                <a:srgbClr val="141B2D"/>
              </a:solidFill>
              <a:latin typeface="Calibri"/>
              <a:ea typeface="Calibri"/>
              <a:cs typeface="Calibri"/>
              <a:sym typeface="Calibri"/>
            </a:endParaRPr>
          </a:p>
          <a:p>
            <a:pPr indent="0" lvl="0" marL="0" marR="0" rtl="0" algn="ctr">
              <a:spcBef>
                <a:spcPts val="600"/>
              </a:spcBef>
              <a:spcAft>
                <a:spcPts val="0"/>
              </a:spcAft>
              <a:buNone/>
            </a:pPr>
            <a:r>
              <a:rPr b="1" i="1" lang="en-US" sz="1900">
                <a:solidFill>
                  <a:srgbClr val="141B2D"/>
                </a:solidFill>
                <a:latin typeface="Calibri"/>
                <a:ea typeface="Calibri"/>
                <a:cs typeface="Calibri"/>
                <a:sym typeface="Calibri"/>
              </a:rPr>
              <a:t>Enterprises need a multiplier on engineer </a:t>
            </a:r>
            <a:r>
              <a:rPr b="1" i="1" lang="en-US" sz="1900">
                <a:solidFill>
                  <a:srgbClr val="141B2D"/>
                </a:solidFill>
                <a:latin typeface="Calibri"/>
                <a:ea typeface="Calibri"/>
                <a:cs typeface="Calibri"/>
                <a:sym typeface="Calibri"/>
              </a:rPr>
              <a:t>capability</a:t>
            </a:r>
            <a:r>
              <a:rPr b="1" i="1" lang="en-US" sz="1900">
                <a:solidFill>
                  <a:srgbClr val="141B2D"/>
                </a:solidFill>
                <a:latin typeface="Calibri"/>
                <a:ea typeface="Calibri"/>
                <a:cs typeface="Calibri"/>
                <a:sym typeface="Calibri"/>
              </a:rPr>
              <a:t> and time allocation</a:t>
            </a:r>
            <a:endParaRPr b="1" i="1" sz="1900">
              <a:solidFill>
                <a:srgbClr val="141B2D"/>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5" name="Shape 185"/>
        <p:cNvGrpSpPr/>
        <p:nvPr/>
      </p:nvGrpSpPr>
      <p:grpSpPr>
        <a:xfrm>
          <a:off x="0" y="0"/>
          <a:ext cx="0" cy="0"/>
          <a:chOff x="0" y="0"/>
          <a:chExt cx="0" cy="0"/>
        </a:xfrm>
      </p:grpSpPr>
      <p:sp>
        <p:nvSpPr>
          <p:cNvPr id="186" name="Google Shape;186;p6"/>
          <p:cNvSpPr/>
          <p:nvPr/>
        </p:nvSpPr>
        <p:spPr>
          <a:xfrm>
            <a:off x="0" y="0"/>
            <a:ext cx="12191695" cy="109728"/>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7" name="Google Shape;187;p6"/>
          <p:cNvSpPr txBox="1"/>
          <p:nvPr/>
        </p:nvSpPr>
        <p:spPr>
          <a:xfrm>
            <a:off x="548640" y="411480"/>
            <a:ext cx="7315200" cy="2400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lang="en-US" sz="1200">
                <a:solidFill>
                  <a:srgbClr val="3B82F6"/>
                </a:solidFill>
                <a:latin typeface="Calibri"/>
                <a:ea typeface="Calibri"/>
                <a:cs typeface="Calibri"/>
                <a:sym typeface="Calibri"/>
              </a:rPr>
              <a:t>TEAM CHALLENGES</a:t>
            </a:r>
            <a:endParaRPr/>
          </a:p>
        </p:txBody>
      </p:sp>
      <p:sp>
        <p:nvSpPr>
          <p:cNvPr id="188" name="Google Shape;188;p6"/>
          <p:cNvSpPr txBox="1"/>
          <p:nvPr/>
        </p:nvSpPr>
        <p:spPr>
          <a:xfrm>
            <a:off x="548640" y="731520"/>
            <a:ext cx="11155680" cy="9144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3000" u="none" cap="none" strike="noStrike">
                <a:solidFill>
                  <a:srgbClr val="141B2D"/>
                </a:solidFill>
                <a:latin typeface="Calibri"/>
                <a:ea typeface="Calibri"/>
                <a:cs typeface="Calibri"/>
                <a:sym typeface="Calibri"/>
              </a:rPr>
              <a:t>What we hear from engineering leaders</a:t>
            </a:r>
            <a:endParaRPr/>
          </a:p>
        </p:txBody>
      </p:sp>
      <p:sp>
        <p:nvSpPr>
          <p:cNvPr id="189" name="Google Shape;189;p6"/>
          <p:cNvSpPr txBox="1"/>
          <p:nvPr/>
        </p:nvSpPr>
        <p:spPr>
          <a:xfrm>
            <a:off x="548640" y="6446520"/>
            <a:ext cx="7315200" cy="2094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000" u="none" cap="none" strike="noStrike">
                <a:solidFill>
                  <a:srgbClr val="6B7280"/>
                </a:solidFill>
                <a:latin typeface="Calibri"/>
                <a:ea typeface="Calibri"/>
                <a:cs typeface="Calibri"/>
                <a:sym typeface="Calibri"/>
              </a:rPr>
              <a:t>Cognition  |  Devin </a:t>
            </a:r>
            <a:endParaRPr/>
          </a:p>
        </p:txBody>
      </p:sp>
      <p:sp>
        <p:nvSpPr>
          <p:cNvPr id="190" name="Google Shape;190;p6"/>
          <p:cNvSpPr txBox="1"/>
          <p:nvPr/>
        </p:nvSpPr>
        <p:spPr>
          <a:xfrm>
            <a:off x="10789920" y="6446520"/>
            <a:ext cx="914400" cy="274320"/>
          </a:xfrm>
          <a:prstGeom prst="rect">
            <a:avLst/>
          </a:prstGeom>
          <a:noFill/>
          <a:ln>
            <a:noFill/>
          </a:ln>
        </p:spPr>
        <p:txBody>
          <a:bodyPr anchorCtr="0" anchor="t" bIns="27425" lIns="45700" spcFirstLastPara="1" rIns="45700" wrap="square" tIns="27425">
            <a:spAutoFit/>
          </a:bodyPr>
          <a:lstStyle/>
          <a:p>
            <a:pPr indent="0" lvl="0" marL="0" marR="0" rtl="0" algn="r">
              <a:spcBef>
                <a:spcPts val="0"/>
              </a:spcBef>
              <a:spcAft>
                <a:spcPts val="0"/>
              </a:spcAft>
              <a:buNone/>
            </a:pPr>
            <a:r>
              <a:rPr b="0" i="0" lang="en-US" sz="1000" u="none" cap="none" strike="noStrike">
                <a:solidFill>
                  <a:srgbClr val="6B7280"/>
                </a:solidFill>
                <a:latin typeface="Calibri"/>
                <a:ea typeface="Calibri"/>
                <a:cs typeface="Calibri"/>
                <a:sym typeface="Calibri"/>
              </a:rPr>
              <a:t>6</a:t>
            </a:r>
            <a:endParaRPr/>
          </a:p>
        </p:txBody>
      </p:sp>
      <p:sp>
        <p:nvSpPr>
          <p:cNvPr id="191" name="Google Shape;191;p6"/>
          <p:cNvSpPr/>
          <p:nvPr/>
        </p:nvSpPr>
        <p:spPr>
          <a:xfrm>
            <a:off x="548640" y="1737360"/>
            <a:ext cx="3566160" cy="2057400"/>
          </a:xfrm>
          <a:prstGeom prst="roundRect">
            <a:avLst>
              <a:gd fmla="val 6000" name="adj"/>
            </a:avLst>
          </a:prstGeom>
          <a:solidFill>
            <a:srgbClr val="F4F5F8"/>
          </a:solidFill>
          <a:ln cap="flat" cmpd="sng" w="28575">
            <a:solidFill>
              <a:srgbClr val="D9D9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2" name="Google Shape;192;p6"/>
          <p:cNvSpPr/>
          <p:nvPr/>
        </p:nvSpPr>
        <p:spPr>
          <a:xfrm>
            <a:off x="548640" y="1737360"/>
            <a:ext cx="73152" cy="2057400"/>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3" name="Google Shape;193;p6"/>
          <p:cNvSpPr txBox="1"/>
          <p:nvPr/>
        </p:nvSpPr>
        <p:spPr>
          <a:xfrm>
            <a:off x="777240" y="1874520"/>
            <a:ext cx="3200400" cy="3018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lang="en-US" sz="1600">
                <a:solidFill>
                  <a:srgbClr val="141B2D"/>
                </a:solidFill>
                <a:latin typeface="Calibri"/>
                <a:ea typeface="Calibri"/>
                <a:cs typeface="Calibri"/>
                <a:sym typeface="Calibri"/>
              </a:rPr>
              <a:t>Reactive </a:t>
            </a:r>
            <a:endParaRPr/>
          </a:p>
        </p:txBody>
      </p:sp>
      <p:sp>
        <p:nvSpPr>
          <p:cNvPr id="194" name="Google Shape;194;p6"/>
          <p:cNvSpPr txBox="1"/>
          <p:nvPr/>
        </p:nvSpPr>
        <p:spPr>
          <a:xfrm>
            <a:off x="777240" y="2331720"/>
            <a:ext cx="3200400" cy="655800"/>
          </a:xfrm>
          <a:prstGeom prst="rect">
            <a:avLst/>
          </a:prstGeom>
          <a:noFill/>
          <a:ln>
            <a:noFill/>
          </a:ln>
        </p:spPr>
        <p:txBody>
          <a:bodyPr anchorCtr="0" anchor="t" bIns="27425" lIns="45700" spcFirstLastPara="1" rIns="45700" wrap="square" tIns="27425">
            <a:spAutoFit/>
          </a:bodyPr>
          <a:lstStyle/>
          <a:p>
            <a:pPr indent="-311150" lvl="0" marL="457200" marR="0" rtl="0" algn="l">
              <a:spcBef>
                <a:spcPts val="0"/>
              </a:spcBef>
              <a:spcAft>
                <a:spcPts val="0"/>
              </a:spcAft>
              <a:buClr>
                <a:srgbClr val="141B2D"/>
              </a:buClr>
              <a:buSzPts val="1300"/>
              <a:buFont typeface="Calibri"/>
              <a:buChar char="●"/>
            </a:pPr>
            <a:r>
              <a:rPr b="0" i="0" lang="en-US" sz="1300" u="none" cap="none" strike="noStrike">
                <a:solidFill>
                  <a:srgbClr val="141B2D"/>
                </a:solidFill>
                <a:latin typeface="Calibri"/>
                <a:ea typeface="Calibri"/>
                <a:cs typeface="Calibri"/>
                <a:sym typeface="Calibri"/>
              </a:rPr>
              <a:t>40-60% of engineering time goes to maintenance, migrations, and toil, not roadmap.</a:t>
            </a:r>
            <a:endParaRPr/>
          </a:p>
        </p:txBody>
      </p:sp>
      <p:sp>
        <p:nvSpPr>
          <p:cNvPr id="195" name="Google Shape;195;p6"/>
          <p:cNvSpPr/>
          <p:nvPr/>
        </p:nvSpPr>
        <p:spPr>
          <a:xfrm>
            <a:off x="4297679" y="1737360"/>
            <a:ext cx="3566160" cy="2057400"/>
          </a:xfrm>
          <a:prstGeom prst="roundRect">
            <a:avLst>
              <a:gd fmla="val 6000" name="adj"/>
            </a:avLst>
          </a:prstGeom>
          <a:solidFill>
            <a:srgbClr val="F4F5F8"/>
          </a:solidFill>
          <a:ln cap="flat" cmpd="sng" w="28575">
            <a:solidFill>
              <a:srgbClr val="D9D9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6" name="Google Shape;196;p6"/>
          <p:cNvSpPr/>
          <p:nvPr/>
        </p:nvSpPr>
        <p:spPr>
          <a:xfrm>
            <a:off x="4297679" y="1737360"/>
            <a:ext cx="73152" cy="2057400"/>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7" name="Google Shape;197;p6"/>
          <p:cNvSpPr txBox="1"/>
          <p:nvPr/>
        </p:nvSpPr>
        <p:spPr>
          <a:xfrm>
            <a:off x="4526279" y="1874520"/>
            <a:ext cx="3200400" cy="3018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lang="en-US" sz="1600">
                <a:solidFill>
                  <a:srgbClr val="141B2D"/>
                </a:solidFill>
                <a:latin typeface="Calibri"/>
                <a:ea typeface="Calibri"/>
                <a:cs typeface="Calibri"/>
                <a:sym typeface="Calibri"/>
              </a:rPr>
              <a:t>Execution</a:t>
            </a:r>
            <a:r>
              <a:rPr b="1" i="0" lang="en-US" sz="1600" u="none" cap="none" strike="noStrike">
                <a:solidFill>
                  <a:srgbClr val="141B2D"/>
                </a:solidFill>
                <a:latin typeface="Calibri"/>
                <a:ea typeface="Calibri"/>
                <a:cs typeface="Calibri"/>
                <a:sym typeface="Calibri"/>
              </a:rPr>
              <a:t> bottleneck</a:t>
            </a:r>
            <a:endParaRPr/>
          </a:p>
        </p:txBody>
      </p:sp>
      <p:sp>
        <p:nvSpPr>
          <p:cNvPr id="198" name="Google Shape;198;p6"/>
          <p:cNvSpPr txBox="1"/>
          <p:nvPr/>
        </p:nvSpPr>
        <p:spPr>
          <a:xfrm>
            <a:off x="4526279" y="2331720"/>
            <a:ext cx="3200400" cy="1840800"/>
          </a:xfrm>
          <a:prstGeom prst="rect">
            <a:avLst/>
          </a:prstGeom>
          <a:noFill/>
          <a:ln>
            <a:noFill/>
          </a:ln>
        </p:spPr>
        <p:txBody>
          <a:bodyPr anchorCtr="0" anchor="t" bIns="27425" lIns="45700" spcFirstLastPara="1" rIns="45700" wrap="square" tIns="27425">
            <a:spAutoFit/>
          </a:bodyPr>
          <a:lstStyle/>
          <a:p>
            <a:pPr indent="-311150" lvl="0" marL="457200" marR="0" rtl="0" algn="l">
              <a:spcBef>
                <a:spcPts val="0"/>
              </a:spcBef>
              <a:spcAft>
                <a:spcPts val="0"/>
              </a:spcAft>
              <a:buClr>
                <a:srgbClr val="141B2D"/>
              </a:buClr>
              <a:buSzPts val="1300"/>
              <a:buFont typeface="Calibri"/>
              <a:buChar char="●"/>
            </a:pPr>
            <a:r>
              <a:rPr lang="en-US" sz="1300">
                <a:solidFill>
                  <a:srgbClr val="141B2D"/>
                </a:solidFill>
                <a:latin typeface="Calibri"/>
                <a:ea typeface="Calibri"/>
                <a:cs typeface="Calibri"/>
                <a:sym typeface="Calibri"/>
              </a:rPr>
              <a:t>Teams</a:t>
            </a:r>
            <a:r>
              <a:rPr i="0" lang="en-US" sz="1300" u="none" cap="none" strike="noStrike">
                <a:solidFill>
                  <a:srgbClr val="141B2D"/>
                </a:solidFill>
                <a:latin typeface="Calibri"/>
                <a:ea typeface="Calibri"/>
                <a:cs typeface="Calibri"/>
                <a:sym typeface="Calibri"/>
              </a:rPr>
              <a:t> are the constraint by headcount</a:t>
            </a:r>
            <a:endParaRPr i="0" sz="1300" u="none" cap="none" strike="noStrike">
              <a:solidFill>
                <a:srgbClr val="141B2D"/>
              </a:solidFill>
              <a:latin typeface="Calibri"/>
              <a:ea typeface="Calibri"/>
              <a:cs typeface="Calibri"/>
              <a:sym typeface="Calibri"/>
            </a:endParaRPr>
          </a:p>
          <a:p>
            <a:pPr indent="-311150" lvl="0" marL="457200" rtl="0" algn="l">
              <a:spcBef>
                <a:spcPts val="1000"/>
              </a:spcBef>
              <a:spcAft>
                <a:spcPts val="0"/>
              </a:spcAft>
              <a:buClr>
                <a:srgbClr val="141B2D"/>
              </a:buClr>
              <a:buSzPts val="1300"/>
              <a:buFont typeface="Calibri"/>
              <a:buChar char="●"/>
            </a:pPr>
            <a:r>
              <a:rPr lang="en-US" sz="1300">
                <a:solidFill>
                  <a:srgbClr val="141B2D"/>
                </a:solidFill>
                <a:latin typeface="Calibri"/>
                <a:ea typeface="Calibri"/>
                <a:cs typeface="Calibri"/>
                <a:sym typeface="Calibri"/>
              </a:rPr>
              <a:t>Headcount constraints are real</a:t>
            </a:r>
            <a:endParaRPr sz="1300">
              <a:solidFill>
                <a:srgbClr val="141B2D"/>
              </a:solidFill>
              <a:latin typeface="Calibri"/>
              <a:ea typeface="Calibri"/>
              <a:cs typeface="Calibri"/>
              <a:sym typeface="Calibri"/>
            </a:endParaRPr>
          </a:p>
          <a:p>
            <a:pPr indent="-311150" lvl="0" marL="457200" rtl="0" algn="l">
              <a:spcBef>
                <a:spcPts val="1000"/>
              </a:spcBef>
              <a:spcAft>
                <a:spcPts val="0"/>
              </a:spcAft>
              <a:buClr>
                <a:srgbClr val="141B2D"/>
              </a:buClr>
              <a:buSzPts val="1300"/>
              <a:buFont typeface="Calibri"/>
              <a:buChar char="●"/>
            </a:pPr>
            <a:r>
              <a:rPr lang="en-US" sz="1300">
                <a:solidFill>
                  <a:srgbClr val="141B2D"/>
                </a:solidFill>
                <a:latin typeface="Calibri"/>
                <a:ea typeface="Calibri"/>
                <a:cs typeface="Calibri"/>
                <a:sym typeface="Calibri"/>
              </a:rPr>
              <a:t>Team is stuck doing repetitive, low-value work.</a:t>
            </a:r>
            <a:endParaRPr sz="1300">
              <a:solidFill>
                <a:srgbClr val="141B2D"/>
              </a:solidFill>
              <a:latin typeface="Calibri"/>
              <a:ea typeface="Calibri"/>
              <a:cs typeface="Calibri"/>
              <a:sym typeface="Calibri"/>
            </a:endParaRPr>
          </a:p>
          <a:p>
            <a:pPr indent="0" lvl="0" marL="457200" rtl="0" algn="l">
              <a:spcBef>
                <a:spcPts val="1000"/>
              </a:spcBef>
              <a:spcAft>
                <a:spcPts val="0"/>
              </a:spcAft>
              <a:buNone/>
            </a:pPr>
            <a:r>
              <a:t/>
            </a:r>
            <a:endParaRPr sz="1300">
              <a:solidFill>
                <a:srgbClr val="141B2D"/>
              </a:solidFill>
              <a:latin typeface="Calibri"/>
              <a:ea typeface="Calibri"/>
              <a:cs typeface="Calibri"/>
              <a:sym typeface="Calibri"/>
            </a:endParaRPr>
          </a:p>
          <a:p>
            <a:pPr indent="0" lvl="0" marL="457200" marR="0" rtl="0" algn="l">
              <a:spcBef>
                <a:spcPts val="0"/>
              </a:spcBef>
              <a:spcAft>
                <a:spcPts val="0"/>
              </a:spcAft>
              <a:buNone/>
            </a:pPr>
            <a:r>
              <a:t/>
            </a:r>
            <a:endParaRPr sz="1300">
              <a:solidFill>
                <a:srgbClr val="141B2D"/>
              </a:solidFill>
              <a:latin typeface="Calibri"/>
              <a:ea typeface="Calibri"/>
              <a:cs typeface="Calibri"/>
              <a:sym typeface="Calibri"/>
            </a:endParaRPr>
          </a:p>
          <a:p>
            <a:pPr indent="0" lvl="0" marL="0" marR="0" rtl="0" algn="l">
              <a:spcBef>
                <a:spcPts val="0"/>
              </a:spcBef>
              <a:spcAft>
                <a:spcPts val="0"/>
              </a:spcAft>
              <a:buNone/>
            </a:pPr>
            <a:r>
              <a:t/>
            </a:r>
            <a:endParaRPr sz="1300">
              <a:solidFill>
                <a:srgbClr val="141B2D"/>
              </a:solidFill>
              <a:latin typeface="Calibri"/>
              <a:ea typeface="Calibri"/>
              <a:cs typeface="Calibri"/>
              <a:sym typeface="Calibri"/>
            </a:endParaRPr>
          </a:p>
        </p:txBody>
      </p:sp>
      <p:sp>
        <p:nvSpPr>
          <p:cNvPr id="199" name="Google Shape;199;p6"/>
          <p:cNvSpPr/>
          <p:nvPr/>
        </p:nvSpPr>
        <p:spPr>
          <a:xfrm>
            <a:off x="8046718" y="1737360"/>
            <a:ext cx="3566160" cy="2057400"/>
          </a:xfrm>
          <a:prstGeom prst="roundRect">
            <a:avLst>
              <a:gd fmla="val 6000" name="adj"/>
            </a:avLst>
          </a:prstGeom>
          <a:solidFill>
            <a:srgbClr val="F4F5F8"/>
          </a:solidFill>
          <a:ln cap="flat" cmpd="sng" w="28575">
            <a:solidFill>
              <a:srgbClr val="D9D9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0" name="Google Shape;200;p6"/>
          <p:cNvSpPr/>
          <p:nvPr/>
        </p:nvSpPr>
        <p:spPr>
          <a:xfrm>
            <a:off x="8046718" y="1737360"/>
            <a:ext cx="73152" cy="2057400"/>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1" name="Google Shape;201;p6"/>
          <p:cNvSpPr txBox="1"/>
          <p:nvPr/>
        </p:nvSpPr>
        <p:spPr>
          <a:xfrm>
            <a:off x="8275318" y="1874520"/>
            <a:ext cx="3200400" cy="301800"/>
          </a:xfrm>
          <a:prstGeom prst="rect">
            <a:avLst/>
          </a:prstGeom>
          <a:noFill/>
          <a:ln>
            <a:noFill/>
          </a:ln>
        </p:spPr>
        <p:txBody>
          <a:bodyPr anchorCtr="0" anchor="t" bIns="27425" lIns="45700" spcFirstLastPara="1" rIns="45700" wrap="square" tIns="27425">
            <a:spAutoFit/>
          </a:bodyPr>
          <a:lstStyle/>
          <a:p>
            <a:pPr indent="0" lvl="0" marL="0" rtl="0" algn="l">
              <a:spcBef>
                <a:spcPts val="0"/>
              </a:spcBef>
              <a:spcAft>
                <a:spcPts val="0"/>
              </a:spcAft>
              <a:buClr>
                <a:schemeClr val="dk1"/>
              </a:buClr>
              <a:buFont typeface="Arial"/>
              <a:buNone/>
            </a:pPr>
            <a:r>
              <a:rPr b="1" lang="en-US" sz="1600">
                <a:solidFill>
                  <a:srgbClr val="141B2D"/>
                </a:solidFill>
                <a:latin typeface="Calibri"/>
                <a:ea typeface="Calibri"/>
                <a:cs typeface="Calibri"/>
                <a:sym typeface="Calibri"/>
              </a:rPr>
              <a:t>C</a:t>
            </a:r>
            <a:r>
              <a:rPr b="1" lang="en-US" sz="1600">
                <a:solidFill>
                  <a:srgbClr val="141B2D"/>
                </a:solidFill>
                <a:latin typeface="Calibri"/>
                <a:ea typeface="Calibri"/>
                <a:cs typeface="Calibri"/>
                <a:sym typeface="Calibri"/>
              </a:rPr>
              <a:t>ontext Switching</a:t>
            </a:r>
            <a:endParaRPr/>
          </a:p>
        </p:txBody>
      </p:sp>
      <p:sp>
        <p:nvSpPr>
          <p:cNvPr id="202" name="Google Shape;202;p6"/>
          <p:cNvSpPr txBox="1"/>
          <p:nvPr/>
        </p:nvSpPr>
        <p:spPr>
          <a:xfrm>
            <a:off x="8275318" y="2331720"/>
            <a:ext cx="3200400" cy="783900"/>
          </a:xfrm>
          <a:prstGeom prst="rect">
            <a:avLst/>
          </a:prstGeom>
          <a:noFill/>
          <a:ln>
            <a:noFill/>
          </a:ln>
        </p:spPr>
        <p:txBody>
          <a:bodyPr anchorCtr="0" anchor="t" bIns="27425" lIns="45700" spcFirstLastPara="1" rIns="45700" wrap="square" tIns="27425">
            <a:spAutoFit/>
          </a:bodyPr>
          <a:lstStyle/>
          <a:p>
            <a:pPr indent="-311150" lvl="0" marL="457200" rtl="0" algn="l">
              <a:spcBef>
                <a:spcPts val="0"/>
              </a:spcBef>
              <a:spcAft>
                <a:spcPts val="0"/>
              </a:spcAft>
              <a:buClr>
                <a:srgbClr val="141B2D"/>
              </a:buClr>
              <a:buSzPts val="1300"/>
              <a:buFont typeface="Calibri"/>
              <a:buChar char="●"/>
            </a:pPr>
            <a:r>
              <a:rPr lang="en-US" sz="1300">
                <a:solidFill>
                  <a:srgbClr val="141B2D"/>
                </a:solidFill>
                <a:latin typeface="Calibri"/>
                <a:ea typeface="Calibri"/>
                <a:cs typeface="Calibri"/>
                <a:sym typeface="Calibri"/>
              </a:rPr>
              <a:t>Meetings &amp; interruptions hinder deep productivity</a:t>
            </a:r>
            <a:endParaRPr sz="1300">
              <a:solidFill>
                <a:srgbClr val="141B2D"/>
              </a:solidFill>
              <a:latin typeface="Calibri"/>
              <a:ea typeface="Calibri"/>
              <a:cs typeface="Calibri"/>
              <a:sym typeface="Calibri"/>
            </a:endParaRPr>
          </a:p>
          <a:p>
            <a:pPr indent="0" lvl="0" marL="0" marR="0" rtl="0" algn="l">
              <a:spcBef>
                <a:spcPts val="1000"/>
              </a:spcBef>
              <a:spcAft>
                <a:spcPts val="0"/>
              </a:spcAft>
              <a:buNone/>
            </a:pPr>
            <a:r>
              <a:t/>
            </a:r>
            <a:endParaRPr sz="1300">
              <a:solidFill>
                <a:srgbClr val="141B2D"/>
              </a:solidFill>
              <a:latin typeface="Calibri"/>
              <a:ea typeface="Calibri"/>
              <a:cs typeface="Calibri"/>
              <a:sym typeface="Calibri"/>
            </a:endParaRPr>
          </a:p>
        </p:txBody>
      </p:sp>
      <p:sp>
        <p:nvSpPr>
          <p:cNvPr id="203" name="Google Shape;203;p6"/>
          <p:cNvSpPr/>
          <p:nvPr/>
        </p:nvSpPr>
        <p:spPr>
          <a:xfrm>
            <a:off x="548640" y="3977640"/>
            <a:ext cx="3566160" cy="2057400"/>
          </a:xfrm>
          <a:prstGeom prst="roundRect">
            <a:avLst>
              <a:gd fmla="val 6000" name="adj"/>
            </a:avLst>
          </a:prstGeom>
          <a:solidFill>
            <a:srgbClr val="F4F5F8"/>
          </a:solidFill>
          <a:ln cap="flat" cmpd="sng" w="28575">
            <a:solidFill>
              <a:srgbClr val="D9D9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4" name="Google Shape;204;p6"/>
          <p:cNvSpPr/>
          <p:nvPr/>
        </p:nvSpPr>
        <p:spPr>
          <a:xfrm>
            <a:off x="548640" y="3977640"/>
            <a:ext cx="73152" cy="2057400"/>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5" name="Google Shape;205;p6"/>
          <p:cNvSpPr txBox="1"/>
          <p:nvPr/>
        </p:nvSpPr>
        <p:spPr>
          <a:xfrm>
            <a:off x="777240" y="4114800"/>
            <a:ext cx="3200400" cy="3018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lang="en-US" sz="1600">
                <a:solidFill>
                  <a:srgbClr val="141B2D"/>
                </a:solidFill>
                <a:latin typeface="Calibri"/>
                <a:ea typeface="Calibri"/>
                <a:cs typeface="Calibri"/>
                <a:sym typeface="Calibri"/>
              </a:rPr>
              <a:t>Technical</a:t>
            </a:r>
            <a:r>
              <a:rPr b="1" i="0" lang="en-US" sz="1600" u="none" cap="none" strike="noStrike">
                <a:solidFill>
                  <a:srgbClr val="141B2D"/>
                </a:solidFill>
                <a:latin typeface="Calibri"/>
                <a:ea typeface="Calibri"/>
                <a:cs typeface="Calibri"/>
                <a:sym typeface="Calibri"/>
              </a:rPr>
              <a:t> debt</a:t>
            </a:r>
            <a:endParaRPr/>
          </a:p>
        </p:txBody>
      </p:sp>
      <p:sp>
        <p:nvSpPr>
          <p:cNvPr id="206" name="Google Shape;206;p6"/>
          <p:cNvSpPr txBox="1"/>
          <p:nvPr/>
        </p:nvSpPr>
        <p:spPr>
          <a:xfrm>
            <a:off x="777240" y="4517136"/>
            <a:ext cx="3200400" cy="1512600"/>
          </a:xfrm>
          <a:prstGeom prst="rect">
            <a:avLst/>
          </a:prstGeom>
          <a:noFill/>
          <a:ln>
            <a:noFill/>
          </a:ln>
        </p:spPr>
        <p:txBody>
          <a:bodyPr anchorCtr="0" anchor="t" bIns="27425" lIns="45700" spcFirstLastPara="1" rIns="45700" wrap="square" tIns="27425">
            <a:spAutoFit/>
          </a:bodyPr>
          <a:lstStyle/>
          <a:p>
            <a:pPr indent="-304800" lvl="0" marL="457200" marR="0" rtl="0" algn="l">
              <a:spcBef>
                <a:spcPts val="0"/>
              </a:spcBef>
              <a:spcAft>
                <a:spcPts val="0"/>
              </a:spcAft>
              <a:buClr>
                <a:srgbClr val="1A233A"/>
              </a:buClr>
              <a:buSzPts val="1200"/>
              <a:buFont typeface="Calibri"/>
              <a:buChar char="●"/>
            </a:pPr>
            <a:r>
              <a:rPr lang="en-US" sz="1300">
                <a:solidFill>
                  <a:srgbClr val="1A233A"/>
                </a:solidFill>
                <a:latin typeface="Calibri"/>
                <a:ea typeface="Calibri"/>
                <a:cs typeface="Calibri"/>
                <a:sym typeface="Calibri"/>
              </a:rPr>
              <a:t>Compounds &amp; delayed refactoring makes systems harder to modify</a:t>
            </a:r>
            <a:endParaRPr sz="1300">
              <a:solidFill>
                <a:srgbClr val="1A233A"/>
              </a:solidFill>
              <a:latin typeface="Calibri"/>
              <a:ea typeface="Calibri"/>
              <a:cs typeface="Calibri"/>
              <a:sym typeface="Calibri"/>
            </a:endParaRPr>
          </a:p>
          <a:p>
            <a:pPr indent="-304800" lvl="0" marL="457200" marR="0" rtl="0" algn="l">
              <a:spcBef>
                <a:spcPts val="1000"/>
              </a:spcBef>
              <a:spcAft>
                <a:spcPts val="0"/>
              </a:spcAft>
              <a:buClr>
                <a:srgbClr val="1A233A"/>
              </a:buClr>
              <a:buSzPts val="1200"/>
              <a:buFont typeface="Calibri"/>
              <a:buChar char="●"/>
            </a:pPr>
            <a:r>
              <a:rPr lang="en-US" sz="1300">
                <a:solidFill>
                  <a:srgbClr val="1A233A"/>
                </a:solidFill>
                <a:latin typeface="Calibri"/>
                <a:ea typeface="Calibri"/>
                <a:cs typeface="Calibri"/>
                <a:sym typeface="Calibri"/>
              </a:rPr>
              <a:t>B</a:t>
            </a:r>
            <a:r>
              <a:rPr i="0" lang="en-US" sz="1300" u="none" cap="none" strike="noStrike">
                <a:solidFill>
                  <a:srgbClr val="1A233A"/>
                </a:solidFill>
                <a:latin typeface="Calibri"/>
                <a:ea typeface="Calibri"/>
                <a:cs typeface="Calibri"/>
                <a:sym typeface="Calibri"/>
              </a:rPr>
              <a:t>andwidth</a:t>
            </a:r>
            <a:r>
              <a:rPr lang="en-US" sz="1300">
                <a:solidFill>
                  <a:srgbClr val="1A233A"/>
                </a:solidFill>
                <a:latin typeface="Calibri"/>
                <a:ea typeface="Calibri"/>
                <a:cs typeface="Calibri"/>
                <a:sym typeface="Calibri"/>
              </a:rPr>
              <a:t> limitations → </a:t>
            </a:r>
            <a:r>
              <a:rPr lang="en-US" sz="1300">
                <a:solidFill>
                  <a:srgbClr val="1A233A"/>
                </a:solidFill>
                <a:latin typeface="Calibri"/>
                <a:ea typeface="Calibri"/>
                <a:cs typeface="Calibri"/>
                <a:sym typeface="Calibri"/>
              </a:rPr>
              <a:t>Dependency upgrades and CVE patches are 'known and deferred' </a:t>
            </a:r>
            <a:endParaRPr sz="1300">
              <a:solidFill>
                <a:srgbClr val="1A233A"/>
              </a:solidFill>
              <a:latin typeface="Calibri"/>
              <a:ea typeface="Calibri"/>
              <a:cs typeface="Calibri"/>
              <a:sym typeface="Calibri"/>
            </a:endParaRPr>
          </a:p>
          <a:p>
            <a:pPr indent="-304800" lvl="0" marL="457200" marR="0" rtl="0" algn="l">
              <a:spcBef>
                <a:spcPts val="1000"/>
              </a:spcBef>
              <a:spcAft>
                <a:spcPts val="1000"/>
              </a:spcAft>
              <a:buClr>
                <a:srgbClr val="1A233A"/>
              </a:buClr>
              <a:buSzPts val="1200"/>
              <a:buFont typeface="Calibri"/>
              <a:buChar char="●"/>
            </a:pPr>
            <a:r>
              <a:rPr lang="en-US" sz="1300">
                <a:solidFill>
                  <a:srgbClr val="1A233A"/>
                </a:solidFill>
                <a:latin typeface="Calibri"/>
                <a:ea typeface="Calibri"/>
                <a:cs typeface="Calibri"/>
                <a:sym typeface="Calibri"/>
              </a:rPr>
              <a:t>Legacy systems slow shipping velocity</a:t>
            </a:r>
            <a:endParaRPr sz="1300">
              <a:solidFill>
                <a:srgbClr val="1A233A"/>
              </a:solidFill>
              <a:latin typeface="Calibri"/>
              <a:ea typeface="Calibri"/>
              <a:cs typeface="Calibri"/>
              <a:sym typeface="Calibri"/>
            </a:endParaRPr>
          </a:p>
        </p:txBody>
      </p:sp>
      <p:sp>
        <p:nvSpPr>
          <p:cNvPr id="207" name="Google Shape;207;p6"/>
          <p:cNvSpPr/>
          <p:nvPr/>
        </p:nvSpPr>
        <p:spPr>
          <a:xfrm>
            <a:off x="4297679" y="3977640"/>
            <a:ext cx="3566160" cy="2057400"/>
          </a:xfrm>
          <a:prstGeom prst="roundRect">
            <a:avLst>
              <a:gd fmla="val 6000" name="adj"/>
            </a:avLst>
          </a:prstGeom>
          <a:solidFill>
            <a:srgbClr val="F4F5F8"/>
          </a:solidFill>
          <a:ln cap="flat" cmpd="sng" w="28575">
            <a:solidFill>
              <a:srgbClr val="D9D9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8" name="Google Shape;208;p6"/>
          <p:cNvSpPr/>
          <p:nvPr/>
        </p:nvSpPr>
        <p:spPr>
          <a:xfrm>
            <a:off x="4297679" y="3977640"/>
            <a:ext cx="73152" cy="2057400"/>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9" name="Google Shape;209;p6"/>
          <p:cNvSpPr txBox="1"/>
          <p:nvPr/>
        </p:nvSpPr>
        <p:spPr>
          <a:xfrm>
            <a:off x="4526279" y="4114800"/>
            <a:ext cx="3200400" cy="3018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lang="en-US" sz="1600">
                <a:solidFill>
                  <a:srgbClr val="141B2D"/>
                </a:solidFill>
                <a:latin typeface="Calibri"/>
                <a:ea typeface="Calibri"/>
                <a:cs typeface="Calibri"/>
                <a:sym typeface="Calibri"/>
              </a:rPr>
              <a:t>Security &amp; Compliance</a:t>
            </a:r>
            <a:endParaRPr/>
          </a:p>
        </p:txBody>
      </p:sp>
      <p:sp>
        <p:nvSpPr>
          <p:cNvPr id="210" name="Google Shape;210;p6"/>
          <p:cNvSpPr txBox="1"/>
          <p:nvPr/>
        </p:nvSpPr>
        <p:spPr>
          <a:xfrm>
            <a:off x="4526279" y="4572000"/>
            <a:ext cx="3200400" cy="1112400"/>
          </a:xfrm>
          <a:prstGeom prst="rect">
            <a:avLst/>
          </a:prstGeom>
          <a:noFill/>
          <a:ln>
            <a:noFill/>
          </a:ln>
        </p:spPr>
        <p:txBody>
          <a:bodyPr anchorCtr="0" anchor="t" bIns="27425" lIns="45700" spcFirstLastPara="1" rIns="45700" wrap="square" tIns="27425">
            <a:spAutoFit/>
          </a:bodyPr>
          <a:lstStyle/>
          <a:p>
            <a:pPr indent="-311150" lvl="0" marL="457200" marR="0" rtl="0" algn="l">
              <a:spcBef>
                <a:spcPts val="0"/>
              </a:spcBef>
              <a:spcAft>
                <a:spcPts val="0"/>
              </a:spcAft>
              <a:buClr>
                <a:srgbClr val="141B2D"/>
              </a:buClr>
              <a:buSzPts val="1300"/>
              <a:buFont typeface="Calibri"/>
              <a:buChar char="●"/>
            </a:pPr>
            <a:r>
              <a:rPr lang="en-US" sz="1300">
                <a:solidFill>
                  <a:srgbClr val="141B2D"/>
                </a:solidFill>
                <a:latin typeface="Calibri"/>
                <a:ea typeface="Calibri"/>
                <a:cs typeface="Calibri"/>
                <a:sym typeface="Calibri"/>
              </a:rPr>
              <a:t>Essential but </a:t>
            </a:r>
            <a:r>
              <a:rPr lang="en-US" sz="1300">
                <a:solidFill>
                  <a:srgbClr val="141B2D"/>
                </a:solidFill>
                <a:latin typeface="Calibri"/>
                <a:ea typeface="Calibri"/>
                <a:cs typeface="Calibri"/>
                <a:sym typeface="Calibri"/>
              </a:rPr>
              <a:t>time</a:t>
            </a:r>
            <a:r>
              <a:rPr lang="en-US" sz="1300">
                <a:solidFill>
                  <a:srgbClr val="141B2D"/>
                </a:solidFill>
                <a:latin typeface="Calibri"/>
                <a:ea typeface="Calibri"/>
                <a:cs typeface="Calibri"/>
                <a:sym typeface="Calibri"/>
              </a:rPr>
              <a:t> consuming</a:t>
            </a:r>
            <a:endParaRPr sz="1300">
              <a:solidFill>
                <a:srgbClr val="141B2D"/>
              </a:solidFill>
              <a:latin typeface="Calibri"/>
              <a:ea typeface="Calibri"/>
              <a:cs typeface="Calibri"/>
              <a:sym typeface="Calibri"/>
            </a:endParaRPr>
          </a:p>
          <a:p>
            <a:pPr indent="-311150" lvl="0" marL="457200" marR="0" rtl="0" algn="l">
              <a:spcBef>
                <a:spcPts val="1000"/>
              </a:spcBef>
              <a:spcAft>
                <a:spcPts val="0"/>
              </a:spcAft>
              <a:buClr>
                <a:srgbClr val="141B2D"/>
              </a:buClr>
              <a:buSzPts val="1300"/>
              <a:buFont typeface="Calibri"/>
              <a:buChar char="●"/>
            </a:pPr>
            <a:r>
              <a:rPr b="0" i="0" lang="en-US" sz="1300" u="none" cap="none" strike="noStrike">
                <a:solidFill>
                  <a:srgbClr val="141B2D"/>
                </a:solidFill>
                <a:latin typeface="Calibri"/>
                <a:ea typeface="Calibri"/>
                <a:cs typeface="Calibri"/>
                <a:sym typeface="Calibri"/>
              </a:rPr>
              <a:t>Engineers already paste code into consumer AI tools. </a:t>
            </a:r>
            <a:endParaRPr b="0" i="0" sz="1300" u="none" cap="none" strike="noStrike">
              <a:solidFill>
                <a:srgbClr val="141B2D"/>
              </a:solidFill>
              <a:latin typeface="Calibri"/>
              <a:ea typeface="Calibri"/>
              <a:cs typeface="Calibri"/>
              <a:sym typeface="Calibri"/>
            </a:endParaRPr>
          </a:p>
          <a:p>
            <a:pPr indent="-311150" lvl="0" marL="457200" marR="0" rtl="0" algn="l">
              <a:spcBef>
                <a:spcPts val="1000"/>
              </a:spcBef>
              <a:spcAft>
                <a:spcPts val="1000"/>
              </a:spcAft>
              <a:buClr>
                <a:srgbClr val="141B2D"/>
              </a:buClr>
              <a:buSzPts val="1300"/>
              <a:buFont typeface="Calibri"/>
              <a:buChar char="●"/>
            </a:pPr>
            <a:r>
              <a:rPr b="0" i="0" lang="en-US" sz="1300" u="none" cap="none" strike="noStrike">
                <a:solidFill>
                  <a:srgbClr val="141B2D"/>
                </a:solidFill>
                <a:latin typeface="Calibri"/>
                <a:ea typeface="Calibri"/>
                <a:cs typeface="Calibri"/>
                <a:sym typeface="Calibri"/>
              </a:rPr>
              <a:t>Security has limited visibility or control.</a:t>
            </a:r>
            <a:endParaRPr>
              <a:solidFill>
                <a:srgbClr val="141B2D"/>
              </a:solidFill>
            </a:endParaRPr>
          </a:p>
        </p:txBody>
      </p:sp>
      <p:sp>
        <p:nvSpPr>
          <p:cNvPr id="211" name="Google Shape;211;p6"/>
          <p:cNvSpPr/>
          <p:nvPr/>
        </p:nvSpPr>
        <p:spPr>
          <a:xfrm>
            <a:off x="8046718" y="3977640"/>
            <a:ext cx="3566160" cy="2057400"/>
          </a:xfrm>
          <a:prstGeom prst="roundRect">
            <a:avLst>
              <a:gd fmla="val 6000" name="adj"/>
            </a:avLst>
          </a:prstGeom>
          <a:solidFill>
            <a:srgbClr val="F4F5F8"/>
          </a:solidFill>
          <a:ln cap="flat" cmpd="sng" w="28575">
            <a:solidFill>
              <a:srgbClr val="D9D9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2" name="Google Shape;212;p6"/>
          <p:cNvSpPr/>
          <p:nvPr/>
        </p:nvSpPr>
        <p:spPr>
          <a:xfrm>
            <a:off x="8046718" y="3977640"/>
            <a:ext cx="73152" cy="2057400"/>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3" name="Google Shape;213;p6"/>
          <p:cNvSpPr txBox="1"/>
          <p:nvPr/>
        </p:nvSpPr>
        <p:spPr>
          <a:xfrm>
            <a:off x="8275325" y="4114800"/>
            <a:ext cx="3429000" cy="3018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lang="en-US" sz="1600">
                <a:solidFill>
                  <a:srgbClr val="141B2D"/>
                </a:solidFill>
                <a:latin typeface="Calibri"/>
                <a:ea typeface="Calibri"/>
                <a:cs typeface="Calibri"/>
                <a:sym typeface="Calibri"/>
              </a:rPr>
              <a:t>Quality vs Speed </a:t>
            </a:r>
            <a:endParaRPr/>
          </a:p>
        </p:txBody>
      </p:sp>
      <p:sp>
        <p:nvSpPr>
          <p:cNvPr id="214" name="Google Shape;214;p6"/>
          <p:cNvSpPr txBox="1"/>
          <p:nvPr/>
        </p:nvSpPr>
        <p:spPr>
          <a:xfrm>
            <a:off x="8275318" y="4572000"/>
            <a:ext cx="3200400" cy="1440600"/>
          </a:xfrm>
          <a:prstGeom prst="rect">
            <a:avLst/>
          </a:prstGeom>
          <a:noFill/>
          <a:ln>
            <a:noFill/>
          </a:ln>
        </p:spPr>
        <p:txBody>
          <a:bodyPr anchorCtr="0" anchor="t" bIns="27425" lIns="45700" spcFirstLastPara="1" rIns="45700" wrap="square" tIns="27425">
            <a:spAutoFit/>
          </a:bodyPr>
          <a:lstStyle/>
          <a:p>
            <a:pPr indent="-311150" lvl="0" marL="457200" rtl="0" algn="l">
              <a:spcBef>
                <a:spcPts val="0"/>
              </a:spcBef>
              <a:spcAft>
                <a:spcPts val="0"/>
              </a:spcAft>
              <a:buClr>
                <a:srgbClr val="141B2D"/>
              </a:buClr>
              <a:buSzPts val="1300"/>
              <a:buFont typeface="Calibri"/>
              <a:buChar char="●"/>
            </a:pPr>
            <a:r>
              <a:rPr lang="en-US" sz="1300">
                <a:solidFill>
                  <a:srgbClr val="141B2D"/>
                </a:solidFill>
                <a:latin typeface="Calibri"/>
                <a:ea typeface="Calibri"/>
                <a:cs typeface="Calibri"/>
                <a:sym typeface="Calibri"/>
              </a:rPr>
              <a:t>Pressure to ship</a:t>
            </a:r>
            <a:endParaRPr sz="1300">
              <a:solidFill>
                <a:srgbClr val="141B2D"/>
              </a:solidFill>
              <a:latin typeface="Calibri"/>
              <a:ea typeface="Calibri"/>
              <a:cs typeface="Calibri"/>
              <a:sym typeface="Calibri"/>
            </a:endParaRPr>
          </a:p>
          <a:p>
            <a:pPr indent="-311150" lvl="0" marL="457200" rtl="0" algn="l">
              <a:spcBef>
                <a:spcPts val="1000"/>
              </a:spcBef>
              <a:spcAft>
                <a:spcPts val="0"/>
              </a:spcAft>
              <a:buClr>
                <a:srgbClr val="141B2D"/>
              </a:buClr>
              <a:buSzPts val="1300"/>
              <a:buFont typeface="Calibri"/>
              <a:buChar char="●"/>
            </a:pPr>
            <a:r>
              <a:rPr lang="en-US" sz="1300">
                <a:solidFill>
                  <a:srgbClr val="141B2D"/>
                </a:solidFill>
                <a:latin typeface="Calibri"/>
                <a:ea typeface="Calibri"/>
                <a:cs typeface="Calibri"/>
                <a:sym typeface="Calibri"/>
              </a:rPr>
              <a:t>Keep pace with revenue demands</a:t>
            </a:r>
            <a:endParaRPr sz="1300">
              <a:solidFill>
                <a:srgbClr val="141B2D"/>
              </a:solidFill>
              <a:latin typeface="Calibri"/>
              <a:ea typeface="Calibri"/>
              <a:cs typeface="Calibri"/>
              <a:sym typeface="Calibri"/>
            </a:endParaRPr>
          </a:p>
          <a:p>
            <a:pPr indent="-311150" lvl="0" marL="457200" marR="0" rtl="0" algn="l">
              <a:spcBef>
                <a:spcPts val="1000"/>
              </a:spcBef>
              <a:spcAft>
                <a:spcPts val="0"/>
              </a:spcAft>
              <a:buClr>
                <a:srgbClr val="141B2D"/>
              </a:buClr>
              <a:buSzPts val="1300"/>
              <a:buFont typeface="Calibri"/>
              <a:buChar char="●"/>
            </a:pPr>
            <a:r>
              <a:rPr b="0" i="0" lang="en-US" sz="1300" u="none" cap="none" strike="noStrike">
                <a:solidFill>
                  <a:srgbClr val="141B2D"/>
                </a:solidFill>
                <a:latin typeface="Calibri"/>
                <a:ea typeface="Calibri"/>
                <a:cs typeface="Calibri"/>
                <a:sym typeface="Calibri"/>
              </a:rPr>
              <a:t>Copilots help type faster but do not take work off the board.</a:t>
            </a:r>
            <a:endParaRPr b="0" i="0" sz="1300" u="none" cap="none" strike="noStrike">
              <a:solidFill>
                <a:srgbClr val="141B2D"/>
              </a:solidFill>
              <a:latin typeface="Calibri"/>
              <a:ea typeface="Calibri"/>
              <a:cs typeface="Calibri"/>
              <a:sym typeface="Calibri"/>
            </a:endParaRPr>
          </a:p>
          <a:p>
            <a:pPr indent="0" lvl="0" marL="457200" marR="0" rtl="0" algn="l">
              <a:spcBef>
                <a:spcPts val="1000"/>
              </a:spcBef>
              <a:spcAft>
                <a:spcPts val="1000"/>
              </a:spcAft>
              <a:buNone/>
            </a:pPr>
            <a:r>
              <a:t/>
            </a:r>
            <a:endParaRPr sz="1300">
              <a:solidFill>
                <a:srgbClr val="141B2D"/>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9" name="Shape 219"/>
        <p:cNvGrpSpPr/>
        <p:nvPr/>
      </p:nvGrpSpPr>
      <p:grpSpPr>
        <a:xfrm>
          <a:off x="0" y="0"/>
          <a:ext cx="0" cy="0"/>
          <a:chOff x="0" y="0"/>
          <a:chExt cx="0" cy="0"/>
        </a:xfrm>
      </p:grpSpPr>
      <p:sp>
        <p:nvSpPr>
          <p:cNvPr id="220" name="Google Shape;220;p13"/>
          <p:cNvSpPr/>
          <p:nvPr/>
        </p:nvSpPr>
        <p:spPr>
          <a:xfrm>
            <a:off x="0" y="0"/>
            <a:ext cx="12191695" cy="109728"/>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1" name="Google Shape;221;p13"/>
          <p:cNvSpPr txBox="1"/>
          <p:nvPr/>
        </p:nvSpPr>
        <p:spPr>
          <a:xfrm>
            <a:off x="548640" y="411480"/>
            <a:ext cx="7315200" cy="36576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200" u="none" cap="none" strike="noStrike">
                <a:solidFill>
                  <a:srgbClr val="3B82F6"/>
                </a:solidFill>
                <a:latin typeface="Calibri"/>
                <a:ea typeface="Calibri"/>
                <a:cs typeface="Calibri"/>
                <a:sym typeface="Calibri"/>
              </a:rPr>
              <a:t>THE SHIFT</a:t>
            </a:r>
            <a:endParaRPr/>
          </a:p>
        </p:txBody>
      </p:sp>
      <p:sp>
        <p:nvSpPr>
          <p:cNvPr id="222" name="Google Shape;222;p13"/>
          <p:cNvSpPr txBox="1"/>
          <p:nvPr/>
        </p:nvSpPr>
        <p:spPr>
          <a:xfrm>
            <a:off x="548640" y="731520"/>
            <a:ext cx="11155800" cy="5172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lang="en-US" sz="3000">
                <a:solidFill>
                  <a:srgbClr val="141B2D"/>
                </a:solidFill>
                <a:latin typeface="Calibri"/>
                <a:ea typeface="Calibri"/>
                <a:cs typeface="Calibri"/>
                <a:sym typeface="Calibri"/>
              </a:rPr>
              <a:t>Copilot → Colleague </a:t>
            </a:r>
            <a:endParaRPr/>
          </a:p>
        </p:txBody>
      </p:sp>
      <p:sp>
        <p:nvSpPr>
          <p:cNvPr id="223" name="Google Shape;223;p13"/>
          <p:cNvSpPr txBox="1"/>
          <p:nvPr/>
        </p:nvSpPr>
        <p:spPr>
          <a:xfrm>
            <a:off x="548640" y="6446520"/>
            <a:ext cx="7315200" cy="2094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000" u="none" cap="none" strike="noStrike">
                <a:solidFill>
                  <a:srgbClr val="6B7280"/>
                </a:solidFill>
                <a:latin typeface="Calibri"/>
                <a:ea typeface="Calibri"/>
                <a:cs typeface="Calibri"/>
                <a:sym typeface="Calibri"/>
              </a:rPr>
              <a:t>Cognition  |  Devin </a:t>
            </a:r>
            <a:endParaRPr/>
          </a:p>
        </p:txBody>
      </p:sp>
      <p:sp>
        <p:nvSpPr>
          <p:cNvPr id="224" name="Google Shape;224;p13"/>
          <p:cNvSpPr txBox="1"/>
          <p:nvPr/>
        </p:nvSpPr>
        <p:spPr>
          <a:xfrm>
            <a:off x="10789920" y="6446520"/>
            <a:ext cx="914400" cy="274320"/>
          </a:xfrm>
          <a:prstGeom prst="rect">
            <a:avLst/>
          </a:prstGeom>
          <a:noFill/>
          <a:ln>
            <a:noFill/>
          </a:ln>
        </p:spPr>
        <p:txBody>
          <a:bodyPr anchorCtr="0" anchor="t" bIns="27425" lIns="45700" spcFirstLastPara="1" rIns="45700" wrap="square" tIns="27425">
            <a:spAutoFit/>
          </a:bodyPr>
          <a:lstStyle/>
          <a:p>
            <a:pPr indent="0" lvl="0" marL="0" marR="0" rtl="0" algn="r">
              <a:spcBef>
                <a:spcPts val="0"/>
              </a:spcBef>
              <a:spcAft>
                <a:spcPts val="0"/>
              </a:spcAft>
              <a:buNone/>
            </a:pPr>
            <a:r>
              <a:rPr b="0" i="0" lang="en-US" sz="1000" u="none" cap="none" strike="noStrike">
                <a:solidFill>
                  <a:srgbClr val="6B7280"/>
                </a:solidFill>
                <a:latin typeface="Calibri"/>
                <a:ea typeface="Calibri"/>
                <a:cs typeface="Calibri"/>
                <a:sym typeface="Calibri"/>
              </a:rPr>
              <a:t>13</a:t>
            </a:r>
            <a:endParaRPr/>
          </a:p>
        </p:txBody>
      </p:sp>
      <p:sp>
        <p:nvSpPr>
          <p:cNvPr id="225" name="Google Shape;225;p13"/>
          <p:cNvSpPr/>
          <p:nvPr/>
        </p:nvSpPr>
        <p:spPr>
          <a:xfrm>
            <a:off x="548640" y="1737360"/>
            <a:ext cx="5394960" cy="4297680"/>
          </a:xfrm>
          <a:prstGeom prst="roundRect">
            <a:avLst>
              <a:gd fmla="val 16667" name="adj"/>
            </a:avLst>
          </a:prstGeom>
          <a:solidFill>
            <a:srgbClr val="F4F5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6" name="Google Shape;226;p13"/>
          <p:cNvSpPr txBox="1"/>
          <p:nvPr/>
        </p:nvSpPr>
        <p:spPr>
          <a:xfrm>
            <a:off x="822960" y="1920240"/>
            <a:ext cx="4846320" cy="4572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2000" u="none" cap="none" strike="noStrike">
                <a:solidFill>
                  <a:srgbClr val="6B7280"/>
                </a:solidFill>
                <a:latin typeface="Calibri"/>
                <a:ea typeface="Calibri"/>
                <a:cs typeface="Calibri"/>
                <a:sym typeface="Calibri"/>
              </a:rPr>
              <a:t>AI Copilot (Gen 1)</a:t>
            </a:r>
            <a:endParaRPr/>
          </a:p>
        </p:txBody>
      </p:sp>
      <p:sp>
        <p:nvSpPr>
          <p:cNvPr id="227" name="Google Shape;227;p13"/>
          <p:cNvSpPr txBox="1"/>
          <p:nvPr/>
        </p:nvSpPr>
        <p:spPr>
          <a:xfrm>
            <a:off x="822960" y="2468880"/>
            <a:ext cx="4846320" cy="347472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1500" u="none" cap="none" strike="noStrike">
                <a:solidFill>
                  <a:srgbClr val="6B7280"/>
                </a:solidFill>
                <a:latin typeface="Calibri"/>
                <a:ea typeface="Calibri"/>
                <a:cs typeface="Calibri"/>
                <a:sym typeface="Calibri"/>
              </a:rPr>
              <a:t>▪  Suggests the next line inside the editor</a:t>
            </a:r>
            <a:endParaRPr/>
          </a:p>
          <a:p>
            <a:pPr indent="0" lvl="0" marL="0" marR="0" rtl="0" algn="l">
              <a:spcBef>
                <a:spcPts val="600"/>
              </a:spcBef>
              <a:spcAft>
                <a:spcPts val="0"/>
              </a:spcAft>
              <a:buNone/>
            </a:pPr>
            <a:r>
              <a:rPr b="0" i="0" lang="en-US" sz="1500" u="none" cap="none" strike="noStrike">
                <a:solidFill>
                  <a:srgbClr val="6B7280"/>
                </a:solidFill>
                <a:latin typeface="Calibri"/>
                <a:ea typeface="Calibri"/>
                <a:cs typeface="Calibri"/>
                <a:sym typeface="Calibri"/>
              </a:rPr>
              <a:t>▪  Requires a human at the keyboard for every step</a:t>
            </a:r>
            <a:endParaRPr/>
          </a:p>
          <a:p>
            <a:pPr indent="0" lvl="0" marL="0" marR="0" rtl="0" algn="l">
              <a:spcBef>
                <a:spcPts val="600"/>
              </a:spcBef>
              <a:spcAft>
                <a:spcPts val="0"/>
              </a:spcAft>
              <a:buNone/>
            </a:pPr>
            <a:r>
              <a:rPr b="0" i="0" lang="en-US" sz="1500" u="none" cap="none" strike="noStrike">
                <a:solidFill>
                  <a:srgbClr val="6B7280"/>
                </a:solidFill>
                <a:latin typeface="Calibri"/>
                <a:ea typeface="Calibri"/>
                <a:cs typeface="Calibri"/>
                <a:sym typeface="Calibri"/>
              </a:rPr>
              <a:t>▪  No environment: cannot run tests or fix CI</a:t>
            </a:r>
            <a:endParaRPr/>
          </a:p>
          <a:p>
            <a:pPr indent="0" lvl="0" marL="0" marR="0" rtl="0" algn="l">
              <a:spcBef>
                <a:spcPts val="600"/>
              </a:spcBef>
              <a:spcAft>
                <a:spcPts val="0"/>
              </a:spcAft>
              <a:buNone/>
            </a:pPr>
            <a:r>
              <a:rPr b="0" i="0" lang="en-US" sz="1500" u="none" cap="none" strike="noStrike">
                <a:solidFill>
                  <a:srgbClr val="6B7280"/>
                </a:solidFill>
                <a:latin typeface="Calibri"/>
                <a:ea typeface="Calibri"/>
                <a:cs typeface="Calibri"/>
                <a:sym typeface="Calibri"/>
              </a:rPr>
              <a:t>▪  Productivity gain: ~10-20% per developer</a:t>
            </a:r>
            <a:endParaRPr/>
          </a:p>
          <a:p>
            <a:pPr indent="0" lvl="0" marL="0" marR="0" rtl="0" algn="l">
              <a:spcBef>
                <a:spcPts val="600"/>
              </a:spcBef>
              <a:spcAft>
                <a:spcPts val="0"/>
              </a:spcAft>
              <a:buNone/>
            </a:pPr>
            <a:r>
              <a:rPr b="0" i="0" lang="en-US" sz="1500" u="none" cap="none" strike="noStrike">
                <a:solidFill>
                  <a:srgbClr val="6B7280"/>
                </a:solidFill>
                <a:latin typeface="Calibri"/>
                <a:ea typeface="Calibri"/>
                <a:cs typeface="Calibri"/>
                <a:sym typeface="Calibri"/>
              </a:rPr>
              <a:t>▪  Backlog size unchanged</a:t>
            </a:r>
            <a:endParaRPr/>
          </a:p>
        </p:txBody>
      </p:sp>
      <p:sp>
        <p:nvSpPr>
          <p:cNvPr id="228" name="Google Shape;228;p13"/>
          <p:cNvSpPr/>
          <p:nvPr/>
        </p:nvSpPr>
        <p:spPr>
          <a:xfrm>
            <a:off x="6217920" y="1737360"/>
            <a:ext cx="5394960" cy="4297680"/>
          </a:xfrm>
          <a:prstGeom prst="roundRect">
            <a:avLst>
              <a:gd fmla="val 16667" name="adj"/>
            </a:avLst>
          </a:prstGeom>
          <a:solidFill>
            <a:srgbClr val="0B122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9" name="Google Shape;229;p13"/>
          <p:cNvSpPr txBox="1"/>
          <p:nvPr/>
        </p:nvSpPr>
        <p:spPr>
          <a:xfrm>
            <a:off x="6492240" y="1920240"/>
            <a:ext cx="4846200" cy="3633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2000" u="none" cap="none" strike="noStrike">
                <a:solidFill>
                  <a:srgbClr val="22C55E"/>
                </a:solidFill>
                <a:latin typeface="Calibri"/>
                <a:ea typeface="Calibri"/>
                <a:cs typeface="Calibri"/>
                <a:sym typeface="Calibri"/>
              </a:rPr>
              <a:t>AI Software Engineer (</a:t>
            </a:r>
            <a:r>
              <a:rPr b="1" lang="en-US" sz="2000">
                <a:solidFill>
                  <a:srgbClr val="22C55E"/>
                </a:solidFill>
                <a:latin typeface="Calibri"/>
                <a:ea typeface="Calibri"/>
                <a:cs typeface="Calibri"/>
                <a:sym typeface="Calibri"/>
              </a:rPr>
              <a:t>Gen 2)</a:t>
            </a:r>
            <a:endParaRPr/>
          </a:p>
        </p:txBody>
      </p:sp>
      <p:sp>
        <p:nvSpPr>
          <p:cNvPr id="230" name="Google Shape;230;p13"/>
          <p:cNvSpPr txBox="1"/>
          <p:nvPr/>
        </p:nvSpPr>
        <p:spPr>
          <a:xfrm>
            <a:off x="6492240" y="2468880"/>
            <a:ext cx="4846200" cy="15546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1500" u="none" cap="none" strike="noStrike">
                <a:solidFill>
                  <a:srgbClr val="22C55E"/>
                </a:solidFill>
                <a:latin typeface="Calibri"/>
                <a:ea typeface="Calibri"/>
                <a:cs typeface="Calibri"/>
                <a:sym typeface="Calibri"/>
              </a:rPr>
              <a:t>▪  </a:t>
            </a:r>
            <a:r>
              <a:rPr b="0" i="0" lang="en-US" sz="1500" u="none" cap="none" strike="noStrike">
                <a:solidFill>
                  <a:srgbClr val="FFFFFF"/>
                </a:solidFill>
                <a:latin typeface="Calibri"/>
                <a:ea typeface="Calibri"/>
                <a:cs typeface="Calibri"/>
                <a:sym typeface="Calibri"/>
              </a:rPr>
              <a:t>Takes a ticket and returns a tested pull request</a:t>
            </a:r>
            <a:endParaRPr/>
          </a:p>
          <a:p>
            <a:pPr indent="0" lvl="0" marL="0" marR="0" rtl="0" algn="l">
              <a:spcBef>
                <a:spcPts val="600"/>
              </a:spcBef>
              <a:spcAft>
                <a:spcPts val="0"/>
              </a:spcAft>
              <a:buNone/>
            </a:pPr>
            <a:r>
              <a:rPr b="0" i="0" lang="en-US" sz="1500" u="none" cap="none" strike="noStrike">
                <a:solidFill>
                  <a:srgbClr val="22C55E"/>
                </a:solidFill>
                <a:latin typeface="Calibri"/>
                <a:ea typeface="Calibri"/>
                <a:cs typeface="Calibri"/>
                <a:sym typeface="Calibri"/>
              </a:rPr>
              <a:t>▪  </a:t>
            </a:r>
            <a:r>
              <a:rPr b="0" i="0" lang="en-US" sz="1500" u="none" cap="none" strike="noStrike">
                <a:solidFill>
                  <a:srgbClr val="FFFFFF"/>
                </a:solidFill>
                <a:latin typeface="Calibri"/>
                <a:ea typeface="Calibri"/>
                <a:cs typeface="Calibri"/>
                <a:sym typeface="Calibri"/>
              </a:rPr>
              <a:t>Works asynchronously and in parallel: many </a:t>
            </a:r>
            <a:r>
              <a:rPr lang="en-US" sz="1500">
                <a:solidFill>
                  <a:srgbClr val="FFFFFF"/>
                </a:solidFill>
                <a:latin typeface="Calibri"/>
                <a:ea typeface="Calibri"/>
                <a:cs typeface="Calibri"/>
                <a:sym typeface="Calibri"/>
              </a:rPr>
              <a:t>agents</a:t>
            </a:r>
            <a:r>
              <a:rPr b="0" i="0" lang="en-US" sz="1500" u="none" cap="none" strike="noStrike">
                <a:solidFill>
                  <a:srgbClr val="FFFFFF"/>
                </a:solidFill>
                <a:latin typeface="Calibri"/>
                <a:ea typeface="Calibri"/>
                <a:cs typeface="Calibri"/>
                <a:sym typeface="Calibri"/>
              </a:rPr>
              <a:t> at once</a:t>
            </a:r>
            <a:endParaRPr/>
          </a:p>
          <a:p>
            <a:pPr indent="0" lvl="0" marL="0" marR="0" rtl="0" algn="l">
              <a:spcBef>
                <a:spcPts val="600"/>
              </a:spcBef>
              <a:spcAft>
                <a:spcPts val="0"/>
              </a:spcAft>
              <a:buNone/>
            </a:pPr>
            <a:r>
              <a:rPr b="0" i="0" lang="en-US" sz="1500" u="none" cap="none" strike="noStrike">
                <a:solidFill>
                  <a:srgbClr val="22C55E"/>
                </a:solidFill>
                <a:latin typeface="Calibri"/>
                <a:ea typeface="Calibri"/>
                <a:cs typeface="Calibri"/>
                <a:sym typeface="Calibri"/>
              </a:rPr>
              <a:t>▪  </a:t>
            </a:r>
            <a:r>
              <a:rPr b="0" i="0" lang="en-US" sz="1500" u="none" cap="none" strike="noStrike">
                <a:solidFill>
                  <a:srgbClr val="FFFFFF"/>
                </a:solidFill>
                <a:latin typeface="Calibri"/>
                <a:ea typeface="Calibri"/>
                <a:cs typeface="Calibri"/>
                <a:sym typeface="Calibri"/>
              </a:rPr>
              <a:t>Own sandboxed machine: shell, browser, CI, deployment</a:t>
            </a:r>
            <a:endParaRPr/>
          </a:p>
          <a:p>
            <a:pPr indent="0" lvl="0" marL="0" marR="0" rtl="0" algn="l">
              <a:spcBef>
                <a:spcPts val="600"/>
              </a:spcBef>
              <a:spcAft>
                <a:spcPts val="0"/>
              </a:spcAft>
              <a:buNone/>
            </a:pPr>
            <a:r>
              <a:rPr b="0" i="0" lang="en-US" sz="1500" u="none" cap="none" strike="noStrike">
                <a:solidFill>
                  <a:srgbClr val="22C55E"/>
                </a:solidFill>
                <a:latin typeface="Calibri"/>
                <a:ea typeface="Calibri"/>
                <a:cs typeface="Calibri"/>
                <a:sym typeface="Calibri"/>
              </a:rPr>
              <a:t>▪  </a:t>
            </a:r>
            <a:r>
              <a:rPr b="0" i="0" lang="en-US" sz="1500" u="none" cap="none" strike="noStrike">
                <a:solidFill>
                  <a:srgbClr val="FFFFFF"/>
                </a:solidFill>
                <a:latin typeface="Calibri"/>
                <a:ea typeface="Calibri"/>
                <a:cs typeface="Calibri"/>
                <a:sym typeface="Calibri"/>
              </a:rPr>
              <a:t>Human shifts to reviewer and architect</a:t>
            </a:r>
            <a:endParaRPr/>
          </a:p>
          <a:p>
            <a:pPr indent="0" lvl="0" marL="0" marR="0" rtl="0" algn="l">
              <a:spcBef>
                <a:spcPts val="600"/>
              </a:spcBef>
              <a:spcAft>
                <a:spcPts val="0"/>
              </a:spcAft>
              <a:buNone/>
            </a:pPr>
            <a:r>
              <a:rPr b="0" i="0" lang="en-US" sz="1500" u="none" cap="none" strike="noStrike">
                <a:solidFill>
                  <a:srgbClr val="22C55E"/>
                </a:solidFill>
                <a:latin typeface="Calibri"/>
                <a:ea typeface="Calibri"/>
                <a:cs typeface="Calibri"/>
                <a:sym typeface="Calibri"/>
              </a:rPr>
              <a:t>▪  </a:t>
            </a:r>
            <a:r>
              <a:rPr b="0" i="0" lang="en-US" sz="1500" u="none" cap="none" strike="noStrike">
                <a:solidFill>
                  <a:srgbClr val="FFFFFF"/>
                </a:solidFill>
                <a:latin typeface="Calibri"/>
                <a:ea typeface="Calibri"/>
                <a:cs typeface="Calibri"/>
                <a:sym typeface="Calibri"/>
              </a:rPr>
              <a:t>Backlog actually shrinks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226"/>
        </a:solidFill>
      </p:bgPr>
    </p:bg>
    <p:spTree>
      <p:nvGrpSpPr>
        <p:cNvPr id="234" name="Shape 234"/>
        <p:cNvGrpSpPr/>
        <p:nvPr/>
      </p:nvGrpSpPr>
      <p:grpSpPr>
        <a:xfrm>
          <a:off x="0" y="0"/>
          <a:ext cx="0" cy="0"/>
          <a:chOff x="0" y="0"/>
          <a:chExt cx="0" cy="0"/>
        </a:xfrm>
      </p:grpSpPr>
      <p:sp>
        <p:nvSpPr>
          <p:cNvPr id="235" name="Google Shape;235;p7"/>
          <p:cNvSpPr txBox="1"/>
          <p:nvPr/>
        </p:nvSpPr>
        <p:spPr>
          <a:xfrm>
            <a:off x="822960" y="2377440"/>
            <a:ext cx="3657600" cy="4572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600" u="none" cap="none" strike="noStrike">
                <a:solidFill>
                  <a:srgbClr val="3B82F6"/>
                </a:solidFill>
                <a:latin typeface="Calibri"/>
                <a:ea typeface="Calibri"/>
                <a:cs typeface="Calibri"/>
                <a:sym typeface="Calibri"/>
              </a:rPr>
              <a:t>SECTION 02</a:t>
            </a:r>
            <a:endParaRPr/>
          </a:p>
        </p:txBody>
      </p:sp>
      <p:sp>
        <p:nvSpPr>
          <p:cNvPr id="236" name="Google Shape;236;p7"/>
          <p:cNvSpPr txBox="1"/>
          <p:nvPr/>
        </p:nvSpPr>
        <p:spPr>
          <a:xfrm>
            <a:off x="822960" y="2871603"/>
            <a:ext cx="10058400" cy="7941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lang="en-US" sz="4800">
                <a:solidFill>
                  <a:srgbClr val="FFFFFF"/>
                </a:solidFill>
                <a:latin typeface="Calibri"/>
                <a:ea typeface="Calibri"/>
                <a:cs typeface="Calibri"/>
                <a:sym typeface="Calibri"/>
              </a:rPr>
              <a:t>Meet </a:t>
            </a:r>
            <a:endParaRPr/>
          </a:p>
        </p:txBody>
      </p:sp>
      <p:pic>
        <p:nvPicPr>
          <p:cNvPr id="237" name="Google Shape;237;p7" title="brand-logo-devin-1.png"/>
          <p:cNvPicPr preferRelativeResize="0"/>
          <p:nvPr/>
        </p:nvPicPr>
        <p:blipFill>
          <a:blip r:embed="rId3">
            <a:alphaModFix/>
          </a:blip>
          <a:stretch>
            <a:fillRect/>
          </a:stretch>
        </p:blipFill>
        <p:spPr>
          <a:xfrm>
            <a:off x="2615550" y="2900975"/>
            <a:ext cx="2763549" cy="735350"/>
          </a:xfrm>
          <a:prstGeom prst="rect">
            <a:avLst/>
          </a:prstGeom>
          <a:noFill/>
          <a:ln>
            <a:noFill/>
          </a:ln>
        </p:spPr>
      </p:pic>
      <p:pic>
        <p:nvPicPr>
          <p:cNvPr id="238" name="Google Shape;238;p7" title="devin.png"/>
          <p:cNvPicPr preferRelativeResize="0"/>
          <p:nvPr/>
        </p:nvPicPr>
        <p:blipFill>
          <a:blip r:embed="rId4">
            <a:alphaModFix/>
          </a:blip>
          <a:stretch>
            <a:fillRect/>
          </a:stretch>
        </p:blipFill>
        <p:spPr>
          <a:xfrm>
            <a:off x="1269975" y="3916437"/>
            <a:ext cx="2763550" cy="253143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3" name="Shape 243"/>
        <p:cNvGrpSpPr/>
        <p:nvPr/>
      </p:nvGrpSpPr>
      <p:grpSpPr>
        <a:xfrm>
          <a:off x="0" y="0"/>
          <a:ext cx="0" cy="0"/>
          <a:chOff x="0" y="0"/>
          <a:chExt cx="0" cy="0"/>
        </a:xfrm>
      </p:grpSpPr>
      <p:sp>
        <p:nvSpPr>
          <p:cNvPr id="244" name="Google Shape;244;p15"/>
          <p:cNvSpPr/>
          <p:nvPr/>
        </p:nvSpPr>
        <p:spPr>
          <a:xfrm>
            <a:off x="0" y="0"/>
            <a:ext cx="12191695" cy="109728"/>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5" name="Google Shape;245;p15"/>
          <p:cNvSpPr txBox="1"/>
          <p:nvPr/>
        </p:nvSpPr>
        <p:spPr>
          <a:xfrm>
            <a:off x="548640" y="411480"/>
            <a:ext cx="7315200" cy="2400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lang="en-US" sz="1200">
                <a:solidFill>
                  <a:srgbClr val="3B82F6"/>
                </a:solidFill>
                <a:latin typeface="Calibri"/>
                <a:ea typeface="Calibri"/>
                <a:cs typeface="Calibri"/>
                <a:sym typeface="Calibri"/>
              </a:rPr>
              <a:t>MEET DEVIN</a:t>
            </a:r>
            <a:endParaRPr/>
          </a:p>
        </p:txBody>
      </p:sp>
      <p:sp>
        <p:nvSpPr>
          <p:cNvPr id="246" name="Google Shape;246;p15"/>
          <p:cNvSpPr txBox="1"/>
          <p:nvPr/>
        </p:nvSpPr>
        <p:spPr>
          <a:xfrm>
            <a:off x="548590" y="934932"/>
            <a:ext cx="11155800" cy="5172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lang="en-US" sz="3000">
                <a:solidFill>
                  <a:srgbClr val="141B2D"/>
                </a:solidFill>
                <a:latin typeface="Calibri"/>
                <a:ea typeface="Calibri"/>
                <a:cs typeface="Calibri"/>
                <a:sym typeface="Calibri"/>
              </a:rPr>
              <a:t>T</a:t>
            </a:r>
            <a:r>
              <a:rPr b="1" i="0" lang="en-US" sz="3000" u="none" cap="none" strike="noStrike">
                <a:solidFill>
                  <a:srgbClr val="141B2D"/>
                </a:solidFill>
                <a:latin typeface="Calibri"/>
                <a:ea typeface="Calibri"/>
                <a:cs typeface="Calibri"/>
                <a:sym typeface="Calibri"/>
              </a:rPr>
              <a:t>icket </a:t>
            </a:r>
            <a:r>
              <a:rPr b="1" lang="en-US" sz="3000">
                <a:solidFill>
                  <a:srgbClr val="141B2D"/>
                </a:solidFill>
                <a:latin typeface="Calibri"/>
                <a:ea typeface="Calibri"/>
                <a:cs typeface="Calibri"/>
                <a:sym typeface="Calibri"/>
              </a:rPr>
              <a:t>→</a:t>
            </a:r>
            <a:r>
              <a:rPr b="1" i="0" lang="en-US" sz="3000" u="none" cap="none" strike="noStrike">
                <a:solidFill>
                  <a:srgbClr val="141B2D"/>
                </a:solidFill>
                <a:latin typeface="Calibri"/>
                <a:ea typeface="Calibri"/>
                <a:cs typeface="Calibri"/>
                <a:sym typeface="Calibri"/>
              </a:rPr>
              <a:t> </a:t>
            </a:r>
            <a:r>
              <a:rPr b="1" lang="en-US" sz="3000">
                <a:solidFill>
                  <a:srgbClr val="141B2D"/>
                </a:solidFill>
                <a:latin typeface="Calibri"/>
                <a:ea typeface="Calibri"/>
                <a:cs typeface="Calibri"/>
                <a:sym typeface="Calibri"/>
              </a:rPr>
              <a:t>M</a:t>
            </a:r>
            <a:r>
              <a:rPr b="1" i="0" lang="en-US" sz="3000" u="none" cap="none" strike="noStrike">
                <a:solidFill>
                  <a:srgbClr val="141B2D"/>
                </a:solidFill>
                <a:latin typeface="Calibri"/>
                <a:ea typeface="Calibri"/>
                <a:cs typeface="Calibri"/>
                <a:sym typeface="Calibri"/>
              </a:rPr>
              <a:t>erged PR</a:t>
            </a:r>
            <a:endParaRPr/>
          </a:p>
        </p:txBody>
      </p:sp>
      <p:sp>
        <p:nvSpPr>
          <p:cNvPr id="247" name="Google Shape;247;p15"/>
          <p:cNvSpPr txBox="1"/>
          <p:nvPr/>
        </p:nvSpPr>
        <p:spPr>
          <a:xfrm>
            <a:off x="548640" y="6446520"/>
            <a:ext cx="7315200" cy="2094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000" u="none" cap="none" strike="noStrike">
                <a:solidFill>
                  <a:srgbClr val="6B7280"/>
                </a:solidFill>
                <a:latin typeface="Calibri"/>
                <a:ea typeface="Calibri"/>
                <a:cs typeface="Calibri"/>
                <a:sym typeface="Calibri"/>
              </a:rPr>
              <a:t>Cognition  |  Devin </a:t>
            </a:r>
            <a:endParaRPr/>
          </a:p>
        </p:txBody>
      </p:sp>
      <p:sp>
        <p:nvSpPr>
          <p:cNvPr id="248" name="Google Shape;248;p15"/>
          <p:cNvSpPr txBox="1"/>
          <p:nvPr/>
        </p:nvSpPr>
        <p:spPr>
          <a:xfrm>
            <a:off x="10789920" y="6446520"/>
            <a:ext cx="914400" cy="274320"/>
          </a:xfrm>
          <a:prstGeom prst="rect">
            <a:avLst/>
          </a:prstGeom>
          <a:noFill/>
          <a:ln>
            <a:noFill/>
          </a:ln>
        </p:spPr>
        <p:txBody>
          <a:bodyPr anchorCtr="0" anchor="t" bIns="27425" lIns="45700" spcFirstLastPara="1" rIns="45700" wrap="square" tIns="27425">
            <a:spAutoFit/>
          </a:bodyPr>
          <a:lstStyle/>
          <a:p>
            <a:pPr indent="0" lvl="0" marL="0" marR="0" rtl="0" algn="r">
              <a:spcBef>
                <a:spcPts val="0"/>
              </a:spcBef>
              <a:spcAft>
                <a:spcPts val="0"/>
              </a:spcAft>
              <a:buNone/>
            </a:pPr>
            <a:r>
              <a:rPr b="0" i="0" lang="en-US" sz="1000" u="none" cap="none" strike="noStrike">
                <a:solidFill>
                  <a:srgbClr val="6B7280"/>
                </a:solidFill>
                <a:latin typeface="Calibri"/>
                <a:ea typeface="Calibri"/>
                <a:cs typeface="Calibri"/>
                <a:sym typeface="Calibri"/>
              </a:rPr>
              <a:t>15</a:t>
            </a:r>
            <a:endParaRPr/>
          </a:p>
        </p:txBody>
      </p:sp>
      <p:sp>
        <p:nvSpPr>
          <p:cNvPr id="249" name="Google Shape;249;p15"/>
          <p:cNvSpPr/>
          <p:nvPr/>
        </p:nvSpPr>
        <p:spPr>
          <a:xfrm>
            <a:off x="548640" y="1920240"/>
            <a:ext cx="2011680" cy="822960"/>
          </a:xfrm>
          <a:prstGeom prst="chevron">
            <a:avLst>
              <a:gd fmla="val 50000" name="adj"/>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0" name="Google Shape;250;p15"/>
          <p:cNvSpPr txBox="1"/>
          <p:nvPr/>
        </p:nvSpPr>
        <p:spPr>
          <a:xfrm>
            <a:off x="822960" y="1920240"/>
            <a:ext cx="1554480" cy="822960"/>
          </a:xfrm>
          <a:prstGeom prst="rect">
            <a:avLst/>
          </a:prstGeom>
          <a:noFill/>
          <a:ln>
            <a:noFill/>
          </a:ln>
        </p:spPr>
        <p:txBody>
          <a:bodyPr anchorCtr="0" anchor="ctr" bIns="27425" lIns="45700" spcFirstLastPara="1" rIns="45700" wrap="square" tIns="27425">
            <a:spAutoFit/>
          </a:bodyPr>
          <a:lstStyle/>
          <a:p>
            <a:pPr indent="0" lvl="0" marL="0" marR="0" rtl="0" algn="ctr">
              <a:spcBef>
                <a:spcPts val="0"/>
              </a:spcBef>
              <a:spcAft>
                <a:spcPts val="0"/>
              </a:spcAft>
              <a:buNone/>
            </a:pPr>
            <a:r>
              <a:rPr b="1" i="0" lang="en-US" sz="1700" u="none" cap="none" strike="noStrike">
                <a:solidFill>
                  <a:srgbClr val="FFFFFF"/>
                </a:solidFill>
                <a:latin typeface="Calibri"/>
                <a:ea typeface="Calibri"/>
                <a:cs typeface="Calibri"/>
                <a:sym typeface="Calibri"/>
              </a:rPr>
              <a:t>Assign</a:t>
            </a:r>
            <a:endParaRPr/>
          </a:p>
        </p:txBody>
      </p:sp>
      <p:sp>
        <p:nvSpPr>
          <p:cNvPr id="251" name="Google Shape;251;p15"/>
          <p:cNvSpPr txBox="1"/>
          <p:nvPr/>
        </p:nvSpPr>
        <p:spPr>
          <a:xfrm>
            <a:off x="548640" y="2880360"/>
            <a:ext cx="2103120" cy="146304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300" u="none" cap="none" strike="noStrike">
                <a:solidFill>
                  <a:srgbClr val="141B2D"/>
                </a:solidFill>
                <a:latin typeface="Calibri"/>
                <a:ea typeface="Calibri"/>
                <a:cs typeface="Calibri"/>
                <a:sym typeface="Calibri"/>
              </a:rPr>
              <a:t>Tag @Devin in Slack, Jira, Linear, or GitHub. Or run on a schedule.</a:t>
            </a:r>
            <a:endParaRPr/>
          </a:p>
        </p:txBody>
      </p:sp>
      <p:sp>
        <p:nvSpPr>
          <p:cNvPr id="252" name="Google Shape;252;p15"/>
          <p:cNvSpPr/>
          <p:nvPr/>
        </p:nvSpPr>
        <p:spPr>
          <a:xfrm>
            <a:off x="2834640" y="1920240"/>
            <a:ext cx="2011680" cy="822960"/>
          </a:xfrm>
          <a:prstGeom prst="chevron">
            <a:avLst>
              <a:gd fmla="val 50000" name="adj"/>
            </a:avLst>
          </a:prstGeom>
          <a:solidFill>
            <a:srgbClr val="0B122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3" name="Google Shape;253;p15"/>
          <p:cNvSpPr txBox="1"/>
          <p:nvPr/>
        </p:nvSpPr>
        <p:spPr>
          <a:xfrm>
            <a:off x="3108960" y="1920240"/>
            <a:ext cx="1554480" cy="822960"/>
          </a:xfrm>
          <a:prstGeom prst="rect">
            <a:avLst/>
          </a:prstGeom>
          <a:noFill/>
          <a:ln>
            <a:noFill/>
          </a:ln>
        </p:spPr>
        <p:txBody>
          <a:bodyPr anchorCtr="0" anchor="ctr" bIns="27425" lIns="45700" spcFirstLastPara="1" rIns="45700" wrap="square" tIns="27425">
            <a:spAutoFit/>
          </a:bodyPr>
          <a:lstStyle/>
          <a:p>
            <a:pPr indent="0" lvl="0" marL="0" marR="0" rtl="0" algn="ctr">
              <a:spcBef>
                <a:spcPts val="0"/>
              </a:spcBef>
              <a:spcAft>
                <a:spcPts val="0"/>
              </a:spcAft>
              <a:buNone/>
            </a:pPr>
            <a:r>
              <a:rPr b="1" i="0" lang="en-US" sz="1700" u="none" cap="none" strike="noStrike">
                <a:solidFill>
                  <a:srgbClr val="FFFFFF"/>
                </a:solidFill>
                <a:latin typeface="Calibri"/>
                <a:ea typeface="Calibri"/>
                <a:cs typeface="Calibri"/>
                <a:sym typeface="Calibri"/>
              </a:rPr>
              <a:t>Plan</a:t>
            </a:r>
            <a:endParaRPr/>
          </a:p>
        </p:txBody>
      </p:sp>
      <p:sp>
        <p:nvSpPr>
          <p:cNvPr id="254" name="Google Shape;254;p15"/>
          <p:cNvSpPr txBox="1"/>
          <p:nvPr/>
        </p:nvSpPr>
        <p:spPr>
          <a:xfrm>
            <a:off x="2834640" y="2880360"/>
            <a:ext cx="2103120" cy="146304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300" u="none" cap="none" strike="noStrike">
                <a:solidFill>
                  <a:srgbClr val="141B2D"/>
                </a:solidFill>
                <a:latin typeface="Calibri"/>
                <a:ea typeface="Calibri"/>
                <a:cs typeface="Calibri"/>
                <a:sym typeface="Calibri"/>
              </a:rPr>
              <a:t>Devin reads the codebase, Wiki, and Knowledge; drafts a plan you can edit.</a:t>
            </a:r>
            <a:endParaRPr/>
          </a:p>
        </p:txBody>
      </p:sp>
      <p:sp>
        <p:nvSpPr>
          <p:cNvPr id="255" name="Google Shape;255;p15"/>
          <p:cNvSpPr/>
          <p:nvPr/>
        </p:nvSpPr>
        <p:spPr>
          <a:xfrm>
            <a:off x="5120640" y="1920240"/>
            <a:ext cx="2011680" cy="822960"/>
          </a:xfrm>
          <a:prstGeom prst="chevron">
            <a:avLst>
              <a:gd fmla="val 50000" name="adj"/>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6" name="Google Shape;256;p15"/>
          <p:cNvSpPr txBox="1"/>
          <p:nvPr/>
        </p:nvSpPr>
        <p:spPr>
          <a:xfrm>
            <a:off x="5394960" y="1920240"/>
            <a:ext cx="1554480" cy="822960"/>
          </a:xfrm>
          <a:prstGeom prst="rect">
            <a:avLst/>
          </a:prstGeom>
          <a:noFill/>
          <a:ln>
            <a:noFill/>
          </a:ln>
        </p:spPr>
        <p:txBody>
          <a:bodyPr anchorCtr="0" anchor="ctr" bIns="27425" lIns="45700" spcFirstLastPara="1" rIns="45700" wrap="square" tIns="27425">
            <a:spAutoFit/>
          </a:bodyPr>
          <a:lstStyle/>
          <a:p>
            <a:pPr indent="0" lvl="0" marL="0" marR="0" rtl="0" algn="ctr">
              <a:spcBef>
                <a:spcPts val="0"/>
              </a:spcBef>
              <a:spcAft>
                <a:spcPts val="0"/>
              </a:spcAft>
              <a:buNone/>
            </a:pPr>
            <a:r>
              <a:rPr b="1" i="0" lang="en-US" sz="1700" u="none" cap="none" strike="noStrike">
                <a:solidFill>
                  <a:srgbClr val="FFFFFF"/>
                </a:solidFill>
                <a:latin typeface="Calibri"/>
                <a:ea typeface="Calibri"/>
                <a:cs typeface="Calibri"/>
                <a:sym typeface="Calibri"/>
              </a:rPr>
              <a:t>Execute</a:t>
            </a:r>
            <a:endParaRPr/>
          </a:p>
        </p:txBody>
      </p:sp>
      <p:sp>
        <p:nvSpPr>
          <p:cNvPr id="257" name="Google Shape;257;p15"/>
          <p:cNvSpPr txBox="1"/>
          <p:nvPr/>
        </p:nvSpPr>
        <p:spPr>
          <a:xfrm>
            <a:off x="5120640" y="2880360"/>
            <a:ext cx="2103120" cy="146304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300" u="none" cap="none" strike="noStrike">
                <a:solidFill>
                  <a:srgbClr val="141B2D"/>
                </a:solidFill>
                <a:latin typeface="Calibri"/>
                <a:ea typeface="Calibri"/>
                <a:cs typeface="Calibri"/>
                <a:sym typeface="Calibri"/>
              </a:rPr>
              <a:t>Codes in a sandboxed VM with shell, editor, and browser. Runs tests and lint.</a:t>
            </a:r>
            <a:endParaRPr/>
          </a:p>
        </p:txBody>
      </p:sp>
      <p:sp>
        <p:nvSpPr>
          <p:cNvPr id="258" name="Google Shape;258;p15"/>
          <p:cNvSpPr/>
          <p:nvPr/>
        </p:nvSpPr>
        <p:spPr>
          <a:xfrm>
            <a:off x="7406640" y="1920240"/>
            <a:ext cx="2011680" cy="822960"/>
          </a:xfrm>
          <a:prstGeom prst="chevron">
            <a:avLst>
              <a:gd fmla="val 50000" name="adj"/>
            </a:avLst>
          </a:prstGeom>
          <a:solidFill>
            <a:srgbClr val="0B122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9" name="Google Shape;259;p15"/>
          <p:cNvSpPr txBox="1"/>
          <p:nvPr/>
        </p:nvSpPr>
        <p:spPr>
          <a:xfrm>
            <a:off x="7680960" y="1920240"/>
            <a:ext cx="1554480" cy="822960"/>
          </a:xfrm>
          <a:prstGeom prst="rect">
            <a:avLst/>
          </a:prstGeom>
          <a:noFill/>
          <a:ln>
            <a:noFill/>
          </a:ln>
        </p:spPr>
        <p:txBody>
          <a:bodyPr anchorCtr="0" anchor="ctr" bIns="27425" lIns="45700" spcFirstLastPara="1" rIns="45700" wrap="square" tIns="27425">
            <a:spAutoFit/>
          </a:bodyPr>
          <a:lstStyle/>
          <a:p>
            <a:pPr indent="0" lvl="0" marL="0" marR="0" rtl="0" algn="ctr">
              <a:spcBef>
                <a:spcPts val="0"/>
              </a:spcBef>
              <a:spcAft>
                <a:spcPts val="0"/>
              </a:spcAft>
              <a:buNone/>
            </a:pPr>
            <a:r>
              <a:rPr b="1" i="0" lang="en-US" sz="1700" u="none" cap="none" strike="noStrike">
                <a:solidFill>
                  <a:srgbClr val="FFFFFF"/>
                </a:solidFill>
                <a:latin typeface="Calibri"/>
                <a:ea typeface="Calibri"/>
                <a:cs typeface="Calibri"/>
                <a:sym typeface="Calibri"/>
              </a:rPr>
              <a:t>Verify</a:t>
            </a:r>
            <a:endParaRPr/>
          </a:p>
        </p:txBody>
      </p:sp>
      <p:sp>
        <p:nvSpPr>
          <p:cNvPr id="260" name="Google Shape;260;p15"/>
          <p:cNvSpPr txBox="1"/>
          <p:nvPr/>
        </p:nvSpPr>
        <p:spPr>
          <a:xfrm>
            <a:off x="7406640" y="2880360"/>
            <a:ext cx="2103120" cy="146304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300" u="none" cap="none" strike="noStrike">
                <a:solidFill>
                  <a:srgbClr val="141B2D"/>
                </a:solidFill>
                <a:latin typeface="Calibri"/>
                <a:ea typeface="Calibri"/>
                <a:cs typeface="Calibri"/>
                <a:sym typeface="Calibri"/>
              </a:rPr>
              <a:t>Fixes failing CI, records browser tests, self-reviews the diff.</a:t>
            </a:r>
            <a:endParaRPr/>
          </a:p>
        </p:txBody>
      </p:sp>
      <p:sp>
        <p:nvSpPr>
          <p:cNvPr id="261" name="Google Shape;261;p15"/>
          <p:cNvSpPr/>
          <p:nvPr/>
        </p:nvSpPr>
        <p:spPr>
          <a:xfrm>
            <a:off x="9692640" y="1920240"/>
            <a:ext cx="2011680" cy="822960"/>
          </a:xfrm>
          <a:prstGeom prst="chevron">
            <a:avLst>
              <a:gd fmla="val 50000" name="adj"/>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2" name="Google Shape;262;p15"/>
          <p:cNvSpPr txBox="1"/>
          <p:nvPr/>
        </p:nvSpPr>
        <p:spPr>
          <a:xfrm>
            <a:off x="9966960" y="1920240"/>
            <a:ext cx="1554480" cy="822960"/>
          </a:xfrm>
          <a:prstGeom prst="rect">
            <a:avLst/>
          </a:prstGeom>
          <a:noFill/>
          <a:ln>
            <a:noFill/>
          </a:ln>
        </p:spPr>
        <p:txBody>
          <a:bodyPr anchorCtr="0" anchor="ctr" bIns="27425" lIns="45700" spcFirstLastPara="1" rIns="45700" wrap="square" tIns="27425">
            <a:spAutoFit/>
          </a:bodyPr>
          <a:lstStyle/>
          <a:p>
            <a:pPr indent="0" lvl="0" marL="0" marR="0" rtl="0" algn="ctr">
              <a:spcBef>
                <a:spcPts val="0"/>
              </a:spcBef>
              <a:spcAft>
                <a:spcPts val="0"/>
              </a:spcAft>
              <a:buNone/>
            </a:pPr>
            <a:r>
              <a:rPr b="1" i="0" lang="en-US" sz="1700" u="none" cap="none" strike="noStrike">
                <a:solidFill>
                  <a:srgbClr val="FFFFFF"/>
                </a:solidFill>
                <a:latin typeface="Calibri"/>
                <a:ea typeface="Calibri"/>
                <a:cs typeface="Calibri"/>
                <a:sym typeface="Calibri"/>
              </a:rPr>
              <a:t>Deliver</a:t>
            </a:r>
            <a:endParaRPr/>
          </a:p>
        </p:txBody>
      </p:sp>
      <p:sp>
        <p:nvSpPr>
          <p:cNvPr id="263" name="Google Shape;263;p15"/>
          <p:cNvSpPr txBox="1"/>
          <p:nvPr/>
        </p:nvSpPr>
        <p:spPr>
          <a:xfrm>
            <a:off x="9692640" y="2880360"/>
            <a:ext cx="2103120" cy="146304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300" u="none" cap="none" strike="noStrike">
                <a:solidFill>
                  <a:srgbClr val="141B2D"/>
                </a:solidFill>
                <a:latin typeface="Calibri"/>
                <a:ea typeface="Calibri"/>
                <a:cs typeface="Calibri"/>
                <a:sym typeface="Calibri"/>
              </a:rPr>
              <a:t>Opens a PR with a rationale. Responds to reviewer comments until merged.</a:t>
            </a:r>
            <a:endParaRPr/>
          </a:p>
        </p:txBody>
      </p:sp>
      <p:sp>
        <p:nvSpPr>
          <p:cNvPr id="264" name="Google Shape;264;p15"/>
          <p:cNvSpPr txBox="1"/>
          <p:nvPr/>
        </p:nvSpPr>
        <p:spPr>
          <a:xfrm>
            <a:off x="548640" y="4480560"/>
            <a:ext cx="10972800" cy="36576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400" u="none" cap="none" strike="noStrike">
                <a:solidFill>
                  <a:srgbClr val="3B82F6"/>
                </a:solidFill>
                <a:latin typeface="Calibri"/>
                <a:ea typeface="Calibri"/>
                <a:cs typeface="Calibri"/>
                <a:sym typeface="Calibri"/>
              </a:rPr>
              <a:t>Humans stay in control</a:t>
            </a:r>
            <a:endParaRPr/>
          </a:p>
        </p:txBody>
      </p:sp>
      <p:sp>
        <p:nvSpPr>
          <p:cNvPr id="265" name="Google Shape;265;p15"/>
          <p:cNvSpPr txBox="1"/>
          <p:nvPr/>
        </p:nvSpPr>
        <p:spPr>
          <a:xfrm>
            <a:off x="548640" y="4846320"/>
            <a:ext cx="10972800" cy="146304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1400" u="none" cap="none" strike="noStrike">
                <a:solidFill>
                  <a:srgbClr val="3B82F6"/>
                </a:solidFill>
                <a:latin typeface="Calibri"/>
                <a:ea typeface="Calibri"/>
                <a:cs typeface="Calibri"/>
                <a:sym typeface="Calibri"/>
              </a:rPr>
              <a:t>▪  </a:t>
            </a:r>
            <a:r>
              <a:rPr b="0" i="0" lang="en-US" sz="1400" u="none" cap="none" strike="noStrike">
                <a:solidFill>
                  <a:srgbClr val="141B2D"/>
                </a:solidFill>
                <a:latin typeface="Calibri"/>
                <a:ea typeface="Calibri"/>
                <a:cs typeface="Calibri"/>
                <a:sym typeface="Calibri"/>
              </a:rPr>
              <a:t>Devin never merges its own code; every change goes through your normal PR review and branch protection.</a:t>
            </a:r>
            <a:endParaRPr/>
          </a:p>
          <a:p>
            <a:pPr indent="0" lvl="0" marL="0" marR="0" rtl="0" algn="l">
              <a:spcBef>
                <a:spcPts val="600"/>
              </a:spcBef>
              <a:spcAft>
                <a:spcPts val="0"/>
              </a:spcAft>
              <a:buNone/>
            </a:pPr>
            <a:r>
              <a:rPr b="0" i="0" lang="en-US" sz="1400" u="none" cap="none" strike="noStrike">
                <a:solidFill>
                  <a:srgbClr val="3B82F6"/>
                </a:solidFill>
                <a:latin typeface="Calibri"/>
                <a:ea typeface="Calibri"/>
                <a:cs typeface="Calibri"/>
                <a:sym typeface="Calibri"/>
              </a:rPr>
              <a:t>▪  </a:t>
            </a:r>
            <a:r>
              <a:rPr b="0" i="0" lang="en-US" sz="1400" u="none" cap="none" strike="noStrike">
                <a:solidFill>
                  <a:srgbClr val="141B2D"/>
                </a:solidFill>
                <a:latin typeface="Calibri"/>
                <a:ea typeface="Calibri"/>
                <a:cs typeface="Calibri"/>
                <a:sym typeface="Calibri"/>
              </a:rPr>
              <a:t>Full session transcript: every command, file edit, and browser action is logged and replayable.</a:t>
            </a:r>
            <a:endParaRPr/>
          </a:p>
          <a:p>
            <a:pPr indent="0" lvl="0" marL="0" marR="0" rtl="0" algn="l">
              <a:spcBef>
                <a:spcPts val="600"/>
              </a:spcBef>
              <a:spcAft>
                <a:spcPts val="0"/>
              </a:spcAft>
              <a:buNone/>
            </a:pPr>
            <a:r>
              <a:rPr b="0" i="0" lang="en-US" sz="1400" u="none" cap="none" strike="noStrike">
                <a:solidFill>
                  <a:srgbClr val="3B82F6"/>
                </a:solidFill>
                <a:latin typeface="Calibri"/>
                <a:ea typeface="Calibri"/>
                <a:cs typeface="Calibri"/>
                <a:sym typeface="Calibri"/>
              </a:rPr>
              <a:t>▪  </a:t>
            </a:r>
            <a:r>
              <a:rPr b="0" i="0" lang="en-US" sz="1400" u="none" cap="none" strike="noStrike">
                <a:solidFill>
                  <a:srgbClr val="141B2D"/>
                </a:solidFill>
                <a:latin typeface="Calibri"/>
                <a:ea typeface="Calibri"/>
                <a:cs typeface="Calibri"/>
                <a:sym typeface="Calibri"/>
              </a:rPr>
              <a:t>Interrupt, redirect, or take over the session at any time.</a:t>
            </a:r>
            <a:endParaRPr/>
          </a:p>
        </p:txBody>
      </p:sp>
      <p:pic>
        <p:nvPicPr>
          <p:cNvPr id="266" name="Google Shape;266;p15" title="devin.png"/>
          <p:cNvPicPr preferRelativeResize="0"/>
          <p:nvPr/>
        </p:nvPicPr>
        <p:blipFill>
          <a:blip r:embed="rId3">
            <a:alphaModFix/>
          </a:blip>
          <a:stretch>
            <a:fillRect/>
          </a:stretch>
        </p:blipFill>
        <p:spPr>
          <a:xfrm>
            <a:off x="10237100" y="5058175"/>
            <a:ext cx="1284350" cy="117649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1" name="Shape 271"/>
        <p:cNvGrpSpPr/>
        <p:nvPr/>
      </p:nvGrpSpPr>
      <p:grpSpPr>
        <a:xfrm>
          <a:off x="0" y="0"/>
          <a:ext cx="0" cy="0"/>
          <a:chOff x="0" y="0"/>
          <a:chExt cx="0" cy="0"/>
        </a:xfrm>
      </p:grpSpPr>
      <p:sp>
        <p:nvSpPr>
          <p:cNvPr id="272" name="Google Shape;272;p9"/>
          <p:cNvSpPr/>
          <p:nvPr/>
        </p:nvSpPr>
        <p:spPr>
          <a:xfrm>
            <a:off x="0" y="0"/>
            <a:ext cx="12191695" cy="109728"/>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3" name="Google Shape;273;p9"/>
          <p:cNvSpPr txBox="1"/>
          <p:nvPr/>
        </p:nvSpPr>
        <p:spPr>
          <a:xfrm>
            <a:off x="548640" y="411480"/>
            <a:ext cx="7315200" cy="240000"/>
          </a:xfrm>
          <a:prstGeom prst="rect">
            <a:avLst/>
          </a:prstGeom>
          <a:noFill/>
          <a:ln>
            <a:noFill/>
          </a:ln>
        </p:spPr>
        <p:txBody>
          <a:bodyPr anchorCtr="0" anchor="t" bIns="27425" lIns="45700" spcFirstLastPara="1" rIns="45700" wrap="square" tIns="27425">
            <a:spAutoFit/>
          </a:bodyPr>
          <a:lstStyle/>
          <a:p>
            <a:pPr indent="0" lvl="0" marL="0" rtl="0" algn="l">
              <a:spcBef>
                <a:spcPts val="0"/>
              </a:spcBef>
              <a:spcAft>
                <a:spcPts val="0"/>
              </a:spcAft>
              <a:buNone/>
            </a:pPr>
            <a:r>
              <a:rPr b="1" lang="en-US" sz="1200">
                <a:solidFill>
                  <a:srgbClr val="3B82F6"/>
                </a:solidFill>
                <a:latin typeface="Calibri"/>
                <a:ea typeface="Calibri"/>
                <a:cs typeface="Calibri"/>
                <a:sym typeface="Calibri"/>
              </a:rPr>
              <a:t>MEET DEVIN</a:t>
            </a:r>
            <a:endParaRPr b="1" sz="1200">
              <a:solidFill>
                <a:srgbClr val="3B82F6"/>
              </a:solidFill>
              <a:latin typeface="Calibri"/>
              <a:ea typeface="Calibri"/>
              <a:cs typeface="Calibri"/>
              <a:sym typeface="Calibri"/>
            </a:endParaRPr>
          </a:p>
        </p:txBody>
      </p:sp>
      <p:sp>
        <p:nvSpPr>
          <p:cNvPr id="274" name="Google Shape;274;p9"/>
          <p:cNvSpPr txBox="1"/>
          <p:nvPr/>
        </p:nvSpPr>
        <p:spPr>
          <a:xfrm>
            <a:off x="548640" y="731520"/>
            <a:ext cx="11155680" cy="9144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3000" u="none" cap="none" strike="noStrike">
                <a:solidFill>
                  <a:srgbClr val="141B2D"/>
                </a:solidFill>
                <a:latin typeface="Calibri"/>
                <a:ea typeface="Calibri"/>
                <a:cs typeface="Calibri"/>
                <a:sym typeface="Calibri"/>
              </a:rPr>
              <a:t>One platform, two ways to work with AI</a:t>
            </a:r>
            <a:endParaRPr/>
          </a:p>
        </p:txBody>
      </p:sp>
      <p:sp>
        <p:nvSpPr>
          <p:cNvPr id="275" name="Google Shape;275;p9"/>
          <p:cNvSpPr txBox="1"/>
          <p:nvPr/>
        </p:nvSpPr>
        <p:spPr>
          <a:xfrm>
            <a:off x="548640" y="6446520"/>
            <a:ext cx="7315200" cy="2094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000" u="none" cap="none" strike="noStrike">
                <a:solidFill>
                  <a:srgbClr val="6B7280"/>
                </a:solidFill>
                <a:latin typeface="Calibri"/>
                <a:ea typeface="Calibri"/>
                <a:cs typeface="Calibri"/>
                <a:sym typeface="Calibri"/>
              </a:rPr>
              <a:t>Cognition  |  Devin </a:t>
            </a:r>
            <a:endParaRPr/>
          </a:p>
        </p:txBody>
      </p:sp>
      <p:sp>
        <p:nvSpPr>
          <p:cNvPr id="276" name="Google Shape;276;p9"/>
          <p:cNvSpPr txBox="1"/>
          <p:nvPr/>
        </p:nvSpPr>
        <p:spPr>
          <a:xfrm>
            <a:off x="10789920" y="6446520"/>
            <a:ext cx="914400" cy="274320"/>
          </a:xfrm>
          <a:prstGeom prst="rect">
            <a:avLst/>
          </a:prstGeom>
          <a:noFill/>
          <a:ln>
            <a:noFill/>
          </a:ln>
        </p:spPr>
        <p:txBody>
          <a:bodyPr anchorCtr="0" anchor="t" bIns="27425" lIns="45700" spcFirstLastPara="1" rIns="45700" wrap="square" tIns="27425">
            <a:spAutoFit/>
          </a:bodyPr>
          <a:lstStyle/>
          <a:p>
            <a:pPr indent="0" lvl="0" marL="0" marR="0" rtl="0" algn="r">
              <a:spcBef>
                <a:spcPts val="0"/>
              </a:spcBef>
              <a:spcAft>
                <a:spcPts val="0"/>
              </a:spcAft>
              <a:buNone/>
            </a:pPr>
            <a:r>
              <a:rPr b="0" i="0" lang="en-US" sz="1000" u="none" cap="none" strike="noStrike">
                <a:solidFill>
                  <a:srgbClr val="6B7280"/>
                </a:solidFill>
                <a:latin typeface="Calibri"/>
                <a:ea typeface="Calibri"/>
                <a:cs typeface="Calibri"/>
                <a:sym typeface="Calibri"/>
              </a:rPr>
              <a:t>9</a:t>
            </a:r>
            <a:endParaRPr/>
          </a:p>
        </p:txBody>
      </p:sp>
      <p:sp>
        <p:nvSpPr>
          <p:cNvPr id="277" name="Google Shape;277;p9"/>
          <p:cNvSpPr/>
          <p:nvPr/>
        </p:nvSpPr>
        <p:spPr>
          <a:xfrm>
            <a:off x="548640" y="1737360"/>
            <a:ext cx="5486400" cy="3017520"/>
          </a:xfrm>
          <a:prstGeom prst="roundRect">
            <a:avLst>
              <a:gd fmla="val 6000" name="adj"/>
            </a:avLst>
          </a:prstGeom>
          <a:solidFill>
            <a:srgbClr val="F4F5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8" name="Google Shape;278;p9"/>
          <p:cNvSpPr/>
          <p:nvPr/>
        </p:nvSpPr>
        <p:spPr>
          <a:xfrm>
            <a:off x="548640" y="1737360"/>
            <a:ext cx="73152" cy="3017520"/>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9" name="Google Shape;279;p9"/>
          <p:cNvSpPr txBox="1"/>
          <p:nvPr/>
        </p:nvSpPr>
        <p:spPr>
          <a:xfrm>
            <a:off x="777240" y="1874520"/>
            <a:ext cx="5120640" cy="4572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600" u="none" cap="none" strike="noStrike">
                <a:solidFill>
                  <a:srgbClr val="141B2D"/>
                </a:solidFill>
                <a:latin typeface="Calibri"/>
                <a:ea typeface="Calibri"/>
                <a:cs typeface="Calibri"/>
                <a:sym typeface="Calibri"/>
              </a:rPr>
              <a:t>Devin  |  Autonomous cloud agent</a:t>
            </a:r>
            <a:endParaRPr/>
          </a:p>
        </p:txBody>
      </p:sp>
      <p:sp>
        <p:nvSpPr>
          <p:cNvPr id="280" name="Google Shape;280;p9"/>
          <p:cNvSpPr txBox="1"/>
          <p:nvPr/>
        </p:nvSpPr>
        <p:spPr>
          <a:xfrm>
            <a:off x="731520" y="2331720"/>
            <a:ext cx="5120640" cy="22860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1300" u="none" cap="none" strike="noStrike">
                <a:solidFill>
                  <a:srgbClr val="3B82F6"/>
                </a:solidFill>
                <a:latin typeface="Calibri"/>
                <a:ea typeface="Calibri"/>
                <a:cs typeface="Calibri"/>
                <a:sym typeface="Calibri"/>
              </a:rPr>
              <a:t>▪  </a:t>
            </a:r>
            <a:r>
              <a:rPr b="0" i="0" lang="en-US" sz="1300" u="none" cap="none" strike="noStrike">
                <a:solidFill>
                  <a:srgbClr val="141B2D"/>
                </a:solidFill>
                <a:latin typeface="Calibri"/>
                <a:ea typeface="Calibri"/>
                <a:cs typeface="Calibri"/>
                <a:sym typeface="Calibri"/>
              </a:rPr>
              <a:t>Delegate whole tasks: 'Upgrade this service to Java 21 and open a PR.'</a:t>
            </a:r>
            <a:endParaRPr/>
          </a:p>
          <a:p>
            <a:pPr indent="0" lvl="0" marL="0" marR="0" rtl="0" algn="l">
              <a:spcBef>
                <a:spcPts val="300"/>
              </a:spcBef>
              <a:spcAft>
                <a:spcPts val="0"/>
              </a:spcAft>
              <a:buNone/>
            </a:pPr>
            <a:r>
              <a:rPr b="0" i="0" lang="en-US" sz="1300" u="none" cap="none" strike="noStrike">
                <a:solidFill>
                  <a:srgbClr val="3B82F6"/>
                </a:solidFill>
                <a:latin typeface="Calibri"/>
                <a:ea typeface="Calibri"/>
                <a:cs typeface="Calibri"/>
                <a:sym typeface="Calibri"/>
              </a:rPr>
              <a:t>▪  </a:t>
            </a:r>
            <a:r>
              <a:rPr b="0" i="0" lang="en-US" sz="1300" u="none" cap="none" strike="noStrike">
                <a:solidFill>
                  <a:srgbClr val="141B2D"/>
                </a:solidFill>
                <a:latin typeface="Calibri"/>
                <a:ea typeface="Calibri"/>
                <a:cs typeface="Calibri"/>
                <a:sym typeface="Calibri"/>
              </a:rPr>
              <a:t>Runs in its own sandboxed machine with shell, editor, and browser.</a:t>
            </a:r>
            <a:endParaRPr/>
          </a:p>
          <a:p>
            <a:pPr indent="0" lvl="0" marL="0" marR="0" rtl="0" algn="l">
              <a:spcBef>
                <a:spcPts val="300"/>
              </a:spcBef>
              <a:spcAft>
                <a:spcPts val="0"/>
              </a:spcAft>
              <a:buNone/>
            </a:pPr>
            <a:r>
              <a:rPr b="0" i="0" lang="en-US" sz="1300" u="none" cap="none" strike="noStrike">
                <a:solidFill>
                  <a:srgbClr val="3B82F6"/>
                </a:solidFill>
                <a:latin typeface="Calibri"/>
                <a:ea typeface="Calibri"/>
                <a:cs typeface="Calibri"/>
                <a:sym typeface="Calibri"/>
              </a:rPr>
              <a:t>▪  </a:t>
            </a:r>
            <a:r>
              <a:rPr b="0" i="0" lang="en-US" sz="1300" u="none" cap="none" strike="noStrike">
                <a:solidFill>
                  <a:srgbClr val="141B2D"/>
                </a:solidFill>
                <a:latin typeface="Calibri"/>
                <a:ea typeface="Calibri"/>
                <a:cs typeface="Calibri"/>
                <a:sym typeface="Calibri"/>
              </a:rPr>
              <a:t>Plans, codes, tests, fixes CI, and responds to review comments.</a:t>
            </a:r>
            <a:endParaRPr/>
          </a:p>
          <a:p>
            <a:pPr indent="0" lvl="0" marL="0" marR="0" rtl="0" algn="l">
              <a:spcBef>
                <a:spcPts val="300"/>
              </a:spcBef>
              <a:spcAft>
                <a:spcPts val="0"/>
              </a:spcAft>
              <a:buNone/>
            </a:pPr>
            <a:r>
              <a:rPr b="0" i="0" lang="en-US" sz="1300" u="none" cap="none" strike="noStrike">
                <a:solidFill>
                  <a:srgbClr val="3B82F6"/>
                </a:solidFill>
                <a:latin typeface="Calibri"/>
                <a:ea typeface="Calibri"/>
                <a:cs typeface="Calibri"/>
                <a:sym typeface="Calibri"/>
              </a:rPr>
              <a:t>▪  </a:t>
            </a:r>
            <a:r>
              <a:rPr b="0" i="0" lang="en-US" sz="1300" u="none" cap="none" strike="noStrike">
                <a:solidFill>
                  <a:srgbClr val="141B2D"/>
                </a:solidFill>
                <a:latin typeface="Calibri"/>
                <a:ea typeface="Calibri"/>
                <a:cs typeface="Calibri"/>
                <a:sym typeface="Calibri"/>
              </a:rPr>
              <a:t>Triggered from Slack, Jira, Linear, GitHub, or the API.</a:t>
            </a:r>
            <a:endParaRPr/>
          </a:p>
        </p:txBody>
      </p:sp>
      <p:sp>
        <p:nvSpPr>
          <p:cNvPr id="281" name="Google Shape;281;p9"/>
          <p:cNvSpPr/>
          <p:nvPr/>
        </p:nvSpPr>
        <p:spPr>
          <a:xfrm>
            <a:off x="6217920" y="1737360"/>
            <a:ext cx="5486400" cy="3017520"/>
          </a:xfrm>
          <a:prstGeom prst="roundRect">
            <a:avLst>
              <a:gd fmla="val 6000" name="adj"/>
            </a:avLst>
          </a:prstGeom>
          <a:solidFill>
            <a:srgbClr val="F4F5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2" name="Google Shape;282;p9"/>
          <p:cNvSpPr/>
          <p:nvPr/>
        </p:nvSpPr>
        <p:spPr>
          <a:xfrm>
            <a:off x="6217920" y="1737360"/>
            <a:ext cx="73152" cy="3017520"/>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3" name="Google Shape;283;p9"/>
          <p:cNvSpPr txBox="1"/>
          <p:nvPr/>
        </p:nvSpPr>
        <p:spPr>
          <a:xfrm>
            <a:off x="6446520" y="1874520"/>
            <a:ext cx="5120700" cy="3018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lang="en-US" sz="1600">
                <a:solidFill>
                  <a:srgbClr val="141B2D"/>
                </a:solidFill>
                <a:latin typeface="Calibri"/>
                <a:ea typeface="Calibri"/>
                <a:cs typeface="Calibri"/>
                <a:sym typeface="Calibri"/>
              </a:rPr>
              <a:t>Devin Desktop</a:t>
            </a:r>
            <a:r>
              <a:rPr b="1" i="0" lang="en-US" sz="1600" u="none" cap="none" strike="noStrike">
                <a:solidFill>
                  <a:srgbClr val="141B2D"/>
                </a:solidFill>
                <a:latin typeface="Calibri"/>
                <a:ea typeface="Calibri"/>
                <a:cs typeface="Calibri"/>
                <a:sym typeface="Calibri"/>
              </a:rPr>
              <a:t>  |  Agentic IDE</a:t>
            </a:r>
            <a:endParaRPr/>
          </a:p>
        </p:txBody>
      </p:sp>
      <p:sp>
        <p:nvSpPr>
          <p:cNvPr id="284" name="Google Shape;284;p9"/>
          <p:cNvSpPr txBox="1"/>
          <p:nvPr/>
        </p:nvSpPr>
        <p:spPr>
          <a:xfrm>
            <a:off x="6400800" y="2331720"/>
            <a:ext cx="5120700" cy="10083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1300" u="none" cap="none" strike="noStrike">
                <a:solidFill>
                  <a:srgbClr val="3B82F6"/>
                </a:solidFill>
                <a:latin typeface="Calibri"/>
                <a:ea typeface="Calibri"/>
                <a:cs typeface="Calibri"/>
                <a:sym typeface="Calibri"/>
              </a:rPr>
              <a:t>▪  </a:t>
            </a:r>
            <a:r>
              <a:rPr b="0" i="0" lang="en-US" sz="1300" u="none" cap="none" strike="noStrike">
                <a:solidFill>
                  <a:srgbClr val="141B2D"/>
                </a:solidFill>
                <a:latin typeface="Calibri"/>
                <a:ea typeface="Calibri"/>
                <a:cs typeface="Calibri"/>
                <a:sym typeface="Calibri"/>
              </a:rPr>
              <a:t>Where engineers work interactively, with deep codebase awareness.</a:t>
            </a:r>
            <a:endParaRPr/>
          </a:p>
          <a:p>
            <a:pPr indent="0" lvl="0" marL="0" marR="0" rtl="0" algn="l">
              <a:spcBef>
                <a:spcPts val="300"/>
              </a:spcBef>
              <a:spcAft>
                <a:spcPts val="0"/>
              </a:spcAft>
              <a:buNone/>
            </a:pPr>
            <a:r>
              <a:rPr b="0" i="0" lang="en-US" sz="1300" u="none" cap="none" strike="noStrike">
                <a:solidFill>
                  <a:srgbClr val="3B82F6"/>
                </a:solidFill>
                <a:latin typeface="Calibri"/>
                <a:ea typeface="Calibri"/>
                <a:cs typeface="Calibri"/>
                <a:sym typeface="Calibri"/>
              </a:rPr>
              <a:t>▪  </a:t>
            </a:r>
            <a:r>
              <a:rPr b="0" i="0" lang="en-US" sz="1300" u="none" cap="none" strike="noStrike">
                <a:solidFill>
                  <a:srgbClr val="141B2D"/>
                </a:solidFill>
                <a:latin typeface="Calibri"/>
                <a:ea typeface="Calibri"/>
                <a:cs typeface="Calibri"/>
                <a:sym typeface="Calibri"/>
              </a:rPr>
              <a:t>Cascade agent for multi-file edits in the editor.</a:t>
            </a:r>
            <a:endParaRPr/>
          </a:p>
          <a:p>
            <a:pPr indent="0" lvl="0" marL="0" marR="0" rtl="0" algn="l">
              <a:spcBef>
                <a:spcPts val="300"/>
              </a:spcBef>
              <a:spcAft>
                <a:spcPts val="0"/>
              </a:spcAft>
              <a:buNone/>
            </a:pPr>
            <a:r>
              <a:rPr b="0" i="0" lang="en-US" sz="1300" u="none" cap="none" strike="noStrike">
                <a:solidFill>
                  <a:srgbClr val="3B82F6"/>
                </a:solidFill>
                <a:latin typeface="Calibri"/>
                <a:ea typeface="Calibri"/>
                <a:cs typeface="Calibri"/>
                <a:sym typeface="Calibri"/>
              </a:rPr>
              <a:t>▪  </a:t>
            </a:r>
            <a:r>
              <a:rPr b="0" i="0" lang="en-US" sz="1300" u="none" cap="none" strike="noStrike">
                <a:solidFill>
                  <a:srgbClr val="141B2D"/>
                </a:solidFill>
                <a:latin typeface="Calibri"/>
                <a:ea typeface="Calibri"/>
                <a:cs typeface="Calibri"/>
                <a:sym typeface="Calibri"/>
              </a:rPr>
              <a:t>Hand off to Devin when a task is ready to run unattended.</a:t>
            </a:r>
            <a:endParaRPr/>
          </a:p>
          <a:p>
            <a:pPr indent="0" lvl="0" marL="0" marR="0" rtl="0" algn="l">
              <a:spcBef>
                <a:spcPts val="300"/>
              </a:spcBef>
              <a:spcAft>
                <a:spcPts val="0"/>
              </a:spcAft>
              <a:buNone/>
            </a:pPr>
            <a:r>
              <a:rPr b="0" i="0" lang="en-US" sz="1300" u="none" cap="none" strike="noStrike">
                <a:solidFill>
                  <a:srgbClr val="3B82F6"/>
                </a:solidFill>
                <a:latin typeface="Calibri"/>
                <a:ea typeface="Calibri"/>
                <a:cs typeface="Calibri"/>
                <a:sym typeface="Calibri"/>
              </a:rPr>
              <a:t>▪ </a:t>
            </a:r>
            <a:r>
              <a:rPr lang="en-US" sz="1300">
                <a:solidFill>
                  <a:srgbClr val="141B2D"/>
                </a:solidFill>
                <a:latin typeface="Calibri"/>
                <a:ea typeface="Calibri"/>
                <a:cs typeface="Calibri"/>
                <a:sym typeface="Calibri"/>
              </a:rPr>
              <a:t>Agent command center</a:t>
            </a:r>
            <a:endParaRPr>
              <a:solidFill>
                <a:srgbClr val="141B2D"/>
              </a:solidFill>
            </a:endParaRPr>
          </a:p>
        </p:txBody>
      </p:sp>
      <p:sp>
        <p:nvSpPr>
          <p:cNvPr id="285" name="Google Shape;285;p9"/>
          <p:cNvSpPr txBox="1"/>
          <p:nvPr/>
        </p:nvSpPr>
        <p:spPr>
          <a:xfrm>
            <a:off x="548640" y="4937760"/>
            <a:ext cx="10972800" cy="36576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400" u="none" cap="none" strike="noStrike">
                <a:solidFill>
                  <a:srgbClr val="3B82F6"/>
                </a:solidFill>
                <a:latin typeface="Calibri"/>
                <a:ea typeface="Calibri"/>
                <a:cs typeface="Calibri"/>
                <a:sym typeface="Calibri"/>
              </a:rPr>
              <a:t>Supporting capabilities</a:t>
            </a:r>
            <a:endParaRPr/>
          </a:p>
        </p:txBody>
      </p:sp>
      <p:sp>
        <p:nvSpPr>
          <p:cNvPr id="286" name="Google Shape;286;p9"/>
          <p:cNvSpPr txBox="1"/>
          <p:nvPr/>
        </p:nvSpPr>
        <p:spPr>
          <a:xfrm>
            <a:off x="548640" y="5349240"/>
            <a:ext cx="2743200" cy="36576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300" u="none" cap="none" strike="noStrike">
                <a:solidFill>
                  <a:srgbClr val="141B2D"/>
                </a:solidFill>
                <a:latin typeface="Calibri"/>
                <a:ea typeface="Calibri"/>
                <a:cs typeface="Calibri"/>
                <a:sym typeface="Calibri"/>
              </a:rPr>
              <a:t>Devin Review</a:t>
            </a:r>
            <a:endParaRPr/>
          </a:p>
        </p:txBody>
      </p:sp>
      <p:sp>
        <p:nvSpPr>
          <p:cNvPr id="287" name="Google Shape;287;p9"/>
          <p:cNvSpPr txBox="1"/>
          <p:nvPr/>
        </p:nvSpPr>
        <p:spPr>
          <a:xfrm>
            <a:off x="548640" y="5669280"/>
            <a:ext cx="2743200" cy="73152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100" u="none" cap="none" strike="noStrike">
                <a:solidFill>
                  <a:srgbClr val="6B7280"/>
                </a:solidFill>
                <a:latin typeface="Calibri"/>
                <a:ea typeface="Calibri"/>
                <a:cs typeface="Calibri"/>
                <a:sym typeface="Calibri"/>
              </a:rPr>
              <a:t>AI code review on every PR: bugs, security, style</a:t>
            </a:r>
            <a:endParaRPr/>
          </a:p>
        </p:txBody>
      </p:sp>
      <p:sp>
        <p:nvSpPr>
          <p:cNvPr id="288" name="Google Shape;288;p9"/>
          <p:cNvSpPr txBox="1"/>
          <p:nvPr/>
        </p:nvSpPr>
        <p:spPr>
          <a:xfrm>
            <a:off x="3383280" y="5349240"/>
            <a:ext cx="2743200" cy="36576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300" u="none" cap="none" strike="noStrike">
                <a:solidFill>
                  <a:srgbClr val="141B2D"/>
                </a:solidFill>
                <a:latin typeface="Calibri"/>
                <a:ea typeface="Calibri"/>
                <a:cs typeface="Calibri"/>
                <a:sym typeface="Calibri"/>
              </a:rPr>
              <a:t>Devin Wiki &amp; DeepWiki</a:t>
            </a:r>
            <a:endParaRPr/>
          </a:p>
        </p:txBody>
      </p:sp>
      <p:sp>
        <p:nvSpPr>
          <p:cNvPr id="289" name="Google Shape;289;p9"/>
          <p:cNvSpPr txBox="1"/>
          <p:nvPr/>
        </p:nvSpPr>
        <p:spPr>
          <a:xfrm>
            <a:off x="3383280" y="5669280"/>
            <a:ext cx="2743200" cy="73152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100" u="none" cap="none" strike="noStrike">
                <a:solidFill>
                  <a:srgbClr val="6B7280"/>
                </a:solidFill>
                <a:latin typeface="Calibri"/>
                <a:ea typeface="Calibri"/>
                <a:cs typeface="Calibri"/>
                <a:sym typeface="Calibri"/>
              </a:rPr>
              <a:t>Auto-generated, always-current codebase documentation</a:t>
            </a:r>
            <a:endParaRPr/>
          </a:p>
        </p:txBody>
      </p:sp>
      <p:sp>
        <p:nvSpPr>
          <p:cNvPr id="290" name="Google Shape;290;p9"/>
          <p:cNvSpPr txBox="1"/>
          <p:nvPr/>
        </p:nvSpPr>
        <p:spPr>
          <a:xfrm>
            <a:off x="6217920" y="5349240"/>
            <a:ext cx="2743200" cy="2556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lang="en-US" sz="1300">
                <a:solidFill>
                  <a:srgbClr val="141B2D"/>
                </a:solidFill>
                <a:latin typeface="Calibri"/>
                <a:ea typeface="Calibri"/>
                <a:cs typeface="Calibri"/>
                <a:sym typeface="Calibri"/>
              </a:rPr>
              <a:t>Devin CLI</a:t>
            </a:r>
            <a:endParaRPr/>
          </a:p>
        </p:txBody>
      </p:sp>
      <p:sp>
        <p:nvSpPr>
          <p:cNvPr id="291" name="Google Shape;291;p9"/>
          <p:cNvSpPr txBox="1"/>
          <p:nvPr/>
        </p:nvSpPr>
        <p:spPr>
          <a:xfrm>
            <a:off x="6217920" y="5669280"/>
            <a:ext cx="2743200" cy="3939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lang="en-US" sz="1100">
                <a:solidFill>
                  <a:srgbClr val="6B7280"/>
                </a:solidFill>
                <a:latin typeface="Calibri"/>
                <a:ea typeface="Calibri"/>
                <a:cs typeface="Calibri"/>
                <a:sym typeface="Calibri"/>
              </a:rPr>
              <a:t>AI Software Engineer in your terminal, with every frontier model</a:t>
            </a:r>
            <a:endParaRPr/>
          </a:p>
        </p:txBody>
      </p:sp>
      <p:sp>
        <p:nvSpPr>
          <p:cNvPr id="292" name="Google Shape;292;p9"/>
          <p:cNvSpPr txBox="1"/>
          <p:nvPr/>
        </p:nvSpPr>
        <p:spPr>
          <a:xfrm>
            <a:off x="9052560" y="5349240"/>
            <a:ext cx="2743200" cy="36576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300" u="none" cap="none" strike="noStrike">
                <a:solidFill>
                  <a:srgbClr val="141B2D"/>
                </a:solidFill>
                <a:latin typeface="Calibri"/>
                <a:ea typeface="Calibri"/>
                <a:cs typeface="Calibri"/>
                <a:sym typeface="Calibri"/>
              </a:rPr>
              <a:t>Playbooks &amp; Automations</a:t>
            </a:r>
            <a:endParaRPr/>
          </a:p>
        </p:txBody>
      </p:sp>
      <p:sp>
        <p:nvSpPr>
          <p:cNvPr id="293" name="Google Shape;293;p9"/>
          <p:cNvSpPr txBox="1"/>
          <p:nvPr/>
        </p:nvSpPr>
        <p:spPr>
          <a:xfrm>
            <a:off x="9052560" y="5669280"/>
            <a:ext cx="2743200" cy="73152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100" u="none" cap="none" strike="noStrike">
                <a:solidFill>
                  <a:srgbClr val="6B7280"/>
                </a:solidFill>
                <a:latin typeface="Calibri"/>
                <a:ea typeface="Calibri"/>
                <a:cs typeface="Calibri"/>
                <a:sym typeface="Calibri"/>
              </a:rPr>
              <a:t>Reusable procedures, scheduled and event-driven runs</a:t>
            </a:r>
            <a:endParaRPr/>
          </a:p>
        </p:txBody>
      </p:sp>
      <p:pic>
        <p:nvPicPr>
          <p:cNvPr id="294" name="Google Shape;294;p9" title="Screenshot 2026-09-27 at 11.12.02 AM.png"/>
          <p:cNvPicPr preferRelativeResize="0"/>
          <p:nvPr/>
        </p:nvPicPr>
        <p:blipFill>
          <a:blip r:embed="rId3">
            <a:alphaModFix/>
          </a:blip>
          <a:stretch>
            <a:fillRect/>
          </a:stretch>
        </p:blipFill>
        <p:spPr>
          <a:xfrm>
            <a:off x="-5735959" y="1956109"/>
            <a:ext cx="2746597" cy="1226075"/>
          </a:xfrm>
          <a:prstGeom prst="rect">
            <a:avLst/>
          </a:prstGeom>
          <a:noFill/>
          <a:ln>
            <a:noFill/>
          </a:ln>
        </p:spPr>
      </p:pic>
      <p:pic>
        <p:nvPicPr>
          <p:cNvPr id="295" name="Google Shape;295;p9" title="Screenshot 2026-09-27 at 11.12.57 AM.png"/>
          <p:cNvPicPr preferRelativeResize="0"/>
          <p:nvPr/>
        </p:nvPicPr>
        <p:blipFill>
          <a:blip r:embed="rId4">
            <a:alphaModFix/>
          </a:blip>
          <a:stretch>
            <a:fillRect/>
          </a:stretch>
        </p:blipFill>
        <p:spPr>
          <a:xfrm>
            <a:off x="12682826" y="3182174"/>
            <a:ext cx="4063699" cy="1914699"/>
          </a:xfrm>
          <a:prstGeom prst="rect">
            <a:avLst/>
          </a:prstGeom>
          <a:noFill/>
          <a:ln>
            <a:noFill/>
          </a:ln>
        </p:spPr>
      </p:pic>
      <p:pic>
        <p:nvPicPr>
          <p:cNvPr id="296" name="Google Shape;296;p9" title="devin.png"/>
          <p:cNvPicPr preferRelativeResize="0"/>
          <p:nvPr/>
        </p:nvPicPr>
        <p:blipFill>
          <a:blip r:embed="rId5">
            <a:alphaModFix/>
          </a:blip>
          <a:stretch>
            <a:fillRect/>
          </a:stretch>
        </p:blipFill>
        <p:spPr>
          <a:xfrm>
            <a:off x="10437163" y="274126"/>
            <a:ext cx="1267163" cy="116075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1" name="Shape 301"/>
        <p:cNvGrpSpPr/>
        <p:nvPr/>
      </p:nvGrpSpPr>
      <p:grpSpPr>
        <a:xfrm>
          <a:off x="0" y="0"/>
          <a:ext cx="0" cy="0"/>
          <a:chOff x="0" y="0"/>
          <a:chExt cx="0" cy="0"/>
        </a:xfrm>
      </p:grpSpPr>
      <p:sp>
        <p:nvSpPr>
          <p:cNvPr id="302" name="Google Shape;302;p16"/>
          <p:cNvSpPr/>
          <p:nvPr/>
        </p:nvSpPr>
        <p:spPr>
          <a:xfrm>
            <a:off x="0" y="0"/>
            <a:ext cx="12191695" cy="109728"/>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3" name="Google Shape;303;p16"/>
          <p:cNvSpPr txBox="1"/>
          <p:nvPr/>
        </p:nvSpPr>
        <p:spPr>
          <a:xfrm>
            <a:off x="548640" y="411480"/>
            <a:ext cx="7315200" cy="240000"/>
          </a:xfrm>
          <a:prstGeom prst="rect">
            <a:avLst/>
          </a:prstGeom>
          <a:noFill/>
          <a:ln>
            <a:noFill/>
          </a:ln>
        </p:spPr>
        <p:txBody>
          <a:bodyPr anchorCtr="0" anchor="t" bIns="27425" lIns="45700" spcFirstLastPara="1" rIns="45700" wrap="square" tIns="27425">
            <a:spAutoFit/>
          </a:bodyPr>
          <a:lstStyle/>
          <a:p>
            <a:pPr indent="0" lvl="0" marL="0" rtl="0" algn="l">
              <a:spcBef>
                <a:spcPts val="0"/>
              </a:spcBef>
              <a:spcAft>
                <a:spcPts val="0"/>
              </a:spcAft>
              <a:buNone/>
            </a:pPr>
            <a:r>
              <a:rPr b="1" lang="en-US" sz="1200">
                <a:solidFill>
                  <a:srgbClr val="3B82F6"/>
                </a:solidFill>
                <a:latin typeface="Calibri"/>
                <a:ea typeface="Calibri"/>
                <a:cs typeface="Calibri"/>
                <a:sym typeface="Calibri"/>
              </a:rPr>
              <a:t>MEET DEVIN</a:t>
            </a:r>
            <a:r>
              <a:rPr b="1" i="0" lang="en-US" sz="1200" u="none" cap="none" strike="noStrike">
                <a:solidFill>
                  <a:srgbClr val="3B82F6"/>
                </a:solidFill>
                <a:latin typeface="Calibri"/>
                <a:ea typeface="Calibri"/>
                <a:cs typeface="Calibri"/>
                <a:sym typeface="Calibri"/>
              </a:rPr>
              <a:t>  |  ARCHITECTURE</a:t>
            </a:r>
            <a:endParaRPr/>
          </a:p>
        </p:txBody>
      </p:sp>
      <p:sp>
        <p:nvSpPr>
          <p:cNvPr id="304" name="Google Shape;304;p16"/>
          <p:cNvSpPr txBox="1"/>
          <p:nvPr/>
        </p:nvSpPr>
        <p:spPr>
          <a:xfrm>
            <a:off x="548640" y="731520"/>
            <a:ext cx="11155680" cy="9144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3000" u="none" cap="none" strike="noStrike">
                <a:solidFill>
                  <a:srgbClr val="141B2D"/>
                </a:solidFill>
                <a:latin typeface="Calibri"/>
                <a:ea typeface="Calibri"/>
                <a:cs typeface="Calibri"/>
                <a:sym typeface="Calibri"/>
              </a:rPr>
              <a:t>Built to understand large, messy codebases</a:t>
            </a:r>
            <a:endParaRPr/>
          </a:p>
        </p:txBody>
      </p:sp>
      <p:sp>
        <p:nvSpPr>
          <p:cNvPr id="305" name="Google Shape;305;p16"/>
          <p:cNvSpPr txBox="1"/>
          <p:nvPr/>
        </p:nvSpPr>
        <p:spPr>
          <a:xfrm>
            <a:off x="548640" y="6446520"/>
            <a:ext cx="7315200" cy="27432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000" u="none" cap="none" strike="noStrike">
                <a:solidFill>
                  <a:srgbClr val="6B7280"/>
                </a:solidFill>
                <a:latin typeface="Calibri"/>
                <a:ea typeface="Calibri"/>
                <a:cs typeface="Calibri"/>
                <a:sym typeface="Calibri"/>
              </a:rPr>
              <a:t>Cognition  |  Devin Discovery</a:t>
            </a:r>
            <a:endParaRPr/>
          </a:p>
        </p:txBody>
      </p:sp>
      <p:sp>
        <p:nvSpPr>
          <p:cNvPr id="306" name="Google Shape;306;p16"/>
          <p:cNvSpPr txBox="1"/>
          <p:nvPr/>
        </p:nvSpPr>
        <p:spPr>
          <a:xfrm>
            <a:off x="10789920" y="6446520"/>
            <a:ext cx="914400" cy="274320"/>
          </a:xfrm>
          <a:prstGeom prst="rect">
            <a:avLst/>
          </a:prstGeom>
          <a:noFill/>
          <a:ln>
            <a:noFill/>
          </a:ln>
        </p:spPr>
        <p:txBody>
          <a:bodyPr anchorCtr="0" anchor="t" bIns="27425" lIns="45700" spcFirstLastPara="1" rIns="45700" wrap="square" tIns="27425">
            <a:spAutoFit/>
          </a:bodyPr>
          <a:lstStyle/>
          <a:p>
            <a:pPr indent="0" lvl="0" marL="0" marR="0" rtl="0" algn="r">
              <a:spcBef>
                <a:spcPts val="0"/>
              </a:spcBef>
              <a:spcAft>
                <a:spcPts val="0"/>
              </a:spcAft>
              <a:buNone/>
            </a:pPr>
            <a:r>
              <a:rPr b="0" i="0" lang="en-US" sz="1000" u="none" cap="none" strike="noStrike">
                <a:solidFill>
                  <a:srgbClr val="6B7280"/>
                </a:solidFill>
                <a:latin typeface="Calibri"/>
                <a:ea typeface="Calibri"/>
                <a:cs typeface="Calibri"/>
                <a:sym typeface="Calibri"/>
              </a:rPr>
              <a:t>16</a:t>
            </a:r>
            <a:endParaRPr/>
          </a:p>
        </p:txBody>
      </p:sp>
      <p:sp>
        <p:nvSpPr>
          <p:cNvPr id="307" name="Google Shape;307;p16"/>
          <p:cNvSpPr/>
          <p:nvPr/>
        </p:nvSpPr>
        <p:spPr>
          <a:xfrm>
            <a:off x="548640" y="1737360"/>
            <a:ext cx="3566160" cy="4297680"/>
          </a:xfrm>
          <a:prstGeom prst="roundRect">
            <a:avLst>
              <a:gd fmla="val 6000" name="adj"/>
            </a:avLst>
          </a:prstGeom>
          <a:solidFill>
            <a:srgbClr val="F4F5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8" name="Google Shape;308;p16"/>
          <p:cNvSpPr/>
          <p:nvPr/>
        </p:nvSpPr>
        <p:spPr>
          <a:xfrm>
            <a:off x="548640" y="1737360"/>
            <a:ext cx="73152" cy="4297680"/>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9" name="Google Shape;309;p16"/>
          <p:cNvSpPr txBox="1"/>
          <p:nvPr/>
        </p:nvSpPr>
        <p:spPr>
          <a:xfrm>
            <a:off x="777240" y="1874520"/>
            <a:ext cx="3200400" cy="4572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600" u="none" cap="none" strike="noStrike">
                <a:solidFill>
                  <a:srgbClr val="141B2D"/>
                </a:solidFill>
                <a:latin typeface="Calibri"/>
                <a:ea typeface="Calibri"/>
                <a:cs typeface="Calibri"/>
                <a:sym typeface="Calibri"/>
              </a:rPr>
              <a:t>Codebase Intelligence</a:t>
            </a:r>
            <a:endParaRPr/>
          </a:p>
        </p:txBody>
      </p:sp>
      <p:sp>
        <p:nvSpPr>
          <p:cNvPr id="310" name="Google Shape;310;p16"/>
          <p:cNvSpPr txBox="1"/>
          <p:nvPr/>
        </p:nvSpPr>
        <p:spPr>
          <a:xfrm>
            <a:off x="731520" y="2331720"/>
            <a:ext cx="3200400" cy="356616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1300" u="none" cap="none" strike="noStrike">
                <a:solidFill>
                  <a:srgbClr val="3B82F6"/>
                </a:solidFill>
                <a:latin typeface="Calibri"/>
                <a:ea typeface="Calibri"/>
                <a:cs typeface="Calibri"/>
                <a:sym typeface="Calibri"/>
              </a:rPr>
              <a:t>▪  </a:t>
            </a:r>
            <a:r>
              <a:rPr b="0" i="0" lang="en-US" sz="1300" u="none" cap="none" strike="noStrike">
                <a:solidFill>
                  <a:srgbClr val="141B2D"/>
                </a:solidFill>
                <a:latin typeface="Calibri"/>
                <a:ea typeface="Calibri"/>
                <a:cs typeface="Calibri"/>
                <a:sym typeface="Calibri"/>
              </a:rPr>
              <a:t>Devin Wiki indexes every repo into living architecture docs.</a:t>
            </a:r>
            <a:endParaRPr/>
          </a:p>
          <a:p>
            <a:pPr indent="0" lvl="0" marL="0" marR="0" rtl="0" algn="l">
              <a:spcBef>
                <a:spcPts val="300"/>
              </a:spcBef>
              <a:spcAft>
                <a:spcPts val="0"/>
              </a:spcAft>
              <a:buNone/>
            </a:pPr>
            <a:r>
              <a:rPr b="0" i="0" lang="en-US" sz="1300" u="none" cap="none" strike="noStrike">
                <a:solidFill>
                  <a:srgbClr val="3B82F6"/>
                </a:solidFill>
                <a:latin typeface="Calibri"/>
                <a:ea typeface="Calibri"/>
                <a:cs typeface="Calibri"/>
                <a:sym typeface="Calibri"/>
              </a:rPr>
              <a:t>▪  </a:t>
            </a:r>
            <a:r>
              <a:rPr b="0" i="0" lang="en-US" sz="1300" u="none" cap="none" strike="noStrike">
                <a:solidFill>
                  <a:srgbClr val="141B2D"/>
                </a:solidFill>
                <a:latin typeface="Calibri"/>
                <a:ea typeface="Calibri"/>
                <a:cs typeface="Calibri"/>
                <a:sym typeface="Calibri"/>
              </a:rPr>
              <a:t>Devin Search answers 'where is X handled?' across services.</a:t>
            </a:r>
            <a:endParaRPr/>
          </a:p>
          <a:p>
            <a:pPr indent="0" lvl="0" marL="0" marR="0" rtl="0" algn="l">
              <a:spcBef>
                <a:spcPts val="300"/>
              </a:spcBef>
              <a:spcAft>
                <a:spcPts val="0"/>
              </a:spcAft>
              <a:buNone/>
            </a:pPr>
            <a:r>
              <a:rPr b="0" i="0" lang="en-US" sz="1300" u="none" cap="none" strike="noStrike">
                <a:solidFill>
                  <a:srgbClr val="3B82F6"/>
                </a:solidFill>
                <a:latin typeface="Calibri"/>
                <a:ea typeface="Calibri"/>
                <a:cs typeface="Calibri"/>
                <a:sym typeface="Calibri"/>
              </a:rPr>
              <a:t>▪  </a:t>
            </a:r>
            <a:r>
              <a:rPr b="0" i="0" lang="en-US" sz="1300" u="none" cap="none" strike="noStrike">
                <a:solidFill>
                  <a:srgbClr val="141B2D"/>
                </a:solidFill>
                <a:latin typeface="Calibri"/>
                <a:ea typeface="Calibri"/>
                <a:cs typeface="Calibri"/>
                <a:sym typeface="Calibri"/>
              </a:rPr>
              <a:t>Knowledge: your conventions, gotchas, and runbooks, learned once and reused.</a:t>
            </a:r>
            <a:endParaRPr/>
          </a:p>
        </p:txBody>
      </p:sp>
      <p:sp>
        <p:nvSpPr>
          <p:cNvPr id="311" name="Google Shape;311;p16"/>
          <p:cNvSpPr/>
          <p:nvPr/>
        </p:nvSpPr>
        <p:spPr>
          <a:xfrm>
            <a:off x="4297680" y="1737360"/>
            <a:ext cx="3566160" cy="4297680"/>
          </a:xfrm>
          <a:prstGeom prst="roundRect">
            <a:avLst>
              <a:gd fmla="val 6000" name="adj"/>
            </a:avLst>
          </a:prstGeom>
          <a:solidFill>
            <a:srgbClr val="F4F5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2" name="Google Shape;312;p16"/>
          <p:cNvSpPr/>
          <p:nvPr/>
        </p:nvSpPr>
        <p:spPr>
          <a:xfrm>
            <a:off x="4297680" y="1737360"/>
            <a:ext cx="73152" cy="4297680"/>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3" name="Google Shape;313;p16"/>
          <p:cNvSpPr txBox="1"/>
          <p:nvPr/>
        </p:nvSpPr>
        <p:spPr>
          <a:xfrm>
            <a:off x="4526280" y="1874520"/>
            <a:ext cx="3200400" cy="4572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600" u="none" cap="none" strike="noStrike">
                <a:solidFill>
                  <a:srgbClr val="141B2D"/>
                </a:solidFill>
                <a:latin typeface="Calibri"/>
                <a:ea typeface="Calibri"/>
                <a:cs typeface="Calibri"/>
                <a:sym typeface="Calibri"/>
              </a:rPr>
              <a:t>Reproducible Environments</a:t>
            </a:r>
            <a:endParaRPr/>
          </a:p>
        </p:txBody>
      </p:sp>
      <p:sp>
        <p:nvSpPr>
          <p:cNvPr id="314" name="Google Shape;314;p16"/>
          <p:cNvSpPr txBox="1"/>
          <p:nvPr/>
        </p:nvSpPr>
        <p:spPr>
          <a:xfrm>
            <a:off x="4480560" y="2331720"/>
            <a:ext cx="3200400" cy="356616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1300" u="none" cap="none" strike="noStrike">
                <a:solidFill>
                  <a:srgbClr val="3B82F6"/>
                </a:solidFill>
                <a:latin typeface="Calibri"/>
                <a:ea typeface="Calibri"/>
                <a:cs typeface="Calibri"/>
                <a:sym typeface="Calibri"/>
              </a:rPr>
              <a:t>▪  </a:t>
            </a:r>
            <a:r>
              <a:rPr b="0" i="0" lang="en-US" sz="1300" u="none" cap="none" strike="noStrike">
                <a:solidFill>
                  <a:srgbClr val="141B2D"/>
                </a:solidFill>
                <a:latin typeface="Calibri"/>
                <a:ea typeface="Calibri"/>
                <a:cs typeface="Calibri"/>
                <a:sym typeface="Calibri"/>
              </a:rPr>
              <a:t>Each session runs on an isolated VM built from a versioned blueprint (deps, services, secrets).</a:t>
            </a:r>
            <a:endParaRPr/>
          </a:p>
          <a:p>
            <a:pPr indent="0" lvl="0" marL="0" marR="0" rtl="0" algn="l">
              <a:spcBef>
                <a:spcPts val="300"/>
              </a:spcBef>
              <a:spcAft>
                <a:spcPts val="0"/>
              </a:spcAft>
              <a:buNone/>
            </a:pPr>
            <a:r>
              <a:rPr b="0" i="0" lang="en-US" sz="1300" u="none" cap="none" strike="noStrike">
                <a:solidFill>
                  <a:srgbClr val="3B82F6"/>
                </a:solidFill>
                <a:latin typeface="Calibri"/>
                <a:ea typeface="Calibri"/>
                <a:cs typeface="Calibri"/>
                <a:sym typeface="Calibri"/>
              </a:rPr>
              <a:t>▪  </a:t>
            </a:r>
            <a:r>
              <a:rPr b="0" i="0" lang="en-US" sz="1300" u="none" cap="none" strike="noStrike">
                <a:solidFill>
                  <a:srgbClr val="141B2D"/>
                </a:solidFill>
                <a:latin typeface="Calibri"/>
                <a:ea typeface="Calibri"/>
                <a:cs typeface="Calibri"/>
                <a:sym typeface="Calibri"/>
              </a:rPr>
              <a:t>Snapshots make startup fast and deterministic.</a:t>
            </a:r>
            <a:endParaRPr/>
          </a:p>
          <a:p>
            <a:pPr indent="0" lvl="0" marL="0" marR="0" rtl="0" algn="l">
              <a:spcBef>
                <a:spcPts val="300"/>
              </a:spcBef>
              <a:spcAft>
                <a:spcPts val="0"/>
              </a:spcAft>
              <a:buNone/>
            </a:pPr>
            <a:r>
              <a:rPr b="0" i="0" lang="en-US" sz="1300" u="none" cap="none" strike="noStrike">
                <a:solidFill>
                  <a:srgbClr val="3B82F6"/>
                </a:solidFill>
                <a:latin typeface="Calibri"/>
                <a:ea typeface="Calibri"/>
                <a:cs typeface="Calibri"/>
                <a:sym typeface="Calibri"/>
              </a:rPr>
              <a:t>▪  </a:t>
            </a:r>
            <a:r>
              <a:rPr b="0" i="0" lang="en-US" sz="1300" u="none" cap="none" strike="noStrike">
                <a:solidFill>
                  <a:srgbClr val="141B2D"/>
                </a:solidFill>
                <a:latin typeface="Calibri"/>
                <a:ea typeface="Calibri"/>
                <a:cs typeface="Calibri"/>
                <a:sym typeface="Calibri"/>
              </a:rPr>
              <a:t>Devin can browse, run services, and drive a real browser to verify UI.</a:t>
            </a:r>
            <a:endParaRPr/>
          </a:p>
        </p:txBody>
      </p:sp>
      <p:sp>
        <p:nvSpPr>
          <p:cNvPr id="315" name="Google Shape;315;p16"/>
          <p:cNvSpPr/>
          <p:nvPr/>
        </p:nvSpPr>
        <p:spPr>
          <a:xfrm>
            <a:off x="8046720" y="1737360"/>
            <a:ext cx="3566160" cy="4297680"/>
          </a:xfrm>
          <a:prstGeom prst="roundRect">
            <a:avLst>
              <a:gd fmla="val 6000" name="adj"/>
            </a:avLst>
          </a:prstGeom>
          <a:solidFill>
            <a:srgbClr val="F4F5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6" name="Google Shape;316;p16"/>
          <p:cNvSpPr/>
          <p:nvPr/>
        </p:nvSpPr>
        <p:spPr>
          <a:xfrm>
            <a:off x="8046720" y="1737360"/>
            <a:ext cx="73152" cy="4297680"/>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7" name="Google Shape;317;p16"/>
          <p:cNvSpPr txBox="1"/>
          <p:nvPr/>
        </p:nvSpPr>
        <p:spPr>
          <a:xfrm>
            <a:off x="8275320" y="1874520"/>
            <a:ext cx="3200400" cy="4572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600" u="none" cap="none" strike="noStrike">
                <a:solidFill>
                  <a:srgbClr val="141B2D"/>
                </a:solidFill>
                <a:latin typeface="Calibri"/>
                <a:ea typeface="Calibri"/>
                <a:cs typeface="Calibri"/>
                <a:sym typeface="Calibri"/>
              </a:rPr>
              <a:t>Scale &amp; Orchestration</a:t>
            </a:r>
            <a:endParaRPr/>
          </a:p>
        </p:txBody>
      </p:sp>
      <p:sp>
        <p:nvSpPr>
          <p:cNvPr id="318" name="Google Shape;318;p16"/>
          <p:cNvSpPr txBox="1"/>
          <p:nvPr/>
        </p:nvSpPr>
        <p:spPr>
          <a:xfrm>
            <a:off x="8229600" y="2331720"/>
            <a:ext cx="3200400" cy="356616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1300" u="none" cap="none" strike="noStrike">
                <a:solidFill>
                  <a:srgbClr val="3B82F6"/>
                </a:solidFill>
                <a:latin typeface="Calibri"/>
                <a:ea typeface="Calibri"/>
                <a:cs typeface="Calibri"/>
                <a:sym typeface="Calibri"/>
              </a:rPr>
              <a:t>▪  </a:t>
            </a:r>
            <a:r>
              <a:rPr b="0" i="0" lang="en-US" sz="1300" u="none" cap="none" strike="noStrike">
                <a:solidFill>
                  <a:srgbClr val="141B2D"/>
                </a:solidFill>
                <a:latin typeface="Calibri"/>
                <a:ea typeface="Calibri"/>
                <a:cs typeface="Calibri"/>
                <a:sym typeface="Calibri"/>
              </a:rPr>
              <a:t>Run dozens of Devins in parallel on a migration backlog.</a:t>
            </a:r>
            <a:endParaRPr/>
          </a:p>
          <a:p>
            <a:pPr indent="0" lvl="0" marL="0" marR="0" rtl="0" algn="l">
              <a:spcBef>
                <a:spcPts val="300"/>
              </a:spcBef>
              <a:spcAft>
                <a:spcPts val="0"/>
              </a:spcAft>
              <a:buNone/>
            </a:pPr>
            <a:r>
              <a:rPr b="0" i="0" lang="en-US" sz="1300" u="none" cap="none" strike="noStrike">
                <a:solidFill>
                  <a:srgbClr val="3B82F6"/>
                </a:solidFill>
                <a:latin typeface="Calibri"/>
                <a:ea typeface="Calibri"/>
                <a:cs typeface="Calibri"/>
                <a:sym typeface="Calibri"/>
              </a:rPr>
              <a:t>▪  </a:t>
            </a:r>
            <a:r>
              <a:rPr b="0" i="0" lang="en-US" sz="1300" u="none" cap="none" strike="noStrike">
                <a:solidFill>
                  <a:srgbClr val="141B2D"/>
                </a:solidFill>
                <a:latin typeface="Calibri"/>
                <a:ea typeface="Calibri"/>
                <a:cs typeface="Calibri"/>
                <a:sym typeface="Calibri"/>
              </a:rPr>
              <a:t>Playbooks encode repeatable procedures; Automations trigger on schedules or events.</a:t>
            </a:r>
            <a:endParaRPr/>
          </a:p>
          <a:p>
            <a:pPr indent="0" lvl="0" marL="0" marR="0" rtl="0" algn="l">
              <a:spcBef>
                <a:spcPts val="300"/>
              </a:spcBef>
              <a:spcAft>
                <a:spcPts val="0"/>
              </a:spcAft>
              <a:buNone/>
            </a:pPr>
            <a:r>
              <a:rPr b="0" i="0" lang="en-US" sz="1300" u="none" cap="none" strike="noStrike">
                <a:solidFill>
                  <a:srgbClr val="3B82F6"/>
                </a:solidFill>
                <a:latin typeface="Calibri"/>
                <a:ea typeface="Calibri"/>
                <a:cs typeface="Calibri"/>
                <a:sym typeface="Calibri"/>
              </a:rPr>
              <a:t>▪  </a:t>
            </a:r>
            <a:r>
              <a:rPr b="0" i="0" lang="en-US" sz="1300" u="none" cap="none" strike="noStrike">
                <a:solidFill>
                  <a:srgbClr val="141B2D"/>
                </a:solidFill>
                <a:latin typeface="Calibri"/>
                <a:ea typeface="Calibri"/>
                <a:cs typeface="Calibri"/>
                <a:sym typeface="Calibri"/>
              </a:rPr>
              <a:t>API and Slack-native: fits existing workflows, no new UI to learn.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3" name="Shape 323"/>
        <p:cNvGrpSpPr/>
        <p:nvPr/>
      </p:nvGrpSpPr>
      <p:grpSpPr>
        <a:xfrm>
          <a:off x="0" y="0"/>
          <a:ext cx="0" cy="0"/>
          <a:chOff x="0" y="0"/>
          <a:chExt cx="0" cy="0"/>
        </a:xfrm>
      </p:grpSpPr>
      <p:sp>
        <p:nvSpPr>
          <p:cNvPr id="324" name="Google Shape;324;p18"/>
          <p:cNvSpPr/>
          <p:nvPr/>
        </p:nvSpPr>
        <p:spPr>
          <a:xfrm>
            <a:off x="0" y="0"/>
            <a:ext cx="12191695" cy="109728"/>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5" name="Google Shape;325;p18"/>
          <p:cNvSpPr txBox="1"/>
          <p:nvPr/>
        </p:nvSpPr>
        <p:spPr>
          <a:xfrm>
            <a:off x="548640" y="411480"/>
            <a:ext cx="7315200" cy="240000"/>
          </a:xfrm>
          <a:prstGeom prst="rect">
            <a:avLst/>
          </a:prstGeom>
          <a:noFill/>
          <a:ln>
            <a:noFill/>
          </a:ln>
        </p:spPr>
        <p:txBody>
          <a:bodyPr anchorCtr="0" anchor="t" bIns="27425" lIns="45700" spcFirstLastPara="1" rIns="45700" wrap="square" tIns="27425">
            <a:spAutoFit/>
          </a:bodyPr>
          <a:lstStyle/>
          <a:p>
            <a:pPr indent="0" lvl="0" marL="0" rtl="0" algn="l">
              <a:spcBef>
                <a:spcPts val="0"/>
              </a:spcBef>
              <a:spcAft>
                <a:spcPts val="0"/>
              </a:spcAft>
              <a:buNone/>
            </a:pPr>
            <a:r>
              <a:rPr b="1" lang="en-US" sz="1200">
                <a:solidFill>
                  <a:srgbClr val="3B82F6"/>
                </a:solidFill>
                <a:latin typeface="Calibri"/>
                <a:ea typeface="Calibri"/>
                <a:cs typeface="Calibri"/>
                <a:sym typeface="Calibri"/>
              </a:rPr>
              <a:t>MEET DEVIN</a:t>
            </a:r>
            <a:r>
              <a:rPr b="1" i="0" lang="en-US" sz="1200" u="none" cap="none" strike="noStrike">
                <a:solidFill>
                  <a:srgbClr val="3B82F6"/>
                </a:solidFill>
                <a:latin typeface="Calibri"/>
                <a:ea typeface="Calibri"/>
                <a:cs typeface="Calibri"/>
                <a:sym typeface="Calibri"/>
              </a:rPr>
              <a:t>  |  EXAMPLE USE CASES</a:t>
            </a:r>
            <a:endParaRPr/>
          </a:p>
        </p:txBody>
      </p:sp>
      <p:sp>
        <p:nvSpPr>
          <p:cNvPr id="326" name="Google Shape;326;p18"/>
          <p:cNvSpPr txBox="1"/>
          <p:nvPr/>
        </p:nvSpPr>
        <p:spPr>
          <a:xfrm>
            <a:off x="548640" y="731520"/>
            <a:ext cx="11155680" cy="9144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3000" u="none" cap="none" strike="noStrike">
                <a:solidFill>
                  <a:srgbClr val="141B2D"/>
                </a:solidFill>
                <a:latin typeface="Calibri"/>
                <a:ea typeface="Calibri"/>
                <a:cs typeface="Calibri"/>
                <a:sym typeface="Calibri"/>
              </a:rPr>
              <a:t>Where Devin delivers first</a:t>
            </a:r>
            <a:endParaRPr/>
          </a:p>
        </p:txBody>
      </p:sp>
      <p:sp>
        <p:nvSpPr>
          <p:cNvPr id="327" name="Google Shape;327;p18"/>
          <p:cNvSpPr txBox="1"/>
          <p:nvPr/>
        </p:nvSpPr>
        <p:spPr>
          <a:xfrm>
            <a:off x="548640" y="6446520"/>
            <a:ext cx="7315200" cy="2094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000" u="none" cap="none" strike="noStrike">
                <a:solidFill>
                  <a:srgbClr val="6B7280"/>
                </a:solidFill>
                <a:latin typeface="Calibri"/>
                <a:ea typeface="Calibri"/>
                <a:cs typeface="Calibri"/>
                <a:sym typeface="Calibri"/>
              </a:rPr>
              <a:t>Cognition  |  Devin </a:t>
            </a:r>
            <a:endParaRPr/>
          </a:p>
        </p:txBody>
      </p:sp>
      <p:sp>
        <p:nvSpPr>
          <p:cNvPr id="328" name="Google Shape;328;p18"/>
          <p:cNvSpPr txBox="1"/>
          <p:nvPr/>
        </p:nvSpPr>
        <p:spPr>
          <a:xfrm>
            <a:off x="10789920" y="6446520"/>
            <a:ext cx="914400" cy="274320"/>
          </a:xfrm>
          <a:prstGeom prst="rect">
            <a:avLst/>
          </a:prstGeom>
          <a:noFill/>
          <a:ln>
            <a:noFill/>
          </a:ln>
        </p:spPr>
        <p:txBody>
          <a:bodyPr anchorCtr="0" anchor="t" bIns="27425" lIns="45700" spcFirstLastPara="1" rIns="45700" wrap="square" tIns="27425">
            <a:spAutoFit/>
          </a:bodyPr>
          <a:lstStyle/>
          <a:p>
            <a:pPr indent="0" lvl="0" marL="0" marR="0" rtl="0" algn="r">
              <a:spcBef>
                <a:spcPts val="0"/>
              </a:spcBef>
              <a:spcAft>
                <a:spcPts val="0"/>
              </a:spcAft>
              <a:buNone/>
            </a:pPr>
            <a:r>
              <a:rPr b="0" i="0" lang="en-US" sz="1000" u="none" cap="none" strike="noStrike">
                <a:solidFill>
                  <a:srgbClr val="6B7280"/>
                </a:solidFill>
                <a:latin typeface="Calibri"/>
                <a:ea typeface="Calibri"/>
                <a:cs typeface="Calibri"/>
                <a:sym typeface="Calibri"/>
              </a:rPr>
              <a:t>18</a:t>
            </a:r>
            <a:endParaRPr/>
          </a:p>
        </p:txBody>
      </p:sp>
      <p:sp>
        <p:nvSpPr>
          <p:cNvPr id="329" name="Google Shape;329;p18"/>
          <p:cNvSpPr/>
          <p:nvPr/>
        </p:nvSpPr>
        <p:spPr>
          <a:xfrm>
            <a:off x="548640" y="1737360"/>
            <a:ext cx="3566160" cy="2057400"/>
          </a:xfrm>
          <a:prstGeom prst="roundRect">
            <a:avLst>
              <a:gd fmla="val 6000" name="adj"/>
            </a:avLst>
          </a:prstGeom>
          <a:solidFill>
            <a:srgbClr val="F4F5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0" name="Google Shape;330;p18"/>
          <p:cNvSpPr/>
          <p:nvPr/>
        </p:nvSpPr>
        <p:spPr>
          <a:xfrm>
            <a:off x="548640" y="1737360"/>
            <a:ext cx="73152" cy="2057400"/>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1" name="Google Shape;331;p18"/>
          <p:cNvSpPr txBox="1"/>
          <p:nvPr/>
        </p:nvSpPr>
        <p:spPr>
          <a:xfrm>
            <a:off x="777240" y="1874520"/>
            <a:ext cx="3200400" cy="4572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600" u="none" cap="none" strike="noStrike">
                <a:solidFill>
                  <a:srgbClr val="141B2D"/>
                </a:solidFill>
                <a:latin typeface="Calibri"/>
                <a:ea typeface="Calibri"/>
                <a:cs typeface="Calibri"/>
                <a:sym typeface="Calibri"/>
              </a:rPr>
              <a:t>Migrations &amp; upgrades</a:t>
            </a:r>
            <a:endParaRPr/>
          </a:p>
        </p:txBody>
      </p:sp>
      <p:sp>
        <p:nvSpPr>
          <p:cNvPr id="332" name="Google Shape;332;p18"/>
          <p:cNvSpPr txBox="1"/>
          <p:nvPr/>
        </p:nvSpPr>
        <p:spPr>
          <a:xfrm>
            <a:off x="777240" y="2331720"/>
            <a:ext cx="3200400" cy="132588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200" u="none" cap="none" strike="noStrike">
                <a:solidFill>
                  <a:srgbClr val="141B2D"/>
                </a:solidFill>
                <a:latin typeface="Calibri"/>
                <a:ea typeface="Calibri"/>
                <a:cs typeface="Calibri"/>
                <a:sym typeface="Calibri"/>
              </a:rPr>
              <a:t>Language/framework version bumps, Python 2 to 3, Angular to React, cloud re-platforming. Repetitive, well-specified, and enormous.</a:t>
            </a:r>
            <a:endParaRPr/>
          </a:p>
        </p:txBody>
      </p:sp>
      <p:sp>
        <p:nvSpPr>
          <p:cNvPr id="333" name="Google Shape;333;p18"/>
          <p:cNvSpPr/>
          <p:nvPr/>
        </p:nvSpPr>
        <p:spPr>
          <a:xfrm>
            <a:off x="4297679" y="1737360"/>
            <a:ext cx="3566160" cy="2057400"/>
          </a:xfrm>
          <a:prstGeom prst="roundRect">
            <a:avLst>
              <a:gd fmla="val 6000" name="adj"/>
            </a:avLst>
          </a:prstGeom>
          <a:solidFill>
            <a:srgbClr val="F4F5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4" name="Google Shape;334;p18"/>
          <p:cNvSpPr/>
          <p:nvPr/>
        </p:nvSpPr>
        <p:spPr>
          <a:xfrm>
            <a:off x="4297679" y="1737360"/>
            <a:ext cx="73152" cy="2057400"/>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5" name="Google Shape;335;p18"/>
          <p:cNvSpPr txBox="1"/>
          <p:nvPr/>
        </p:nvSpPr>
        <p:spPr>
          <a:xfrm>
            <a:off x="4526279" y="1874520"/>
            <a:ext cx="3200400" cy="4572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600" u="none" cap="none" strike="noStrike">
                <a:solidFill>
                  <a:srgbClr val="141B2D"/>
                </a:solidFill>
                <a:latin typeface="Calibri"/>
                <a:ea typeface="Calibri"/>
                <a:cs typeface="Calibri"/>
                <a:sym typeface="Calibri"/>
              </a:rPr>
              <a:t>Test coverage &amp; flaky CI</a:t>
            </a:r>
            <a:endParaRPr/>
          </a:p>
        </p:txBody>
      </p:sp>
      <p:sp>
        <p:nvSpPr>
          <p:cNvPr id="336" name="Google Shape;336;p18"/>
          <p:cNvSpPr txBox="1"/>
          <p:nvPr/>
        </p:nvSpPr>
        <p:spPr>
          <a:xfrm>
            <a:off x="4526279" y="2331720"/>
            <a:ext cx="3200400" cy="132588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200" u="none" cap="none" strike="noStrike">
                <a:solidFill>
                  <a:srgbClr val="141B2D"/>
                </a:solidFill>
                <a:latin typeface="Calibri"/>
                <a:ea typeface="Calibri"/>
                <a:cs typeface="Calibri"/>
                <a:sym typeface="Calibri"/>
              </a:rPr>
              <a:t>Backfill unit tests, fix flaky suites, keep coverage gates green while humans build features.</a:t>
            </a:r>
            <a:endParaRPr/>
          </a:p>
        </p:txBody>
      </p:sp>
      <p:sp>
        <p:nvSpPr>
          <p:cNvPr id="337" name="Google Shape;337;p18"/>
          <p:cNvSpPr/>
          <p:nvPr/>
        </p:nvSpPr>
        <p:spPr>
          <a:xfrm>
            <a:off x="8046718" y="1737360"/>
            <a:ext cx="3566160" cy="2057400"/>
          </a:xfrm>
          <a:prstGeom prst="roundRect">
            <a:avLst>
              <a:gd fmla="val 6000" name="adj"/>
            </a:avLst>
          </a:prstGeom>
          <a:solidFill>
            <a:srgbClr val="F4F5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8" name="Google Shape;338;p18"/>
          <p:cNvSpPr/>
          <p:nvPr/>
        </p:nvSpPr>
        <p:spPr>
          <a:xfrm>
            <a:off x="8046718" y="1737360"/>
            <a:ext cx="73152" cy="2057400"/>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9" name="Google Shape;339;p18"/>
          <p:cNvSpPr txBox="1"/>
          <p:nvPr/>
        </p:nvSpPr>
        <p:spPr>
          <a:xfrm>
            <a:off x="8275318" y="1874520"/>
            <a:ext cx="3200400" cy="4572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600" u="none" cap="none" strike="noStrike">
                <a:solidFill>
                  <a:srgbClr val="141B2D"/>
                </a:solidFill>
                <a:latin typeface="Calibri"/>
                <a:ea typeface="Calibri"/>
                <a:cs typeface="Calibri"/>
                <a:sym typeface="Calibri"/>
              </a:rPr>
              <a:t>Bug fixes &amp; on-call toil</a:t>
            </a:r>
            <a:endParaRPr/>
          </a:p>
        </p:txBody>
      </p:sp>
      <p:sp>
        <p:nvSpPr>
          <p:cNvPr id="340" name="Google Shape;340;p18"/>
          <p:cNvSpPr txBox="1"/>
          <p:nvPr/>
        </p:nvSpPr>
        <p:spPr>
          <a:xfrm>
            <a:off x="8275318" y="2331720"/>
            <a:ext cx="3200400" cy="132588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200" u="none" cap="none" strike="noStrike">
                <a:solidFill>
                  <a:srgbClr val="141B2D"/>
                </a:solidFill>
                <a:latin typeface="Calibri"/>
                <a:ea typeface="Calibri"/>
                <a:cs typeface="Calibri"/>
                <a:sym typeface="Calibri"/>
              </a:rPr>
              <a:t>Triage Sentry/Datadog alerts, reproduce, fix, and open PRs before the on-call engineer wakes up.</a:t>
            </a:r>
            <a:endParaRPr/>
          </a:p>
        </p:txBody>
      </p:sp>
      <p:sp>
        <p:nvSpPr>
          <p:cNvPr id="341" name="Google Shape;341;p18"/>
          <p:cNvSpPr/>
          <p:nvPr/>
        </p:nvSpPr>
        <p:spPr>
          <a:xfrm>
            <a:off x="548640" y="3977640"/>
            <a:ext cx="3566160" cy="2057400"/>
          </a:xfrm>
          <a:prstGeom prst="roundRect">
            <a:avLst>
              <a:gd fmla="val 6000" name="adj"/>
            </a:avLst>
          </a:prstGeom>
          <a:solidFill>
            <a:srgbClr val="F4F5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2" name="Google Shape;342;p18"/>
          <p:cNvSpPr/>
          <p:nvPr/>
        </p:nvSpPr>
        <p:spPr>
          <a:xfrm>
            <a:off x="548640" y="3977640"/>
            <a:ext cx="73152" cy="2057400"/>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3" name="Google Shape;343;p18"/>
          <p:cNvSpPr txBox="1"/>
          <p:nvPr/>
        </p:nvSpPr>
        <p:spPr>
          <a:xfrm>
            <a:off x="777240" y="4114800"/>
            <a:ext cx="3200400" cy="4572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600" u="none" cap="none" strike="noStrike">
                <a:solidFill>
                  <a:srgbClr val="141B2D"/>
                </a:solidFill>
                <a:latin typeface="Calibri"/>
                <a:ea typeface="Calibri"/>
                <a:cs typeface="Calibri"/>
                <a:sym typeface="Calibri"/>
              </a:rPr>
              <a:t>Security &amp; dependency debt</a:t>
            </a:r>
            <a:endParaRPr/>
          </a:p>
        </p:txBody>
      </p:sp>
      <p:sp>
        <p:nvSpPr>
          <p:cNvPr id="344" name="Google Shape;344;p18"/>
          <p:cNvSpPr txBox="1"/>
          <p:nvPr/>
        </p:nvSpPr>
        <p:spPr>
          <a:xfrm>
            <a:off x="777240" y="4572000"/>
            <a:ext cx="3200400" cy="132588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200" u="none" cap="none" strike="noStrike">
                <a:solidFill>
                  <a:srgbClr val="141B2D"/>
                </a:solidFill>
                <a:latin typeface="Calibri"/>
                <a:ea typeface="Calibri"/>
                <a:cs typeface="Calibri"/>
                <a:sym typeface="Calibri"/>
              </a:rPr>
              <a:t>Patch CVEs across hundreds of repos, rotate deprecated APIs, enforce lint and policy.</a:t>
            </a:r>
            <a:endParaRPr/>
          </a:p>
        </p:txBody>
      </p:sp>
      <p:sp>
        <p:nvSpPr>
          <p:cNvPr id="345" name="Google Shape;345;p18"/>
          <p:cNvSpPr/>
          <p:nvPr/>
        </p:nvSpPr>
        <p:spPr>
          <a:xfrm>
            <a:off x="4297679" y="3977640"/>
            <a:ext cx="3566160" cy="2057400"/>
          </a:xfrm>
          <a:prstGeom prst="roundRect">
            <a:avLst>
              <a:gd fmla="val 6000" name="adj"/>
            </a:avLst>
          </a:prstGeom>
          <a:solidFill>
            <a:srgbClr val="F4F5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6" name="Google Shape;346;p18"/>
          <p:cNvSpPr/>
          <p:nvPr/>
        </p:nvSpPr>
        <p:spPr>
          <a:xfrm>
            <a:off x="4297679" y="3977640"/>
            <a:ext cx="73152" cy="2057400"/>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7" name="Google Shape;347;p18"/>
          <p:cNvSpPr txBox="1"/>
          <p:nvPr/>
        </p:nvSpPr>
        <p:spPr>
          <a:xfrm>
            <a:off x="4526279" y="4114800"/>
            <a:ext cx="3200400" cy="4572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600" u="none" cap="none" strike="noStrike">
                <a:solidFill>
                  <a:srgbClr val="141B2D"/>
                </a:solidFill>
                <a:latin typeface="Calibri"/>
                <a:ea typeface="Calibri"/>
                <a:cs typeface="Calibri"/>
                <a:sym typeface="Calibri"/>
              </a:rPr>
              <a:t>Codebase Q&amp;A &amp; onboarding</a:t>
            </a:r>
            <a:endParaRPr/>
          </a:p>
        </p:txBody>
      </p:sp>
      <p:sp>
        <p:nvSpPr>
          <p:cNvPr id="348" name="Google Shape;348;p18"/>
          <p:cNvSpPr txBox="1"/>
          <p:nvPr/>
        </p:nvSpPr>
        <p:spPr>
          <a:xfrm>
            <a:off x="4526279" y="4572000"/>
            <a:ext cx="3200400" cy="132588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200" u="none" cap="none" strike="noStrike">
                <a:solidFill>
                  <a:srgbClr val="141B2D"/>
                </a:solidFill>
                <a:latin typeface="Calibri"/>
                <a:ea typeface="Calibri"/>
                <a:cs typeface="Calibri"/>
                <a:sym typeface="Calibri"/>
              </a:rPr>
              <a:t>New hires ask Devin instead of interrupting seniors. Docs stay current automatically.</a:t>
            </a:r>
            <a:endParaRPr/>
          </a:p>
        </p:txBody>
      </p:sp>
      <p:sp>
        <p:nvSpPr>
          <p:cNvPr id="349" name="Google Shape;349;p18"/>
          <p:cNvSpPr/>
          <p:nvPr/>
        </p:nvSpPr>
        <p:spPr>
          <a:xfrm>
            <a:off x="8046718" y="3977640"/>
            <a:ext cx="3566160" cy="2057400"/>
          </a:xfrm>
          <a:prstGeom prst="roundRect">
            <a:avLst>
              <a:gd fmla="val 6000" name="adj"/>
            </a:avLst>
          </a:prstGeom>
          <a:solidFill>
            <a:srgbClr val="F4F5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0" name="Google Shape;350;p18"/>
          <p:cNvSpPr/>
          <p:nvPr/>
        </p:nvSpPr>
        <p:spPr>
          <a:xfrm>
            <a:off x="8046718" y="3977640"/>
            <a:ext cx="73152" cy="2057400"/>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1" name="Google Shape;351;p18"/>
          <p:cNvSpPr txBox="1"/>
          <p:nvPr/>
        </p:nvSpPr>
        <p:spPr>
          <a:xfrm>
            <a:off x="8275318" y="4114800"/>
            <a:ext cx="3200400" cy="4572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600" u="none" cap="none" strike="noStrike">
                <a:solidFill>
                  <a:srgbClr val="141B2D"/>
                </a:solidFill>
                <a:latin typeface="Calibri"/>
                <a:ea typeface="Calibri"/>
                <a:cs typeface="Calibri"/>
                <a:sym typeface="Calibri"/>
              </a:rPr>
              <a:t>Internal tools &amp; integrations</a:t>
            </a:r>
            <a:endParaRPr/>
          </a:p>
        </p:txBody>
      </p:sp>
      <p:sp>
        <p:nvSpPr>
          <p:cNvPr id="352" name="Google Shape;352;p18"/>
          <p:cNvSpPr txBox="1"/>
          <p:nvPr/>
        </p:nvSpPr>
        <p:spPr>
          <a:xfrm>
            <a:off x="8275318" y="4572000"/>
            <a:ext cx="3200400" cy="132588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200" u="none" cap="none" strike="noStrike">
                <a:solidFill>
                  <a:srgbClr val="141B2D"/>
                </a:solidFill>
                <a:latin typeface="Calibri"/>
                <a:ea typeface="Calibri"/>
                <a:cs typeface="Calibri"/>
                <a:sym typeface="Calibri"/>
              </a:rPr>
              <a:t>Build the internal dashboards, scripts, and glue code that never make the roadmap.</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7" name="Shape 357"/>
        <p:cNvGrpSpPr/>
        <p:nvPr/>
      </p:nvGrpSpPr>
      <p:grpSpPr>
        <a:xfrm>
          <a:off x="0" y="0"/>
          <a:ext cx="0" cy="0"/>
          <a:chOff x="0" y="0"/>
          <a:chExt cx="0" cy="0"/>
        </a:xfrm>
      </p:grpSpPr>
      <p:sp>
        <p:nvSpPr>
          <p:cNvPr id="358" name="Google Shape;358;p10"/>
          <p:cNvSpPr/>
          <p:nvPr/>
        </p:nvSpPr>
        <p:spPr>
          <a:xfrm>
            <a:off x="0" y="0"/>
            <a:ext cx="12191695" cy="109728"/>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9" name="Google Shape;359;p10"/>
          <p:cNvSpPr txBox="1"/>
          <p:nvPr/>
        </p:nvSpPr>
        <p:spPr>
          <a:xfrm>
            <a:off x="548640" y="411480"/>
            <a:ext cx="7315200" cy="240000"/>
          </a:xfrm>
          <a:prstGeom prst="rect">
            <a:avLst/>
          </a:prstGeom>
          <a:noFill/>
          <a:ln>
            <a:noFill/>
          </a:ln>
        </p:spPr>
        <p:txBody>
          <a:bodyPr anchorCtr="0" anchor="t" bIns="27425" lIns="45700" spcFirstLastPara="1" rIns="45700" wrap="square" tIns="27425">
            <a:spAutoFit/>
          </a:bodyPr>
          <a:lstStyle/>
          <a:p>
            <a:pPr indent="0" lvl="0" marL="0" rtl="0" algn="l">
              <a:spcBef>
                <a:spcPts val="0"/>
              </a:spcBef>
              <a:spcAft>
                <a:spcPts val="0"/>
              </a:spcAft>
              <a:buNone/>
            </a:pPr>
            <a:r>
              <a:rPr b="1" lang="en-US" sz="1200">
                <a:solidFill>
                  <a:srgbClr val="3B82F6"/>
                </a:solidFill>
                <a:latin typeface="Calibri"/>
                <a:ea typeface="Calibri"/>
                <a:cs typeface="Calibri"/>
                <a:sym typeface="Calibri"/>
              </a:rPr>
              <a:t>MEET DEVIN  | E</a:t>
            </a:r>
            <a:r>
              <a:rPr b="1" i="0" lang="en-US" sz="1200" u="none" cap="none" strike="noStrike">
                <a:solidFill>
                  <a:srgbClr val="3B82F6"/>
                </a:solidFill>
                <a:latin typeface="Calibri"/>
                <a:ea typeface="Calibri"/>
                <a:cs typeface="Calibri"/>
                <a:sym typeface="Calibri"/>
              </a:rPr>
              <a:t>NGAGEMENT MODEL</a:t>
            </a:r>
            <a:endParaRPr/>
          </a:p>
        </p:txBody>
      </p:sp>
      <p:sp>
        <p:nvSpPr>
          <p:cNvPr id="360" name="Google Shape;360;p10"/>
          <p:cNvSpPr txBox="1"/>
          <p:nvPr/>
        </p:nvSpPr>
        <p:spPr>
          <a:xfrm>
            <a:off x="548640" y="731520"/>
            <a:ext cx="11155680" cy="9144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3000" u="none" cap="none" strike="noStrike">
                <a:solidFill>
                  <a:srgbClr val="141B2D"/>
                </a:solidFill>
                <a:latin typeface="Calibri"/>
                <a:ea typeface="Calibri"/>
                <a:cs typeface="Calibri"/>
                <a:sym typeface="Calibri"/>
              </a:rPr>
              <a:t>How we serve customers</a:t>
            </a:r>
            <a:endParaRPr/>
          </a:p>
        </p:txBody>
      </p:sp>
      <p:sp>
        <p:nvSpPr>
          <p:cNvPr id="361" name="Google Shape;361;p10"/>
          <p:cNvSpPr txBox="1"/>
          <p:nvPr/>
        </p:nvSpPr>
        <p:spPr>
          <a:xfrm>
            <a:off x="548640" y="6446520"/>
            <a:ext cx="7315200" cy="2094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000" u="none" cap="none" strike="noStrike">
                <a:solidFill>
                  <a:srgbClr val="6B7280"/>
                </a:solidFill>
                <a:latin typeface="Calibri"/>
                <a:ea typeface="Calibri"/>
                <a:cs typeface="Calibri"/>
                <a:sym typeface="Calibri"/>
              </a:rPr>
              <a:t>Cognition  |  Devin </a:t>
            </a:r>
            <a:endParaRPr/>
          </a:p>
        </p:txBody>
      </p:sp>
      <p:sp>
        <p:nvSpPr>
          <p:cNvPr id="362" name="Google Shape;362;p10"/>
          <p:cNvSpPr txBox="1"/>
          <p:nvPr/>
        </p:nvSpPr>
        <p:spPr>
          <a:xfrm>
            <a:off x="10789920" y="6446520"/>
            <a:ext cx="914400" cy="274320"/>
          </a:xfrm>
          <a:prstGeom prst="rect">
            <a:avLst/>
          </a:prstGeom>
          <a:noFill/>
          <a:ln>
            <a:noFill/>
          </a:ln>
        </p:spPr>
        <p:txBody>
          <a:bodyPr anchorCtr="0" anchor="t" bIns="27425" lIns="45700" spcFirstLastPara="1" rIns="45700" wrap="square" tIns="27425">
            <a:spAutoFit/>
          </a:bodyPr>
          <a:lstStyle/>
          <a:p>
            <a:pPr indent="0" lvl="0" marL="0" marR="0" rtl="0" algn="r">
              <a:spcBef>
                <a:spcPts val="0"/>
              </a:spcBef>
              <a:spcAft>
                <a:spcPts val="0"/>
              </a:spcAft>
              <a:buNone/>
            </a:pPr>
            <a:r>
              <a:rPr b="0" i="0" lang="en-US" sz="1000" u="none" cap="none" strike="noStrike">
                <a:solidFill>
                  <a:srgbClr val="6B7280"/>
                </a:solidFill>
                <a:latin typeface="Calibri"/>
                <a:ea typeface="Calibri"/>
                <a:cs typeface="Calibri"/>
                <a:sym typeface="Calibri"/>
              </a:rPr>
              <a:t>10</a:t>
            </a:r>
            <a:endParaRPr/>
          </a:p>
        </p:txBody>
      </p:sp>
      <p:sp>
        <p:nvSpPr>
          <p:cNvPr id="363" name="Google Shape;363;p10"/>
          <p:cNvSpPr/>
          <p:nvPr/>
        </p:nvSpPr>
        <p:spPr>
          <a:xfrm>
            <a:off x="548640" y="1828800"/>
            <a:ext cx="2697480" cy="2377440"/>
          </a:xfrm>
          <a:prstGeom prst="roundRect">
            <a:avLst>
              <a:gd fmla="val 16667" name="adj"/>
            </a:avLst>
          </a:prstGeom>
          <a:solidFill>
            <a:srgbClr val="F4F5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4" name="Google Shape;364;p10"/>
          <p:cNvSpPr/>
          <p:nvPr/>
        </p:nvSpPr>
        <p:spPr>
          <a:xfrm>
            <a:off x="548640" y="1828800"/>
            <a:ext cx="2697480" cy="91440"/>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5" name="Google Shape;365;p10"/>
          <p:cNvSpPr txBox="1"/>
          <p:nvPr/>
        </p:nvSpPr>
        <p:spPr>
          <a:xfrm>
            <a:off x="731520" y="2057400"/>
            <a:ext cx="2377440" cy="4572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700" u="none" cap="none" strike="noStrike">
                <a:solidFill>
                  <a:srgbClr val="141B2D"/>
                </a:solidFill>
                <a:latin typeface="Calibri"/>
                <a:ea typeface="Calibri"/>
                <a:cs typeface="Calibri"/>
                <a:sym typeface="Calibri"/>
              </a:rPr>
              <a:t>1. Scope</a:t>
            </a:r>
            <a:endParaRPr/>
          </a:p>
        </p:txBody>
      </p:sp>
      <p:sp>
        <p:nvSpPr>
          <p:cNvPr id="366" name="Google Shape;366;p10"/>
          <p:cNvSpPr txBox="1"/>
          <p:nvPr/>
        </p:nvSpPr>
        <p:spPr>
          <a:xfrm>
            <a:off x="731520" y="2560320"/>
            <a:ext cx="2377440" cy="155448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300" u="none" cap="none" strike="noStrike">
                <a:solidFill>
                  <a:srgbClr val="141B2D"/>
                </a:solidFill>
                <a:latin typeface="Calibri"/>
                <a:ea typeface="Calibri"/>
                <a:cs typeface="Calibri"/>
                <a:sym typeface="Calibri"/>
              </a:rPr>
              <a:t>Identify 2-3 high-volume, well-specified task types (migrations, test coverage, bug fixes).</a:t>
            </a:r>
            <a:endParaRPr/>
          </a:p>
        </p:txBody>
      </p:sp>
      <p:sp>
        <p:nvSpPr>
          <p:cNvPr id="367" name="Google Shape;367;p10"/>
          <p:cNvSpPr/>
          <p:nvPr/>
        </p:nvSpPr>
        <p:spPr>
          <a:xfrm>
            <a:off x="3429000" y="1828800"/>
            <a:ext cx="2697480" cy="2377440"/>
          </a:xfrm>
          <a:prstGeom prst="roundRect">
            <a:avLst>
              <a:gd fmla="val 16667" name="adj"/>
            </a:avLst>
          </a:prstGeom>
          <a:solidFill>
            <a:srgbClr val="F4F5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8" name="Google Shape;368;p10"/>
          <p:cNvSpPr/>
          <p:nvPr/>
        </p:nvSpPr>
        <p:spPr>
          <a:xfrm>
            <a:off x="3429000" y="1828800"/>
            <a:ext cx="2697480" cy="91440"/>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9" name="Google Shape;369;p10"/>
          <p:cNvSpPr txBox="1"/>
          <p:nvPr/>
        </p:nvSpPr>
        <p:spPr>
          <a:xfrm>
            <a:off x="3611880" y="2057400"/>
            <a:ext cx="2377440" cy="4572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700" u="none" cap="none" strike="noStrike">
                <a:solidFill>
                  <a:srgbClr val="141B2D"/>
                </a:solidFill>
                <a:latin typeface="Calibri"/>
                <a:ea typeface="Calibri"/>
                <a:cs typeface="Calibri"/>
                <a:sym typeface="Calibri"/>
              </a:rPr>
              <a:t>2. Connect</a:t>
            </a:r>
            <a:endParaRPr/>
          </a:p>
        </p:txBody>
      </p:sp>
      <p:sp>
        <p:nvSpPr>
          <p:cNvPr id="370" name="Google Shape;370;p10"/>
          <p:cNvSpPr txBox="1"/>
          <p:nvPr/>
        </p:nvSpPr>
        <p:spPr>
          <a:xfrm>
            <a:off x="3611880" y="2560320"/>
            <a:ext cx="2377440" cy="155448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300" u="none" cap="none" strike="noStrike">
                <a:solidFill>
                  <a:srgbClr val="141B2D"/>
                </a:solidFill>
                <a:latin typeface="Calibri"/>
                <a:ea typeface="Calibri"/>
                <a:cs typeface="Calibri"/>
                <a:sym typeface="Calibri"/>
              </a:rPr>
              <a:t>Integrate with GitHub/GitLab, Slack, Jira. Configure Devin's environment and Knowledge.</a:t>
            </a:r>
            <a:endParaRPr/>
          </a:p>
        </p:txBody>
      </p:sp>
      <p:sp>
        <p:nvSpPr>
          <p:cNvPr id="371" name="Google Shape;371;p10"/>
          <p:cNvSpPr/>
          <p:nvPr/>
        </p:nvSpPr>
        <p:spPr>
          <a:xfrm>
            <a:off x="6309360" y="1828800"/>
            <a:ext cx="2697480" cy="2377440"/>
          </a:xfrm>
          <a:prstGeom prst="roundRect">
            <a:avLst>
              <a:gd fmla="val 16667" name="adj"/>
            </a:avLst>
          </a:prstGeom>
          <a:solidFill>
            <a:srgbClr val="F4F5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2" name="Google Shape;372;p10"/>
          <p:cNvSpPr/>
          <p:nvPr/>
        </p:nvSpPr>
        <p:spPr>
          <a:xfrm>
            <a:off x="6309360" y="1828800"/>
            <a:ext cx="2697480" cy="91440"/>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3" name="Google Shape;373;p10"/>
          <p:cNvSpPr txBox="1"/>
          <p:nvPr/>
        </p:nvSpPr>
        <p:spPr>
          <a:xfrm>
            <a:off x="6492240" y="2057400"/>
            <a:ext cx="2377440" cy="4572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700" u="none" cap="none" strike="noStrike">
                <a:solidFill>
                  <a:srgbClr val="141B2D"/>
                </a:solidFill>
                <a:latin typeface="Calibri"/>
                <a:ea typeface="Calibri"/>
                <a:cs typeface="Calibri"/>
                <a:sym typeface="Calibri"/>
              </a:rPr>
              <a:t>3. Pilot</a:t>
            </a:r>
            <a:endParaRPr/>
          </a:p>
        </p:txBody>
      </p:sp>
      <p:sp>
        <p:nvSpPr>
          <p:cNvPr id="374" name="Google Shape;374;p10"/>
          <p:cNvSpPr txBox="1"/>
          <p:nvPr/>
        </p:nvSpPr>
        <p:spPr>
          <a:xfrm>
            <a:off x="6492240" y="2560320"/>
            <a:ext cx="2377440" cy="155448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300" u="none" cap="none" strike="noStrike">
                <a:solidFill>
                  <a:srgbClr val="141B2D"/>
                </a:solidFill>
                <a:latin typeface="Calibri"/>
                <a:ea typeface="Calibri"/>
                <a:cs typeface="Calibri"/>
                <a:sym typeface="Calibri"/>
              </a:rPr>
              <a:t>Run 4-8 weeks with a champion team. Measure PRs merged, cycle time, hours saved.</a:t>
            </a:r>
            <a:endParaRPr/>
          </a:p>
        </p:txBody>
      </p:sp>
      <p:sp>
        <p:nvSpPr>
          <p:cNvPr id="375" name="Google Shape;375;p10"/>
          <p:cNvSpPr/>
          <p:nvPr/>
        </p:nvSpPr>
        <p:spPr>
          <a:xfrm>
            <a:off x="9189720" y="1828800"/>
            <a:ext cx="2697480" cy="2377440"/>
          </a:xfrm>
          <a:prstGeom prst="roundRect">
            <a:avLst>
              <a:gd fmla="val 16667" name="adj"/>
            </a:avLst>
          </a:prstGeom>
          <a:solidFill>
            <a:srgbClr val="F4F5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6" name="Google Shape;376;p10"/>
          <p:cNvSpPr/>
          <p:nvPr/>
        </p:nvSpPr>
        <p:spPr>
          <a:xfrm>
            <a:off x="9189720" y="1828800"/>
            <a:ext cx="2697480" cy="91440"/>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7" name="Google Shape;377;p10"/>
          <p:cNvSpPr txBox="1"/>
          <p:nvPr/>
        </p:nvSpPr>
        <p:spPr>
          <a:xfrm>
            <a:off x="9372600" y="2057400"/>
            <a:ext cx="2377440" cy="4572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700" u="none" cap="none" strike="noStrike">
                <a:solidFill>
                  <a:srgbClr val="141B2D"/>
                </a:solidFill>
                <a:latin typeface="Calibri"/>
                <a:ea typeface="Calibri"/>
                <a:cs typeface="Calibri"/>
                <a:sym typeface="Calibri"/>
              </a:rPr>
              <a:t>4. Expand</a:t>
            </a:r>
            <a:endParaRPr/>
          </a:p>
        </p:txBody>
      </p:sp>
      <p:sp>
        <p:nvSpPr>
          <p:cNvPr id="378" name="Google Shape;378;p10"/>
          <p:cNvSpPr txBox="1"/>
          <p:nvPr/>
        </p:nvSpPr>
        <p:spPr>
          <a:xfrm>
            <a:off x="9372600" y="2560320"/>
            <a:ext cx="2377440" cy="155448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300" u="none" cap="none" strike="noStrike">
                <a:solidFill>
                  <a:srgbClr val="141B2D"/>
                </a:solidFill>
                <a:latin typeface="Calibri"/>
                <a:ea typeface="Calibri"/>
                <a:cs typeface="Calibri"/>
                <a:sym typeface="Calibri"/>
              </a:rPr>
              <a:t>Roll out playbooks and automations org-wide. Enterprise controls, SSO, VPC.</a:t>
            </a:r>
            <a:endParaRPr/>
          </a:p>
        </p:txBody>
      </p:sp>
      <p:sp>
        <p:nvSpPr>
          <p:cNvPr id="379" name="Google Shape;379;p10"/>
          <p:cNvSpPr txBox="1"/>
          <p:nvPr/>
        </p:nvSpPr>
        <p:spPr>
          <a:xfrm>
            <a:off x="548640" y="4572000"/>
            <a:ext cx="10972800" cy="36576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400" u="none" cap="none" strike="noStrike">
                <a:solidFill>
                  <a:srgbClr val="3B82F6"/>
                </a:solidFill>
                <a:latin typeface="Calibri"/>
                <a:ea typeface="Calibri"/>
                <a:cs typeface="Calibri"/>
                <a:sym typeface="Calibri"/>
              </a:rPr>
              <a:t>What you get from Cognition</a:t>
            </a:r>
            <a:endParaRPr/>
          </a:p>
        </p:txBody>
      </p:sp>
      <p:sp>
        <p:nvSpPr>
          <p:cNvPr id="380" name="Google Shape;380;p10"/>
          <p:cNvSpPr txBox="1"/>
          <p:nvPr/>
        </p:nvSpPr>
        <p:spPr>
          <a:xfrm>
            <a:off x="548640" y="4937760"/>
            <a:ext cx="10972800" cy="13716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1400" u="none" cap="none" strike="noStrike">
                <a:solidFill>
                  <a:srgbClr val="3B82F6"/>
                </a:solidFill>
                <a:latin typeface="Calibri"/>
                <a:ea typeface="Calibri"/>
                <a:cs typeface="Calibri"/>
                <a:sym typeface="Calibri"/>
              </a:rPr>
              <a:t>▪  </a:t>
            </a:r>
            <a:r>
              <a:rPr b="0" i="0" lang="en-US" sz="1400" u="none" cap="none" strike="noStrike">
                <a:solidFill>
                  <a:srgbClr val="141B2D"/>
                </a:solidFill>
                <a:latin typeface="Calibri"/>
                <a:ea typeface="Calibri"/>
                <a:cs typeface="Calibri"/>
                <a:sym typeface="Calibri"/>
              </a:rPr>
              <a:t>Dedicated forward-deployed engineering during onboarding; we learn your codebase alongside Devin.</a:t>
            </a:r>
            <a:endParaRPr/>
          </a:p>
          <a:p>
            <a:pPr indent="0" lvl="0" marL="0" marR="0" rtl="0" algn="l">
              <a:spcBef>
                <a:spcPts val="600"/>
              </a:spcBef>
              <a:spcAft>
                <a:spcPts val="0"/>
              </a:spcAft>
              <a:buNone/>
            </a:pPr>
            <a:r>
              <a:rPr b="0" i="0" lang="en-US" sz="1400" u="none" cap="none" strike="noStrike">
                <a:solidFill>
                  <a:srgbClr val="3B82F6"/>
                </a:solidFill>
                <a:latin typeface="Calibri"/>
                <a:ea typeface="Calibri"/>
                <a:cs typeface="Calibri"/>
                <a:sym typeface="Calibri"/>
              </a:rPr>
              <a:t>▪  </a:t>
            </a:r>
            <a:r>
              <a:rPr b="0" i="0" lang="en-US" sz="1400" u="none" cap="none" strike="noStrike">
                <a:solidFill>
                  <a:srgbClr val="141B2D"/>
                </a:solidFill>
                <a:latin typeface="Calibri"/>
                <a:ea typeface="Calibri"/>
                <a:cs typeface="Calibri"/>
                <a:sym typeface="Calibri"/>
              </a:rPr>
              <a:t>Success metrics agreed up front and reported throughout the pilot.</a:t>
            </a:r>
            <a:endParaRPr/>
          </a:p>
          <a:p>
            <a:pPr indent="0" lvl="0" marL="0" marR="0" rtl="0" algn="l">
              <a:spcBef>
                <a:spcPts val="600"/>
              </a:spcBef>
              <a:spcAft>
                <a:spcPts val="0"/>
              </a:spcAft>
              <a:buNone/>
            </a:pPr>
            <a:r>
              <a:rPr b="0" i="0" lang="en-US" sz="1400" u="none" cap="none" strike="noStrike">
                <a:solidFill>
                  <a:srgbClr val="3B82F6"/>
                </a:solidFill>
                <a:latin typeface="Calibri"/>
                <a:ea typeface="Calibri"/>
                <a:cs typeface="Calibri"/>
                <a:sym typeface="Calibri"/>
              </a:rPr>
              <a:t>▪  </a:t>
            </a:r>
            <a:r>
              <a:rPr b="0" i="0" lang="en-US" sz="1400" u="none" cap="none" strike="noStrike">
                <a:solidFill>
                  <a:srgbClr val="141B2D"/>
                </a:solidFill>
                <a:latin typeface="Calibri"/>
                <a:ea typeface="Calibri"/>
                <a:cs typeface="Calibri"/>
                <a:sym typeface="Calibri"/>
              </a:rPr>
              <a:t>Enterprise support, security documentation, and a shared roadmap channel.</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226"/>
        </a:solidFill>
      </p:bgPr>
    </p:bg>
    <p:spTree>
      <p:nvGrpSpPr>
        <p:cNvPr id="384" name="Shape 384"/>
        <p:cNvGrpSpPr/>
        <p:nvPr/>
      </p:nvGrpSpPr>
      <p:grpSpPr>
        <a:xfrm>
          <a:off x="0" y="0"/>
          <a:ext cx="0" cy="0"/>
          <a:chOff x="0" y="0"/>
          <a:chExt cx="0" cy="0"/>
        </a:xfrm>
      </p:grpSpPr>
      <p:sp>
        <p:nvSpPr>
          <p:cNvPr id="385" name="Google Shape;385;p19"/>
          <p:cNvSpPr txBox="1"/>
          <p:nvPr/>
        </p:nvSpPr>
        <p:spPr>
          <a:xfrm>
            <a:off x="822960" y="2377440"/>
            <a:ext cx="3657600" cy="4572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600" u="none" cap="none" strike="noStrike">
                <a:solidFill>
                  <a:srgbClr val="3B82F6"/>
                </a:solidFill>
                <a:latin typeface="Calibri"/>
                <a:ea typeface="Calibri"/>
                <a:cs typeface="Calibri"/>
                <a:sym typeface="Calibri"/>
              </a:rPr>
              <a:t>SECTION 05</a:t>
            </a:r>
            <a:endParaRPr/>
          </a:p>
        </p:txBody>
      </p:sp>
      <p:sp>
        <p:nvSpPr>
          <p:cNvPr id="386" name="Google Shape;386;p19"/>
          <p:cNvSpPr txBox="1"/>
          <p:nvPr/>
        </p:nvSpPr>
        <p:spPr>
          <a:xfrm>
            <a:off x="822960" y="2834640"/>
            <a:ext cx="10058400" cy="109728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4800" u="none" cap="none" strike="noStrike">
                <a:solidFill>
                  <a:srgbClr val="FFFFFF"/>
                </a:solidFill>
                <a:latin typeface="Calibri"/>
                <a:ea typeface="Calibri"/>
                <a:cs typeface="Calibri"/>
                <a:sym typeface="Calibri"/>
              </a:rPr>
              <a:t>Customer Impact</a:t>
            </a:r>
            <a:endParaRPr/>
          </a:p>
        </p:txBody>
      </p:sp>
      <p:sp>
        <p:nvSpPr>
          <p:cNvPr id="387" name="Google Shape;387;p19"/>
          <p:cNvSpPr txBox="1"/>
          <p:nvPr/>
        </p:nvSpPr>
        <p:spPr>
          <a:xfrm>
            <a:off x="822960" y="3840480"/>
            <a:ext cx="10058400" cy="73152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2200" u="none" cap="none" strike="noStrike">
                <a:solidFill>
                  <a:srgbClr val="D9DDE5"/>
                </a:solidFill>
                <a:latin typeface="Calibri"/>
                <a:ea typeface="Calibri"/>
                <a:cs typeface="Calibri"/>
                <a:sym typeface="Calibri"/>
              </a:rPr>
              <a:t>Stories and measurable outcomes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226"/>
        </a:solidFill>
      </p:bgPr>
    </p:bg>
    <p:spTree>
      <p:nvGrpSpPr>
        <p:cNvPr id="392" name="Shape 392"/>
        <p:cNvGrpSpPr/>
        <p:nvPr/>
      </p:nvGrpSpPr>
      <p:grpSpPr>
        <a:xfrm>
          <a:off x="0" y="0"/>
          <a:ext cx="0" cy="0"/>
          <a:chOff x="0" y="0"/>
          <a:chExt cx="0" cy="0"/>
        </a:xfrm>
      </p:grpSpPr>
      <p:sp>
        <p:nvSpPr>
          <p:cNvPr id="393" name="Google Shape;393;p20"/>
          <p:cNvSpPr/>
          <p:nvPr/>
        </p:nvSpPr>
        <p:spPr>
          <a:xfrm>
            <a:off x="0" y="0"/>
            <a:ext cx="12191695" cy="109728"/>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94" name="Google Shape;394;p20"/>
          <p:cNvSpPr txBox="1"/>
          <p:nvPr/>
        </p:nvSpPr>
        <p:spPr>
          <a:xfrm>
            <a:off x="548640" y="411480"/>
            <a:ext cx="7315200" cy="36576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200" u="none" cap="none" strike="noStrike">
                <a:solidFill>
                  <a:srgbClr val="3B82F6"/>
                </a:solidFill>
                <a:latin typeface="Calibri"/>
                <a:ea typeface="Calibri"/>
                <a:cs typeface="Calibri"/>
                <a:sym typeface="Calibri"/>
              </a:rPr>
              <a:t>CUSTOMER STORY  |  FINANCIAL SERVICES</a:t>
            </a:r>
            <a:endParaRPr/>
          </a:p>
        </p:txBody>
      </p:sp>
      <p:sp>
        <p:nvSpPr>
          <p:cNvPr id="395" name="Google Shape;395;p20"/>
          <p:cNvSpPr txBox="1"/>
          <p:nvPr/>
        </p:nvSpPr>
        <p:spPr>
          <a:xfrm>
            <a:off x="548640" y="731520"/>
            <a:ext cx="11155680" cy="9144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3000" u="none" cap="none" strike="noStrike">
                <a:solidFill>
                  <a:srgbClr val="FFFFFF"/>
                </a:solidFill>
                <a:latin typeface="Calibri"/>
                <a:ea typeface="Calibri"/>
                <a:cs typeface="Calibri"/>
                <a:sym typeface="Calibri"/>
              </a:rPr>
              <a:t>Nubank: a multi-year migration in months</a:t>
            </a:r>
            <a:endParaRPr/>
          </a:p>
        </p:txBody>
      </p:sp>
      <p:sp>
        <p:nvSpPr>
          <p:cNvPr id="396" name="Google Shape;396;p20"/>
          <p:cNvSpPr txBox="1"/>
          <p:nvPr/>
        </p:nvSpPr>
        <p:spPr>
          <a:xfrm>
            <a:off x="548640" y="6446520"/>
            <a:ext cx="7315200" cy="27432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000" u="none" cap="none" strike="noStrike">
                <a:solidFill>
                  <a:srgbClr val="6B7280"/>
                </a:solidFill>
                <a:latin typeface="Calibri"/>
                <a:ea typeface="Calibri"/>
                <a:cs typeface="Calibri"/>
                <a:sym typeface="Calibri"/>
              </a:rPr>
              <a:t>Cognition  |  Devin Discovery</a:t>
            </a:r>
            <a:endParaRPr/>
          </a:p>
        </p:txBody>
      </p:sp>
      <p:sp>
        <p:nvSpPr>
          <p:cNvPr id="397" name="Google Shape;397;p20"/>
          <p:cNvSpPr txBox="1"/>
          <p:nvPr/>
        </p:nvSpPr>
        <p:spPr>
          <a:xfrm>
            <a:off x="10789920" y="6446520"/>
            <a:ext cx="914400" cy="274320"/>
          </a:xfrm>
          <a:prstGeom prst="rect">
            <a:avLst/>
          </a:prstGeom>
          <a:noFill/>
          <a:ln>
            <a:noFill/>
          </a:ln>
        </p:spPr>
        <p:txBody>
          <a:bodyPr anchorCtr="0" anchor="t" bIns="27425" lIns="45700" spcFirstLastPara="1" rIns="45700" wrap="square" tIns="27425">
            <a:spAutoFit/>
          </a:bodyPr>
          <a:lstStyle/>
          <a:p>
            <a:pPr indent="0" lvl="0" marL="0" marR="0" rtl="0" algn="r">
              <a:spcBef>
                <a:spcPts val="0"/>
              </a:spcBef>
              <a:spcAft>
                <a:spcPts val="0"/>
              </a:spcAft>
              <a:buNone/>
            </a:pPr>
            <a:r>
              <a:rPr b="0" i="0" lang="en-US" sz="1000" u="none" cap="none" strike="noStrike">
                <a:solidFill>
                  <a:srgbClr val="6B7280"/>
                </a:solidFill>
                <a:latin typeface="Calibri"/>
                <a:ea typeface="Calibri"/>
                <a:cs typeface="Calibri"/>
                <a:sym typeface="Calibri"/>
              </a:rPr>
              <a:t>20</a:t>
            </a:r>
            <a:endParaRPr/>
          </a:p>
        </p:txBody>
      </p:sp>
      <p:sp>
        <p:nvSpPr>
          <p:cNvPr id="398" name="Google Shape;398;p20"/>
          <p:cNvSpPr txBox="1"/>
          <p:nvPr/>
        </p:nvSpPr>
        <p:spPr>
          <a:xfrm>
            <a:off x="548640" y="1737360"/>
            <a:ext cx="5852160" cy="438912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400" u="none" cap="none" strike="noStrike">
                <a:solidFill>
                  <a:srgbClr val="D9DDE5"/>
                </a:solidFill>
                <a:latin typeface="Calibri"/>
                <a:ea typeface="Calibri"/>
                <a:cs typeface="Calibri"/>
                <a:sym typeface="Calibri"/>
              </a:rPr>
              <a:t>Challenge</a:t>
            </a:r>
            <a:endParaRPr/>
          </a:p>
          <a:p>
            <a:pPr indent="0" lvl="0" marL="0" marR="0" rtl="0" algn="l">
              <a:spcBef>
                <a:spcPts val="0"/>
              </a:spcBef>
              <a:spcAft>
                <a:spcPts val="0"/>
              </a:spcAft>
              <a:buNone/>
            </a:pPr>
            <a:r>
              <a:rPr b="0" i="0" lang="en-US" sz="1400" u="none" cap="none" strike="noStrike">
                <a:solidFill>
                  <a:srgbClr val="D9DDE5"/>
                </a:solidFill>
                <a:latin typeface="Calibri"/>
                <a:ea typeface="Calibri"/>
                <a:cs typeface="Calibri"/>
                <a:sym typeface="Calibri"/>
              </a:rPr>
              <a:t>One of the world's largest digital banks needed to migrate a critical ETL codebase spanning millions of lines. Estimated at 1,000+ engineer-weeks of repetitive, high-risk work.</a:t>
            </a:r>
            <a:endParaRPr/>
          </a:p>
          <a:p>
            <a:pPr indent="0" lvl="0" marL="0" marR="0" rtl="0" algn="l">
              <a:spcBef>
                <a:spcPts val="0"/>
              </a:spcBef>
              <a:spcAft>
                <a:spcPts val="0"/>
              </a:spcAft>
              <a:buNone/>
            </a:pPr>
            <a:r>
              <a:t/>
            </a:r>
            <a:endParaRPr b="0" i="0" sz="1400" u="none" cap="none" strike="noStrike">
              <a:solidFill>
                <a:srgbClr val="D9DDE5"/>
              </a:solidFill>
              <a:latin typeface="Calibri"/>
              <a:ea typeface="Calibri"/>
              <a:cs typeface="Calibri"/>
              <a:sym typeface="Calibri"/>
            </a:endParaRPr>
          </a:p>
          <a:p>
            <a:pPr indent="0" lvl="0" marL="0" marR="0" rtl="0" algn="l">
              <a:spcBef>
                <a:spcPts val="0"/>
              </a:spcBef>
              <a:spcAft>
                <a:spcPts val="0"/>
              </a:spcAft>
              <a:buNone/>
            </a:pPr>
            <a:r>
              <a:rPr b="0" i="0" lang="en-US" sz="1400" u="none" cap="none" strike="noStrike">
                <a:solidFill>
                  <a:srgbClr val="D9DDE5"/>
                </a:solidFill>
                <a:latin typeface="Calibri"/>
                <a:ea typeface="Calibri"/>
                <a:cs typeface="Calibri"/>
                <a:sym typeface="Calibri"/>
              </a:rPr>
              <a:t>Approach</a:t>
            </a:r>
            <a:endParaRPr/>
          </a:p>
          <a:p>
            <a:pPr indent="0" lvl="0" marL="0" marR="0" rtl="0" algn="l">
              <a:spcBef>
                <a:spcPts val="0"/>
              </a:spcBef>
              <a:spcAft>
                <a:spcPts val="0"/>
              </a:spcAft>
              <a:buNone/>
            </a:pPr>
            <a:r>
              <a:rPr b="0" i="0" lang="en-US" sz="1400" u="none" cap="none" strike="noStrike">
                <a:solidFill>
                  <a:srgbClr val="D9DDE5"/>
                </a:solidFill>
                <a:latin typeface="Calibri"/>
                <a:ea typeface="Calibri"/>
                <a:cs typeface="Calibri"/>
                <a:sym typeface="Calibri"/>
              </a:rPr>
              <a:t>Cognition's team and Nubank engineers ran many Devins in parallel against the migration, with humans reviewing and merging every PR.</a:t>
            </a:r>
            <a:endParaRPr/>
          </a:p>
          <a:p>
            <a:pPr indent="0" lvl="0" marL="0" marR="0" rtl="0" algn="l">
              <a:spcBef>
                <a:spcPts val="0"/>
              </a:spcBef>
              <a:spcAft>
                <a:spcPts val="0"/>
              </a:spcAft>
              <a:buNone/>
            </a:pPr>
            <a:r>
              <a:t/>
            </a:r>
            <a:endParaRPr b="0" i="0" sz="1400" u="none" cap="none" strike="noStrike">
              <a:solidFill>
                <a:srgbClr val="D9DDE5"/>
              </a:solidFill>
              <a:latin typeface="Calibri"/>
              <a:ea typeface="Calibri"/>
              <a:cs typeface="Calibri"/>
              <a:sym typeface="Calibri"/>
            </a:endParaRPr>
          </a:p>
          <a:p>
            <a:pPr indent="0" lvl="0" marL="0" marR="0" rtl="0" algn="l">
              <a:spcBef>
                <a:spcPts val="0"/>
              </a:spcBef>
              <a:spcAft>
                <a:spcPts val="0"/>
              </a:spcAft>
              <a:buNone/>
            </a:pPr>
            <a:r>
              <a:rPr b="0" i="0" lang="en-US" sz="1400" u="none" cap="none" strike="noStrike">
                <a:solidFill>
                  <a:srgbClr val="D9DDE5"/>
                </a:solidFill>
                <a:latin typeface="Calibri"/>
                <a:ea typeface="Calibri"/>
                <a:cs typeface="Calibri"/>
                <a:sym typeface="Calibri"/>
              </a:rPr>
              <a:t>Outcome</a:t>
            </a:r>
            <a:endParaRPr/>
          </a:p>
          <a:p>
            <a:pPr indent="0" lvl="0" marL="0" marR="0" rtl="0" algn="l">
              <a:spcBef>
                <a:spcPts val="0"/>
              </a:spcBef>
              <a:spcAft>
                <a:spcPts val="0"/>
              </a:spcAft>
              <a:buNone/>
            </a:pPr>
            <a:r>
              <a:rPr b="0" i="0" lang="en-US" sz="1400" u="none" cap="none" strike="noStrike">
                <a:solidFill>
                  <a:srgbClr val="D9DDE5"/>
                </a:solidFill>
                <a:latin typeface="Calibri"/>
                <a:ea typeface="Calibri"/>
                <a:cs typeface="Calibri"/>
                <a:sym typeface="Calibri"/>
              </a:rPr>
              <a:t>Migration completed in a fraction of the projected time, with human engineers redeployed to customer-facing work.</a:t>
            </a:r>
            <a:endParaRPr/>
          </a:p>
        </p:txBody>
      </p:sp>
      <p:sp>
        <p:nvSpPr>
          <p:cNvPr id="399" name="Google Shape;399;p20"/>
          <p:cNvSpPr txBox="1"/>
          <p:nvPr/>
        </p:nvSpPr>
        <p:spPr>
          <a:xfrm>
            <a:off x="6766560" y="1920240"/>
            <a:ext cx="2468880" cy="822960"/>
          </a:xfrm>
          <a:prstGeom prst="rect">
            <a:avLst/>
          </a:prstGeom>
          <a:noFill/>
          <a:ln>
            <a:noFill/>
          </a:ln>
        </p:spPr>
        <p:txBody>
          <a:bodyPr anchorCtr="0" anchor="t" bIns="27425" lIns="45700" spcFirstLastPara="1" rIns="45700" wrap="square" tIns="27425">
            <a:spAutoFit/>
          </a:bodyPr>
          <a:lstStyle/>
          <a:p>
            <a:pPr indent="0" lvl="0" marL="0" marR="0" rtl="0" algn="ctr">
              <a:spcBef>
                <a:spcPts val="0"/>
              </a:spcBef>
              <a:spcAft>
                <a:spcPts val="0"/>
              </a:spcAft>
              <a:buNone/>
            </a:pPr>
            <a:r>
              <a:rPr b="1" i="0" lang="en-US" sz="4400" u="none" cap="none" strike="noStrike">
                <a:solidFill>
                  <a:srgbClr val="22C55E"/>
                </a:solidFill>
                <a:latin typeface="Calibri"/>
                <a:ea typeface="Calibri"/>
                <a:cs typeface="Calibri"/>
                <a:sym typeface="Calibri"/>
              </a:rPr>
              <a:t>12x</a:t>
            </a:r>
            <a:endParaRPr/>
          </a:p>
        </p:txBody>
      </p:sp>
      <p:sp>
        <p:nvSpPr>
          <p:cNvPr id="400" name="Google Shape;400;p20"/>
          <p:cNvSpPr txBox="1"/>
          <p:nvPr/>
        </p:nvSpPr>
        <p:spPr>
          <a:xfrm>
            <a:off x="6766560" y="2743200"/>
            <a:ext cx="2468880" cy="731520"/>
          </a:xfrm>
          <a:prstGeom prst="rect">
            <a:avLst/>
          </a:prstGeom>
          <a:noFill/>
          <a:ln>
            <a:noFill/>
          </a:ln>
        </p:spPr>
        <p:txBody>
          <a:bodyPr anchorCtr="0" anchor="t" bIns="27425" lIns="45700" spcFirstLastPara="1" rIns="45700" wrap="square" tIns="27425">
            <a:spAutoFit/>
          </a:bodyPr>
          <a:lstStyle/>
          <a:p>
            <a:pPr indent="0" lvl="0" marL="0" marR="0" rtl="0" algn="ctr">
              <a:spcBef>
                <a:spcPts val="0"/>
              </a:spcBef>
              <a:spcAft>
                <a:spcPts val="0"/>
              </a:spcAft>
              <a:buNone/>
            </a:pPr>
            <a:r>
              <a:rPr b="0" i="0" lang="en-US" sz="1300" u="none" cap="none" strike="noStrike">
                <a:solidFill>
                  <a:srgbClr val="D9DDE5"/>
                </a:solidFill>
                <a:latin typeface="Calibri"/>
                <a:ea typeface="Calibri"/>
                <a:cs typeface="Calibri"/>
                <a:sym typeface="Calibri"/>
              </a:rPr>
              <a:t>efficiency improvement vs. manual migration</a:t>
            </a:r>
            <a:endParaRPr/>
          </a:p>
        </p:txBody>
      </p:sp>
      <p:sp>
        <p:nvSpPr>
          <p:cNvPr id="401" name="Google Shape;401;p20"/>
          <p:cNvSpPr txBox="1"/>
          <p:nvPr/>
        </p:nvSpPr>
        <p:spPr>
          <a:xfrm>
            <a:off x="9235440" y="1920240"/>
            <a:ext cx="2468880" cy="822960"/>
          </a:xfrm>
          <a:prstGeom prst="rect">
            <a:avLst/>
          </a:prstGeom>
          <a:noFill/>
          <a:ln>
            <a:noFill/>
          </a:ln>
        </p:spPr>
        <p:txBody>
          <a:bodyPr anchorCtr="0" anchor="t" bIns="27425" lIns="45700" spcFirstLastPara="1" rIns="45700" wrap="square" tIns="27425">
            <a:spAutoFit/>
          </a:bodyPr>
          <a:lstStyle/>
          <a:p>
            <a:pPr indent="0" lvl="0" marL="0" marR="0" rtl="0" algn="ctr">
              <a:spcBef>
                <a:spcPts val="0"/>
              </a:spcBef>
              <a:spcAft>
                <a:spcPts val="0"/>
              </a:spcAft>
              <a:buNone/>
            </a:pPr>
            <a:r>
              <a:rPr b="1" i="0" lang="en-US" sz="4400" u="none" cap="none" strike="noStrike">
                <a:solidFill>
                  <a:srgbClr val="22C55E"/>
                </a:solidFill>
                <a:latin typeface="Calibri"/>
                <a:ea typeface="Calibri"/>
                <a:cs typeface="Calibri"/>
                <a:sym typeface="Calibri"/>
              </a:rPr>
              <a:t>20x</a:t>
            </a:r>
            <a:endParaRPr/>
          </a:p>
        </p:txBody>
      </p:sp>
      <p:sp>
        <p:nvSpPr>
          <p:cNvPr id="402" name="Google Shape;402;p20"/>
          <p:cNvSpPr txBox="1"/>
          <p:nvPr/>
        </p:nvSpPr>
        <p:spPr>
          <a:xfrm>
            <a:off x="9235440" y="2743200"/>
            <a:ext cx="2468880" cy="731520"/>
          </a:xfrm>
          <a:prstGeom prst="rect">
            <a:avLst/>
          </a:prstGeom>
          <a:noFill/>
          <a:ln>
            <a:noFill/>
          </a:ln>
        </p:spPr>
        <p:txBody>
          <a:bodyPr anchorCtr="0" anchor="t" bIns="27425" lIns="45700" spcFirstLastPara="1" rIns="45700" wrap="square" tIns="27425">
            <a:spAutoFit/>
          </a:bodyPr>
          <a:lstStyle/>
          <a:p>
            <a:pPr indent="0" lvl="0" marL="0" marR="0" rtl="0" algn="ctr">
              <a:spcBef>
                <a:spcPts val="0"/>
              </a:spcBef>
              <a:spcAft>
                <a:spcPts val="0"/>
              </a:spcAft>
              <a:buNone/>
            </a:pPr>
            <a:r>
              <a:rPr b="0" i="0" lang="en-US" sz="1300" u="none" cap="none" strike="noStrike">
                <a:solidFill>
                  <a:srgbClr val="D9DDE5"/>
                </a:solidFill>
                <a:latin typeface="Calibri"/>
                <a:ea typeface="Calibri"/>
                <a:cs typeface="Calibri"/>
                <a:sym typeface="Calibri"/>
              </a:rPr>
              <a:t>cost savings on the migration</a:t>
            </a:r>
            <a:endParaRPr/>
          </a:p>
        </p:txBody>
      </p:sp>
      <p:sp>
        <p:nvSpPr>
          <p:cNvPr id="403" name="Google Shape;403;p20"/>
          <p:cNvSpPr txBox="1"/>
          <p:nvPr/>
        </p:nvSpPr>
        <p:spPr>
          <a:xfrm>
            <a:off x="6766560" y="3931920"/>
            <a:ext cx="2468880" cy="822960"/>
          </a:xfrm>
          <a:prstGeom prst="rect">
            <a:avLst/>
          </a:prstGeom>
          <a:noFill/>
          <a:ln>
            <a:noFill/>
          </a:ln>
        </p:spPr>
        <p:txBody>
          <a:bodyPr anchorCtr="0" anchor="t" bIns="27425" lIns="45700" spcFirstLastPara="1" rIns="45700" wrap="square" tIns="27425">
            <a:spAutoFit/>
          </a:bodyPr>
          <a:lstStyle/>
          <a:p>
            <a:pPr indent="0" lvl="0" marL="0" marR="0" rtl="0" algn="ctr">
              <a:spcBef>
                <a:spcPts val="0"/>
              </a:spcBef>
              <a:spcAft>
                <a:spcPts val="0"/>
              </a:spcAft>
              <a:buNone/>
            </a:pPr>
            <a:r>
              <a:rPr b="1" i="0" lang="en-US" sz="4400" u="none" cap="none" strike="noStrike">
                <a:solidFill>
                  <a:srgbClr val="22C55E"/>
                </a:solidFill>
                <a:latin typeface="Calibri"/>
                <a:ea typeface="Calibri"/>
                <a:cs typeface="Calibri"/>
                <a:sym typeface="Calibri"/>
              </a:rPr>
              <a:t>MLOC</a:t>
            </a:r>
            <a:endParaRPr/>
          </a:p>
        </p:txBody>
      </p:sp>
      <p:sp>
        <p:nvSpPr>
          <p:cNvPr id="404" name="Google Shape;404;p20"/>
          <p:cNvSpPr txBox="1"/>
          <p:nvPr/>
        </p:nvSpPr>
        <p:spPr>
          <a:xfrm>
            <a:off x="6766560" y="4754880"/>
            <a:ext cx="2468880" cy="731520"/>
          </a:xfrm>
          <a:prstGeom prst="rect">
            <a:avLst/>
          </a:prstGeom>
          <a:noFill/>
          <a:ln>
            <a:noFill/>
          </a:ln>
        </p:spPr>
        <p:txBody>
          <a:bodyPr anchorCtr="0" anchor="t" bIns="27425" lIns="45700" spcFirstLastPara="1" rIns="45700" wrap="square" tIns="27425">
            <a:spAutoFit/>
          </a:bodyPr>
          <a:lstStyle/>
          <a:p>
            <a:pPr indent="0" lvl="0" marL="0" marR="0" rtl="0" algn="ctr">
              <a:spcBef>
                <a:spcPts val="0"/>
              </a:spcBef>
              <a:spcAft>
                <a:spcPts val="0"/>
              </a:spcAft>
              <a:buNone/>
            </a:pPr>
            <a:r>
              <a:rPr b="0" i="0" lang="en-US" sz="1300" u="none" cap="none" strike="noStrike">
                <a:solidFill>
                  <a:srgbClr val="D9DDE5"/>
                </a:solidFill>
                <a:latin typeface="Calibri"/>
                <a:ea typeface="Calibri"/>
                <a:cs typeface="Calibri"/>
                <a:sym typeface="Calibri"/>
              </a:rPr>
              <a:t>millions of lines of code migrated</a:t>
            </a:r>
            <a:endParaRPr/>
          </a:p>
        </p:txBody>
      </p:sp>
      <p:sp>
        <p:nvSpPr>
          <p:cNvPr id="405" name="Google Shape;405;p20"/>
          <p:cNvSpPr txBox="1"/>
          <p:nvPr/>
        </p:nvSpPr>
        <p:spPr>
          <a:xfrm>
            <a:off x="9235440" y="3931920"/>
            <a:ext cx="2468880" cy="822960"/>
          </a:xfrm>
          <a:prstGeom prst="rect">
            <a:avLst/>
          </a:prstGeom>
          <a:noFill/>
          <a:ln>
            <a:noFill/>
          </a:ln>
        </p:spPr>
        <p:txBody>
          <a:bodyPr anchorCtr="0" anchor="t" bIns="27425" lIns="45700" spcFirstLastPara="1" rIns="45700" wrap="square" tIns="27425">
            <a:spAutoFit/>
          </a:bodyPr>
          <a:lstStyle/>
          <a:p>
            <a:pPr indent="0" lvl="0" marL="0" marR="0" rtl="0" algn="ctr">
              <a:spcBef>
                <a:spcPts val="0"/>
              </a:spcBef>
              <a:spcAft>
                <a:spcPts val="0"/>
              </a:spcAft>
              <a:buNone/>
            </a:pPr>
            <a:r>
              <a:rPr b="1" i="0" lang="en-US" sz="3000" u="none" cap="none" strike="noStrike">
                <a:solidFill>
                  <a:srgbClr val="22C55E"/>
                </a:solidFill>
                <a:latin typeface="Calibri"/>
                <a:ea typeface="Calibri"/>
                <a:cs typeface="Calibri"/>
                <a:sym typeface="Calibri"/>
              </a:rPr>
              <a:t>Months</a:t>
            </a:r>
            <a:endParaRPr/>
          </a:p>
        </p:txBody>
      </p:sp>
      <p:sp>
        <p:nvSpPr>
          <p:cNvPr id="406" name="Google Shape;406;p20"/>
          <p:cNvSpPr txBox="1"/>
          <p:nvPr/>
        </p:nvSpPr>
        <p:spPr>
          <a:xfrm>
            <a:off x="9235440" y="4754880"/>
            <a:ext cx="2468880" cy="731520"/>
          </a:xfrm>
          <a:prstGeom prst="rect">
            <a:avLst/>
          </a:prstGeom>
          <a:noFill/>
          <a:ln>
            <a:noFill/>
          </a:ln>
        </p:spPr>
        <p:txBody>
          <a:bodyPr anchorCtr="0" anchor="t" bIns="27425" lIns="45700" spcFirstLastPara="1" rIns="45700" wrap="square" tIns="27425">
            <a:spAutoFit/>
          </a:bodyPr>
          <a:lstStyle/>
          <a:p>
            <a:pPr indent="0" lvl="0" marL="0" marR="0" rtl="0" algn="ctr">
              <a:spcBef>
                <a:spcPts val="0"/>
              </a:spcBef>
              <a:spcAft>
                <a:spcPts val="0"/>
              </a:spcAft>
              <a:buNone/>
            </a:pPr>
            <a:r>
              <a:rPr b="0" i="0" lang="en-US" sz="1300" u="none" cap="none" strike="noStrike">
                <a:solidFill>
                  <a:srgbClr val="D9DDE5"/>
                </a:solidFill>
                <a:latin typeface="Calibri"/>
                <a:ea typeface="Calibri"/>
                <a:cs typeface="Calibri"/>
                <a:sym typeface="Calibri"/>
              </a:rPr>
              <a:t>not years, to completion</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1" name="Shape 411"/>
        <p:cNvGrpSpPr/>
        <p:nvPr/>
      </p:nvGrpSpPr>
      <p:grpSpPr>
        <a:xfrm>
          <a:off x="0" y="0"/>
          <a:ext cx="0" cy="0"/>
          <a:chOff x="0" y="0"/>
          <a:chExt cx="0" cy="0"/>
        </a:xfrm>
      </p:grpSpPr>
      <p:sp>
        <p:nvSpPr>
          <p:cNvPr id="412" name="Google Shape;412;p21"/>
          <p:cNvSpPr/>
          <p:nvPr/>
        </p:nvSpPr>
        <p:spPr>
          <a:xfrm>
            <a:off x="0" y="0"/>
            <a:ext cx="12191695" cy="109728"/>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3" name="Google Shape;413;p21"/>
          <p:cNvSpPr txBox="1"/>
          <p:nvPr/>
        </p:nvSpPr>
        <p:spPr>
          <a:xfrm>
            <a:off x="548640" y="411480"/>
            <a:ext cx="7315200" cy="36576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200" u="none" cap="none" strike="noStrike">
                <a:solidFill>
                  <a:srgbClr val="3B82F6"/>
                </a:solidFill>
                <a:latin typeface="Calibri"/>
                <a:ea typeface="Calibri"/>
                <a:cs typeface="Calibri"/>
                <a:sym typeface="Calibri"/>
              </a:rPr>
              <a:t>CUSTOMER STORIES</a:t>
            </a:r>
            <a:endParaRPr/>
          </a:p>
        </p:txBody>
      </p:sp>
      <p:sp>
        <p:nvSpPr>
          <p:cNvPr id="414" name="Google Shape;414;p21"/>
          <p:cNvSpPr txBox="1"/>
          <p:nvPr/>
        </p:nvSpPr>
        <p:spPr>
          <a:xfrm>
            <a:off x="548640" y="731520"/>
            <a:ext cx="11155680" cy="9144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3000" u="none" cap="none" strike="noStrike">
                <a:solidFill>
                  <a:srgbClr val="141B2D"/>
                </a:solidFill>
                <a:latin typeface="Calibri"/>
                <a:ea typeface="Calibri"/>
                <a:cs typeface="Calibri"/>
                <a:sym typeface="Calibri"/>
              </a:rPr>
              <a:t>Impact across industries</a:t>
            </a:r>
            <a:endParaRPr/>
          </a:p>
        </p:txBody>
      </p:sp>
      <p:sp>
        <p:nvSpPr>
          <p:cNvPr id="415" name="Google Shape;415;p21"/>
          <p:cNvSpPr txBox="1"/>
          <p:nvPr/>
        </p:nvSpPr>
        <p:spPr>
          <a:xfrm>
            <a:off x="548640" y="6446520"/>
            <a:ext cx="7315200" cy="27432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000" u="none" cap="none" strike="noStrike">
                <a:solidFill>
                  <a:srgbClr val="6B7280"/>
                </a:solidFill>
                <a:latin typeface="Calibri"/>
                <a:ea typeface="Calibri"/>
                <a:cs typeface="Calibri"/>
                <a:sym typeface="Calibri"/>
              </a:rPr>
              <a:t>Cognition  |  Devin Discovery</a:t>
            </a:r>
            <a:endParaRPr/>
          </a:p>
        </p:txBody>
      </p:sp>
      <p:sp>
        <p:nvSpPr>
          <p:cNvPr id="416" name="Google Shape;416;p21"/>
          <p:cNvSpPr txBox="1"/>
          <p:nvPr/>
        </p:nvSpPr>
        <p:spPr>
          <a:xfrm>
            <a:off x="10789920" y="6446520"/>
            <a:ext cx="914400" cy="274320"/>
          </a:xfrm>
          <a:prstGeom prst="rect">
            <a:avLst/>
          </a:prstGeom>
          <a:noFill/>
          <a:ln>
            <a:noFill/>
          </a:ln>
        </p:spPr>
        <p:txBody>
          <a:bodyPr anchorCtr="0" anchor="t" bIns="27425" lIns="45700" spcFirstLastPara="1" rIns="45700" wrap="square" tIns="27425">
            <a:spAutoFit/>
          </a:bodyPr>
          <a:lstStyle/>
          <a:p>
            <a:pPr indent="0" lvl="0" marL="0" marR="0" rtl="0" algn="r">
              <a:spcBef>
                <a:spcPts val="0"/>
              </a:spcBef>
              <a:spcAft>
                <a:spcPts val="0"/>
              </a:spcAft>
              <a:buNone/>
            </a:pPr>
            <a:r>
              <a:rPr b="0" i="0" lang="en-US" sz="1000" u="none" cap="none" strike="noStrike">
                <a:solidFill>
                  <a:srgbClr val="6B7280"/>
                </a:solidFill>
                <a:latin typeface="Calibri"/>
                <a:ea typeface="Calibri"/>
                <a:cs typeface="Calibri"/>
                <a:sym typeface="Calibri"/>
              </a:rPr>
              <a:t>21</a:t>
            </a:r>
            <a:endParaRPr/>
          </a:p>
        </p:txBody>
      </p:sp>
      <p:sp>
        <p:nvSpPr>
          <p:cNvPr id="417" name="Google Shape;417;p21"/>
          <p:cNvSpPr/>
          <p:nvPr/>
        </p:nvSpPr>
        <p:spPr>
          <a:xfrm>
            <a:off x="548640" y="1737360"/>
            <a:ext cx="5440680" cy="2011680"/>
          </a:xfrm>
          <a:prstGeom prst="roundRect">
            <a:avLst>
              <a:gd fmla="val 16667" name="adj"/>
            </a:avLst>
          </a:prstGeom>
          <a:solidFill>
            <a:srgbClr val="F4F5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8" name="Google Shape;418;p21"/>
          <p:cNvSpPr txBox="1"/>
          <p:nvPr/>
        </p:nvSpPr>
        <p:spPr>
          <a:xfrm>
            <a:off x="777240" y="1874520"/>
            <a:ext cx="3200400" cy="4572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800" u="none" cap="none" strike="noStrike">
                <a:solidFill>
                  <a:srgbClr val="141B2D"/>
                </a:solidFill>
                <a:latin typeface="Calibri"/>
                <a:ea typeface="Calibri"/>
                <a:cs typeface="Calibri"/>
                <a:sym typeface="Calibri"/>
              </a:rPr>
              <a:t>Goldman Sachs</a:t>
            </a:r>
            <a:endParaRPr/>
          </a:p>
        </p:txBody>
      </p:sp>
      <p:sp>
        <p:nvSpPr>
          <p:cNvPr id="419" name="Google Shape;419;p21"/>
          <p:cNvSpPr txBox="1"/>
          <p:nvPr/>
        </p:nvSpPr>
        <p:spPr>
          <a:xfrm>
            <a:off x="4023360" y="1920240"/>
            <a:ext cx="1828800" cy="365760"/>
          </a:xfrm>
          <a:prstGeom prst="rect">
            <a:avLst/>
          </a:prstGeom>
          <a:noFill/>
          <a:ln>
            <a:noFill/>
          </a:ln>
        </p:spPr>
        <p:txBody>
          <a:bodyPr anchorCtr="0" anchor="t" bIns="27425" lIns="45700" spcFirstLastPara="1" rIns="45700" wrap="square" tIns="27425">
            <a:spAutoFit/>
          </a:bodyPr>
          <a:lstStyle/>
          <a:p>
            <a:pPr indent="0" lvl="0" marL="0" marR="0" rtl="0" algn="r">
              <a:spcBef>
                <a:spcPts val="0"/>
              </a:spcBef>
              <a:spcAft>
                <a:spcPts val="0"/>
              </a:spcAft>
              <a:buNone/>
            </a:pPr>
            <a:r>
              <a:rPr b="1" i="0" lang="en-US" sz="1200" u="none" cap="none" strike="noStrike">
                <a:solidFill>
                  <a:srgbClr val="3B82F6"/>
                </a:solidFill>
                <a:latin typeface="Calibri"/>
                <a:ea typeface="Calibri"/>
                <a:cs typeface="Calibri"/>
                <a:sym typeface="Calibri"/>
              </a:rPr>
              <a:t>Global bank</a:t>
            </a:r>
            <a:endParaRPr/>
          </a:p>
        </p:txBody>
      </p:sp>
      <p:sp>
        <p:nvSpPr>
          <p:cNvPr id="420" name="Google Shape;420;p21"/>
          <p:cNvSpPr txBox="1"/>
          <p:nvPr/>
        </p:nvSpPr>
        <p:spPr>
          <a:xfrm>
            <a:off x="777240" y="2377440"/>
            <a:ext cx="5029200" cy="13716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300" u="none" cap="none" strike="noStrike">
                <a:solidFill>
                  <a:srgbClr val="141B2D"/>
                </a:solidFill>
                <a:latin typeface="Calibri"/>
                <a:ea typeface="Calibri"/>
                <a:cs typeface="Calibri"/>
                <a:sym typeface="Calibri"/>
              </a:rPr>
              <a:t>Piloting Devin as an AI engineer alongside its ~12,000 developers, focused on legacy code modernization and augmenting developer productivity under strict governance.</a:t>
            </a:r>
            <a:endParaRPr/>
          </a:p>
        </p:txBody>
      </p:sp>
      <p:sp>
        <p:nvSpPr>
          <p:cNvPr id="421" name="Google Shape;421;p21"/>
          <p:cNvSpPr/>
          <p:nvPr/>
        </p:nvSpPr>
        <p:spPr>
          <a:xfrm>
            <a:off x="6217920" y="1737360"/>
            <a:ext cx="5440680" cy="2011680"/>
          </a:xfrm>
          <a:prstGeom prst="roundRect">
            <a:avLst>
              <a:gd fmla="val 16667" name="adj"/>
            </a:avLst>
          </a:prstGeom>
          <a:solidFill>
            <a:srgbClr val="F4F5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22" name="Google Shape;422;p21"/>
          <p:cNvSpPr txBox="1"/>
          <p:nvPr/>
        </p:nvSpPr>
        <p:spPr>
          <a:xfrm>
            <a:off x="6446520" y="1874520"/>
            <a:ext cx="3200400" cy="4572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800" u="none" cap="none" strike="noStrike">
                <a:solidFill>
                  <a:srgbClr val="141B2D"/>
                </a:solidFill>
                <a:latin typeface="Calibri"/>
                <a:ea typeface="Calibri"/>
                <a:cs typeface="Calibri"/>
                <a:sym typeface="Calibri"/>
              </a:rPr>
              <a:t>Ramp</a:t>
            </a:r>
            <a:endParaRPr/>
          </a:p>
        </p:txBody>
      </p:sp>
      <p:sp>
        <p:nvSpPr>
          <p:cNvPr id="423" name="Google Shape;423;p21"/>
          <p:cNvSpPr txBox="1"/>
          <p:nvPr/>
        </p:nvSpPr>
        <p:spPr>
          <a:xfrm>
            <a:off x="9692640" y="1920240"/>
            <a:ext cx="1828800" cy="365760"/>
          </a:xfrm>
          <a:prstGeom prst="rect">
            <a:avLst/>
          </a:prstGeom>
          <a:noFill/>
          <a:ln>
            <a:noFill/>
          </a:ln>
        </p:spPr>
        <p:txBody>
          <a:bodyPr anchorCtr="0" anchor="t" bIns="27425" lIns="45700" spcFirstLastPara="1" rIns="45700" wrap="square" tIns="27425">
            <a:spAutoFit/>
          </a:bodyPr>
          <a:lstStyle/>
          <a:p>
            <a:pPr indent="0" lvl="0" marL="0" marR="0" rtl="0" algn="r">
              <a:spcBef>
                <a:spcPts val="0"/>
              </a:spcBef>
              <a:spcAft>
                <a:spcPts val="0"/>
              </a:spcAft>
              <a:buNone/>
            </a:pPr>
            <a:r>
              <a:rPr b="1" i="0" lang="en-US" sz="1200" u="none" cap="none" strike="noStrike">
                <a:solidFill>
                  <a:srgbClr val="3B82F6"/>
                </a:solidFill>
                <a:latin typeface="Calibri"/>
                <a:ea typeface="Calibri"/>
                <a:cs typeface="Calibri"/>
                <a:sym typeface="Calibri"/>
              </a:rPr>
              <a:t>Fintech</a:t>
            </a:r>
            <a:endParaRPr/>
          </a:p>
        </p:txBody>
      </p:sp>
      <p:sp>
        <p:nvSpPr>
          <p:cNvPr id="424" name="Google Shape;424;p21"/>
          <p:cNvSpPr txBox="1"/>
          <p:nvPr/>
        </p:nvSpPr>
        <p:spPr>
          <a:xfrm>
            <a:off x="6446520" y="2377440"/>
            <a:ext cx="5029200" cy="13716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300" u="none" cap="none" strike="noStrike">
                <a:solidFill>
                  <a:srgbClr val="141B2D"/>
                </a:solidFill>
                <a:latin typeface="Calibri"/>
                <a:ea typeface="Calibri"/>
                <a:cs typeface="Calibri"/>
                <a:sym typeface="Calibri"/>
              </a:rPr>
              <a:t>Uses Devin for backlog tasks and internal tooling, freeing engineers to focus on product velocity in a fast-scaling environment.</a:t>
            </a:r>
            <a:endParaRPr/>
          </a:p>
        </p:txBody>
      </p:sp>
      <p:sp>
        <p:nvSpPr>
          <p:cNvPr id="425" name="Google Shape;425;p21"/>
          <p:cNvSpPr/>
          <p:nvPr/>
        </p:nvSpPr>
        <p:spPr>
          <a:xfrm>
            <a:off x="548640" y="3931920"/>
            <a:ext cx="5440680" cy="2011680"/>
          </a:xfrm>
          <a:prstGeom prst="roundRect">
            <a:avLst>
              <a:gd fmla="val 16667" name="adj"/>
            </a:avLst>
          </a:prstGeom>
          <a:solidFill>
            <a:srgbClr val="F4F5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26" name="Google Shape;426;p21"/>
          <p:cNvSpPr txBox="1"/>
          <p:nvPr/>
        </p:nvSpPr>
        <p:spPr>
          <a:xfrm>
            <a:off x="777240" y="4069080"/>
            <a:ext cx="3200400" cy="4572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800" u="none" cap="none" strike="noStrike">
                <a:solidFill>
                  <a:srgbClr val="141B2D"/>
                </a:solidFill>
                <a:latin typeface="Calibri"/>
                <a:ea typeface="Calibri"/>
                <a:cs typeface="Calibri"/>
                <a:sym typeface="Calibri"/>
              </a:rPr>
              <a:t>MongoDB</a:t>
            </a:r>
            <a:endParaRPr/>
          </a:p>
        </p:txBody>
      </p:sp>
      <p:sp>
        <p:nvSpPr>
          <p:cNvPr id="427" name="Google Shape;427;p21"/>
          <p:cNvSpPr txBox="1"/>
          <p:nvPr/>
        </p:nvSpPr>
        <p:spPr>
          <a:xfrm>
            <a:off x="4023360" y="4114800"/>
            <a:ext cx="1828800" cy="365760"/>
          </a:xfrm>
          <a:prstGeom prst="rect">
            <a:avLst/>
          </a:prstGeom>
          <a:noFill/>
          <a:ln>
            <a:noFill/>
          </a:ln>
        </p:spPr>
        <p:txBody>
          <a:bodyPr anchorCtr="0" anchor="t" bIns="27425" lIns="45700" spcFirstLastPara="1" rIns="45700" wrap="square" tIns="27425">
            <a:spAutoFit/>
          </a:bodyPr>
          <a:lstStyle/>
          <a:p>
            <a:pPr indent="0" lvl="0" marL="0" marR="0" rtl="0" algn="r">
              <a:spcBef>
                <a:spcPts val="0"/>
              </a:spcBef>
              <a:spcAft>
                <a:spcPts val="0"/>
              </a:spcAft>
              <a:buNone/>
            </a:pPr>
            <a:r>
              <a:rPr b="1" i="0" lang="en-US" sz="1200" u="none" cap="none" strike="noStrike">
                <a:solidFill>
                  <a:srgbClr val="3B82F6"/>
                </a:solidFill>
                <a:latin typeface="Calibri"/>
                <a:ea typeface="Calibri"/>
                <a:cs typeface="Calibri"/>
                <a:sym typeface="Calibri"/>
              </a:rPr>
              <a:t>Developer platform</a:t>
            </a:r>
            <a:endParaRPr/>
          </a:p>
        </p:txBody>
      </p:sp>
      <p:sp>
        <p:nvSpPr>
          <p:cNvPr id="428" name="Google Shape;428;p21"/>
          <p:cNvSpPr txBox="1"/>
          <p:nvPr/>
        </p:nvSpPr>
        <p:spPr>
          <a:xfrm>
            <a:off x="777240" y="4572000"/>
            <a:ext cx="5029200" cy="13716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300" u="none" cap="none" strike="noStrike">
                <a:solidFill>
                  <a:srgbClr val="141B2D"/>
                </a:solidFill>
                <a:latin typeface="Calibri"/>
                <a:ea typeface="Calibri"/>
                <a:cs typeface="Calibri"/>
                <a:sym typeface="Calibri"/>
              </a:rPr>
              <a:t>Adopted Devin to accelerate engineering work across a large, distributed codebase, with Devin handling well-scoped tasks end to end.</a:t>
            </a:r>
            <a:endParaRPr/>
          </a:p>
        </p:txBody>
      </p:sp>
      <p:sp>
        <p:nvSpPr>
          <p:cNvPr id="429" name="Google Shape;429;p21"/>
          <p:cNvSpPr/>
          <p:nvPr/>
        </p:nvSpPr>
        <p:spPr>
          <a:xfrm>
            <a:off x="6217920" y="3931920"/>
            <a:ext cx="5440680" cy="2011680"/>
          </a:xfrm>
          <a:prstGeom prst="roundRect">
            <a:avLst>
              <a:gd fmla="val 16667" name="adj"/>
            </a:avLst>
          </a:prstGeom>
          <a:solidFill>
            <a:srgbClr val="F4F5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0" name="Google Shape;430;p21"/>
          <p:cNvSpPr txBox="1"/>
          <p:nvPr/>
        </p:nvSpPr>
        <p:spPr>
          <a:xfrm>
            <a:off x="6446520" y="4069080"/>
            <a:ext cx="3200400" cy="4572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800" u="none" cap="none" strike="noStrike">
                <a:solidFill>
                  <a:srgbClr val="141B2D"/>
                </a:solidFill>
                <a:latin typeface="Calibri"/>
                <a:ea typeface="Calibri"/>
                <a:cs typeface="Calibri"/>
                <a:sym typeface="Calibri"/>
              </a:rPr>
              <a:t>Bilt</a:t>
            </a:r>
            <a:endParaRPr/>
          </a:p>
        </p:txBody>
      </p:sp>
      <p:sp>
        <p:nvSpPr>
          <p:cNvPr id="431" name="Google Shape;431;p21"/>
          <p:cNvSpPr txBox="1"/>
          <p:nvPr/>
        </p:nvSpPr>
        <p:spPr>
          <a:xfrm>
            <a:off x="9692640" y="4114800"/>
            <a:ext cx="1828800" cy="365760"/>
          </a:xfrm>
          <a:prstGeom prst="rect">
            <a:avLst/>
          </a:prstGeom>
          <a:noFill/>
          <a:ln>
            <a:noFill/>
          </a:ln>
        </p:spPr>
        <p:txBody>
          <a:bodyPr anchorCtr="0" anchor="t" bIns="27425" lIns="45700" spcFirstLastPara="1" rIns="45700" wrap="square" tIns="27425">
            <a:spAutoFit/>
          </a:bodyPr>
          <a:lstStyle/>
          <a:p>
            <a:pPr indent="0" lvl="0" marL="0" marR="0" rtl="0" algn="r">
              <a:spcBef>
                <a:spcPts val="0"/>
              </a:spcBef>
              <a:spcAft>
                <a:spcPts val="0"/>
              </a:spcAft>
              <a:buNone/>
            </a:pPr>
            <a:r>
              <a:rPr b="1" i="0" lang="en-US" sz="1200" u="none" cap="none" strike="noStrike">
                <a:solidFill>
                  <a:srgbClr val="3B82F6"/>
                </a:solidFill>
                <a:latin typeface="Calibri"/>
                <a:ea typeface="Calibri"/>
                <a:cs typeface="Calibri"/>
                <a:sym typeface="Calibri"/>
              </a:rPr>
              <a:t>Consumer fintech</a:t>
            </a:r>
            <a:endParaRPr/>
          </a:p>
        </p:txBody>
      </p:sp>
      <p:sp>
        <p:nvSpPr>
          <p:cNvPr id="432" name="Google Shape;432;p21"/>
          <p:cNvSpPr txBox="1"/>
          <p:nvPr/>
        </p:nvSpPr>
        <p:spPr>
          <a:xfrm>
            <a:off x="6446520" y="4572000"/>
            <a:ext cx="5029200" cy="13716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300" u="none" cap="none" strike="noStrike">
                <a:solidFill>
                  <a:srgbClr val="141B2D"/>
                </a:solidFill>
                <a:latin typeface="Calibri"/>
                <a:ea typeface="Calibri"/>
                <a:cs typeface="Calibri"/>
                <a:sym typeface="Calibri"/>
              </a:rPr>
              <a:t>Leverages Devin to expand engineering capacity without proportional headcount growth.</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7" name="Shape 437"/>
        <p:cNvGrpSpPr/>
        <p:nvPr/>
      </p:nvGrpSpPr>
      <p:grpSpPr>
        <a:xfrm>
          <a:off x="0" y="0"/>
          <a:ext cx="0" cy="0"/>
          <a:chOff x="0" y="0"/>
          <a:chExt cx="0" cy="0"/>
        </a:xfrm>
      </p:grpSpPr>
      <p:sp>
        <p:nvSpPr>
          <p:cNvPr id="438" name="Google Shape;438;p22"/>
          <p:cNvSpPr/>
          <p:nvPr/>
        </p:nvSpPr>
        <p:spPr>
          <a:xfrm>
            <a:off x="0" y="0"/>
            <a:ext cx="12191695" cy="109728"/>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9" name="Google Shape;439;p22"/>
          <p:cNvSpPr txBox="1"/>
          <p:nvPr/>
        </p:nvSpPr>
        <p:spPr>
          <a:xfrm>
            <a:off x="548640" y="411480"/>
            <a:ext cx="7315200" cy="36576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200" u="none" cap="none" strike="noStrike">
                <a:solidFill>
                  <a:srgbClr val="3B82F6"/>
                </a:solidFill>
                <a:latin typeface="Calibri"/>
                <a:ea typeface="Calibri"/>
                <a:cs typeface="Calibri"/>
                <a:sym typeface="Calibri"/>
              </a:rPr>
              <a:t>IMPACT  |  ROI FRAMEWORK</a:t>
            </a:r>
            <a:endParaRPr/>
          </a:p>
        </p:txBody>
      </p:sp>
      <p:sp>
        <p:nvSpPr>
          <p:cNvPr id="440" name="Google Shape;440;p22"/>
          <p:cNvSpPr txBox="1"/>
          <p:nvPr/>
        </p:nvSpPr>
        <p:spPr>
          <a:xfrm>
            <a:off x="548640" y="731520"/>
            <a:ext cx="11155680" cy="9144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3000" u="none" cap="none" strike="noStrike">
                <a:solidFill>
                  <a:srgbClr val="141B2D"/>
                </a:solidFill>
                <a:latin typeface="Calibri"/>
                <a:ea typeface="Calibri"/>
                <a:cs typeface="Calibri"/>
                <a:sym typeface="Calibri"/>
              </a:rPr>
              <a:t>The business case</a:t>
            </a:r>
            <a:endParaRPr/>
          </a:p>
        </p:txBody>
      </p:sp>
      <p:sp>
        <p:nvSpPr>
          <p:cNvPr id="441" name="Google Shape;441;p22"/>
          <p:cNvSpPr txBox="1"/>
          <p:nvPr/>
        </p:nvSpPr>
        <p:spPr>
          <a:xfrm>
            <a:off x="548640" y="6446520"/>
            <a:ext cx="7315200" cy="27432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000" u="none" cap="none" strike="noStrike">
                <a:solidFill>
                  <a:srgbClr val="6B7280"/>
                </a:solidFill>
                <a:latin typeface="Calibri"/>
                <a:ea typeface="Calibri"/>
                <a:cs typeface="Calibri"/>
                <a:sym typeface="Calibri"/>
              </a:rPr>
              <a:t>Cognition  |  Devin Discovery</a:t>
            </a:r>
            <a:endParaRPr/>
          </a:p>
        </p:txBody>
      </p:sp>
      <p:sp>
        <p:nvSpPr>
          <p:cNvPr id="442" name="Google Shape;442;p22"/>
          <p:cNvSpPr txBox="1"/>
          <p:nvPr/>
        </p:nvSpPr>
        <p:spPr>
          <a:xfrm>
            <a:off x="10789920" y="6446520"/>
            <a:ext cx="914400" cy="274320"/>
          </a:xfrm>
          <a:prstGeom prst="rect">
            <a:avLst/>
          </a:prstGeom>
          <a:noFill/>
          <a:ln>
            <a:noFill/>
          </a:ln>
        </p:spPr>
        <p:txBody>
          <a:bodyPr anchorCtr="0" anchor="t" bIns="27425" lIns="45700" spcFirstLastPara="1" rIns="45700" wrap="square" tIns="27425">
            <a:spAutoFit/>
          </a:bodyPr>
          <a:lstStyle/>
          <a:p>
            <a:pPr indent="0" lvl="0" marL="0" marR="0" rtl="0" algn="r">
              <a:spcBef>
                <a:spcPts val="0"/>
              </a:spcBef>
              <a:spcAft>
                <a:spcPts val="0"/>
              </a:spcAft>
              <a:buNone/>
            </a:pPr>
            <a:r>
              <a:rPr b="0" i="0" lang="en-US" sz="1000" u="none" cap="none" strike="noStrike">
                <a:solidFill>
                  <a:srgbClr val="6B7280"/>
                </a:solidFill>
                <a:latin typeface="Calibri"/>
                <a:ea typeface="Calibri"/>
                <a:cs typeface="Calibri"/>
                <a:sym typeface="Calibri"/>
              </a:rPr>
              <a:t>22</a:t>
            </a:r>
            <a:endParaRPr/>
          </a:p>
        </p:txBody>
      </p:sp>
      <p:sp>
        <p:nvSpPr>
          <p:cNvPr id="443" name="Google Shape;443;p22"/>
          <p:cNvSpPr/>
          <p:nvPr/>
        </p:nvSpPr>
        <p:spPr>
          <a:xfrm>
            <a:off x="548640" y="1737360"/>
            <a:ext cx="11064240" cy="457200"/>
          </a:xfrm>
          <a:prstGeom prst="rect">
            <a:avLst/>
          </a:prstGeom>
          <a:solidFill>
            <a:srgbClr val="0B122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44" name="Google Shape;444;p22"/>
          <p:cNvSpPr txBox="1"/>
          <p:nvPr/>
        </p:nvSpPr>
        <p:spPr>
          <a:xfrm>
            <a:off x="640080" y="1737360"/>
            <a:ext cx="3566160" cy="457200"/>
          </a:xfrm>
          <a:prstGeom prst="rect">
            <a:avLst/>
          </a:prstGeom>
          <a:noFill/>
          <a:ln>
            <a:noFill/>
          </a:ln>
        </p:spPr>
        <p:txBody>
          <a:bodyPr anchorCtr="0" anchor="ctr" bIns="27425" lIns="45700" spcFirstLastPara="1" rIns="45700" wrap="square" tIns="27425">
            <a:spAutoFit/>
          </a:bodyPr>
          <a:lstStyle/>
          <a:p>
            <a:pPr indent="0" lvl="0" marL="0" marR="0" rtl="0" algn="l">
              <a:spcBef>
                <a:spcPts val="0"/>
              </a:spcBef>
              <a:spcAft>
                <a:spcPts val="0"/>
              </a:spcAft>
              <a:buNone/>
            </a:pPr>
            <a:r>
              <a:rPr b="1" i="0" lang="en-US" sz="1400" u="none" cap="none" strike="noStrike">
                <a:solidFill>
                  <a:srgbClr val="FFFFFF"/>
                </a:solidFill>
                <a:latin typeface="Calibri"/>
                <a:ea typeface="Calibri"/>
                <a:cs typeface="Calibri"/>
                <a:sym typeface="Calibri"/>
              </a:rPr>
              <a:t>Lever</a:t>
            </a:r>
            <a:endParaRPr/>
          </a:p>
        </p:txBody>
      </p:sp>
      <p:sp>
        <p:nvSpPr>
          <p:cNvPr id="445" name="Google Shape;445;p22"/>
          <p:cNvSpPr txBox="1"/>
          <p:nvPr/>
        </p:nvSpPr>
        <p:spPr>
          <a:xfrm>
            <a:off x="4297680" y="1737360"/>
            <a:ext cx="3566160" cy="457200"/>
          </a:xfrm>
          <a:prstGeom prst="rect">
            <a:avLst/>
          </a:prstGeom>
          <a:noFill/>
          <a:ln>
            <a:noFill/>
          </a:ln>
        </p:spPr>
        <p:txBody>
          <a:bodyPr anchorCtr="0" anchor="ctr" bIns="27425" lIns="45700" spcFirstLastPara="1" rIns="45700" wrap="square" tIns="27425">
            <a:spAutoFit/>
          </a:bodyPr>
          <a:lstStyle/>
          <a:p>
            <a:pPr indent="0" lvl="0" marL="0" marR="0" rtl="0" algn="l">
              <a:spcBef>
                <a:spcPts val="0"/>
              </a:spcBef>
              <a:spcAft>
                <a:spcPts val="0"/>
              </a:spcAft>
              <a:buNone/>
            </a:pPr>
            <a:r>
              <a:rPr b="1" i="0" lang="en-US" sz="1400" u="none" cap="none" strike="noStrike">
                <a:solidFill>
                  <a:srgbClr val="FFFFFF"/>
                </a:solidFill>
                <a:latin typeface="Calibri"/>
                <a:ea typeface="Calibri"/>
                <a:cs typeface="Calibri"/>
                <a:sym typeface="Calibri"/>
              </a:rPr>
              <a:t>How to measure</a:t>
            </a:r>
            <a:endParaRPr/>
          </a:p>
        </p:txBody>
      </p:sp>
      <p:sp>
        <p:nvSpPr>
          <p:cNvPr id="446" name="Google Shape;446;p22"/>
          <p:cNvSpPr txBox="1"/>
          <p:nvPr/>
        </p:nvSpPr>
        <p:spPr>
          <a:xfrm>
            <a:off x="7955280" y="1737360"/>
            <a:ext cx="3566160" cy="457200"/>
          </a:xfrm>
          <a:prstGeom prst="rect">
            <a:avLst/>
          </a:prstGeom>
          <a:noFill/>
          <a:ln>
            <a:noFill/>
          </a:ln>
        </p:spPr>
        <p:txBody>
          <a:bodyPr anchorCtr="0" anchor="ctr" bIns="27425" lIns="45700" spcFirstLastPara="1" rIns="45700" wrap="square" tIns="27425">
            <a:spAutoFit/>
          </a:bodyPr>
          <a:lstStyle/>
          <a:p>
            <a:pPr indent="0" lvl="0" marL="0" marR="0" rtl="0" algn="l">
              <a:spcBef>
                <a:spcPts val="0"/>
              </a:spcBef>
              <a:spcAft>
                <a:spcPts val="0"/>
              </a:spcAft>
              <a:buNone/>
            </a:pPr>
            <a:r>
              <a:rPr b="1" i="0" lang="en-US" sz="1400" u="none" cap="none" strike="noStrike">
                <a:solidFill>
                  <a:srgbClr val="FFFFFF"/>
                </a:solidFill>
                <a:latin typeface="Calibri"/>
                <a:ea typeface="Calibri"/>
                <a:cs typeface="Calibri"/>
                <a:sym typeface="Calibri"/>
              </a:rPr>
              <a:t>Illustrative impact</a:t>
            </a:r>
            <a:endParaRPr/>
          </a:p>
        </p:txBody>
      </p:sp>
      <p:sp>
        <p:nvSpPr>
          <p:cNvPr id="447" name="Google Shape;447;p22"/>
          <p:cNvSpPr/>
          <p:nvPr/>
        </p:nvSpPr>
        <p:spPr>
          <a:xfrm>
            <a:off x="548640" y="2194560"/>
            <a:ext cx="11064240" cy="658368"/>
          </a:xfrm>
          <a:prstGeom prst="rect">
            <a:avLst/>
          </a:prstGeom>
          <a:solidFill>
            <a:srgbClr val="F4F5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48" name="Google Shape;448;p22"/>
          <p:cNvSpPr txBox="1"/>
          <p:nvPr/>
        </p:nvSpPr>
        <p:spPr>
          <a:xfrm>
            <a:off x="640080" y="2194560"/>
            <a:ext cx="3566160" cy="658368"/>
          </a:xfrm>
          <a:prstGeom prst="rect">
            <a:avLst/>
          </a:prstGeom>
          <a:noFill/>
          <a:ln>
            <a:noFill/>
          </a:ln>
        </p:spPr>
        <p:txBody>
          <a:bodyPr anchorCtr="0" anchor="ctr" bIns="27425" lIns="45700" spcFirstLastPara="1" rIns="45700" wrap="square" tIns="27425">
            <a:spAutoFit/>
          </a:bodyPr>
          <a:lstStyle/>
          <a:p>
            <a:pPr indent="0" lvl="0" marL="0" marR="0" rtl="0" algn="l">
              <a:spcBef>
                <a:spcPts val="0"/>
              </a:spcBef>
              <a:spcAft>
                <a:spcPts val="0"/>
              </a:spcAft>
              <a:buNone/>
            </a:pPr>
            <a:r>
              <a:rPr b="1" i="0" lang="en-US" sz="1300" u="none" cap="none" strike="noStrike">
                <a:solidFill>
                  <a:srgbClr val="141B2D"/>
                </a:solidFill>
                <a:latin typeface="Calibri"/>
                <a:ea typeface="Calibri"/>
                <a:cs typeface="Calibri"/>
                <a:sym typeface="Calibri"/>
              </a:rPr>
              <a:t>Capacity reclaimed</a:t>
            </a:r>
            <a:endParaRPr/>
          </a:p>
        </p:txBody>
      </p:sp>
      <p:sp>
        <p:nvSpPr>
          <p:cNvPr id="449" name="Google Shape;449;p22"/>
          <p:cNvSpPr txBox="1"/>
          <p:nvPr/>
        </p:nvSpPr>
        <p:spPr>
          <a:xfrm>
            <a:off x="4297680" y="2194560"/>
            <a:ext cx="3566160" cy="658368"/>
          </a:xfrm>
          <a:prstGeom prst="rect">
            <a:avLst/>
          </a:prstGeom>
          <a:noFill/>
          <a:ln>
            <a:noFill/>
          </a:ln>
        </p:spPr>
        <p:txBody>
          <a:bodyPr anchorCtr="0" anchor="ctr" bIns="27425" lIns="45700" spcFirstLastPara="1" rIns="45700" wrap="square" tIns="27425">
            <a:spAutoFit/>
          </a:bodyPr>
          <a:lstStyle/>
          <a:p>
            <a:pPr indent="0" lvl="0" marL="0" marR="0" rtl="0" algn="l">
              <a:spcBef>
                <a:spcPts val="0"/>
              </a:spcBef>
              <a:spcAft>
                <a:spcPts val="0"/>
              </a:spcAft>
              <a:buNone/>
            </a:pPr>
            <a:r>
              <a:rPr b="0" i="0" lang="en-US" sz="1300" u="none" cap="none" strike="noStrike">
                <a:solidFill>
                  <a:srgbClr val="141B2D"/>
                </a:solidFill>
                <a:latin typeface="Calibri"/>
                <a:ea typeface="Calibri"/>
                <a:cs typeface="Calibri"/>
                <a:sym typeface="Calibri"/>
              </a:rPr>
              <a:t>Engineer-hours on tasks completed by Devin</a:t>
            </a:r>
            <a:endParaRPr/>
          </a:p>
        </p:txBody>
      </p:sp>
      <p:sp>
        <p:nvSpPr>
          <p:cNvPr id="450" name="Google Shape;450;p22"/>
          <p:cNvSpPr txBox="1"/>
          <p:nvPr/>
        </p:nvSpPr>
        <p:spPr>
          <a:xfrm>
            <a:off x="7955280" y="2194560"/>
            <a:ext cx="3566160" cy="658368"/>
          </a:xfrm>
          <a:prstGeom prst="rect">
            <a:avLst/>
          </a:prstGeom>
          <a:noFill/>
          <a:ln>
            <a:noFill/>
          </a:ln>
        </p:spPr>
        <p:txBody>
          <a:bodyPr anchorCtr="0" anchor="ctr" bIns="27425" lIns="45700" spcFirstLastPara="1" rIns="45700" wrap="square" tIns="27425">
            <a:spAutoFit/>
          </a:bodyPr>
          <a:lstStyle/>
          <a:p>
            <a:pPr indent="0" lvl="0" marL="0" marR="0" rtl="0" algn="l">
              <a:spcBef>
                <a:spcPts val="0"/>
              </a:spcBef>
              <a:spcAft>
                <a:spcPts val="0"/>
              </a:spcAft>
              <a:buNone/>
            </a:pPr>
            <a:r>
              <a:rPr b="0" i="0" lang="en-US" sz="1300" u="none" cap="none" strike="noStrike">
                <a:solidFill>
                  <a:srgbClr val="141B2D"/>
                </a:solidFill>
                <a:latin typeface="Calibri"/>
                <a:ea typeface="Calibri"/>
                <a:cs typeface="Calibri"/>
                <a:sym typeface="Calibri"/>
              </a:rPr>
              <a:t>Team of 50 x 20% toil = 10 FTE-equivalents</a:t>
            </a:r>
            <a:endParaRPr/>
          </a:p>
        </p:txBody>
      </p:sp>
      <p:sp>
        <p:nvSpPr>
          <p:cNvPr id="451" name="Google Shape;451;p22"/>
          <p:cNvSpPr txBox="1"/>
          <p:nvPr/>
        </p:nvSpPr>
        <p:spPr>
          <a:xfrm>
            <a:off x="640080" y="2852928"/>
            <a:ext cx="3566160" cy="658368"/>
          </a:xfrm>
          <a:prstGeom prst="rect">
            <a:avLst/>
          </a:prstGeom>
          <a:noFill/>
          <a:ln>
            <a:noFill/>
          </a:ln>
        </p:spPr>
        <p:txBody>
          <a:bodyPr anchorCtr="0" anchor="ctr" bIns="27425" lIns="45700" spcFirstLastPara="1" rIns="45700" wrap="square" tIns="27425">
            <a:spAutoFit/>
          </a:bodyPr>
          <a:lstStyle/>
          <a:p>
            <a:pPr indent="0" lvl="0" marL="0" marR="0" rtl="0" algn="l">
              <a:spcBef>
                <a:spcPts val="0"/>
              </a:spcBef>
              <a:spcAft>
                <a:spcPts val="0"/>
              </a:spcAft>
              <a:buNone/>
            </a:pPr>
            <a:r>
              <a:rPr b="1" i="0" lang="en-US" sz="1300" u="none" cap="none" strike="noStrike">
                <a:solidFill>
                  <a:srgbClr val="141B2D"/>
                </a:solidFill>
                <a:latin typeface="Calibri"/>
                <a:ea typeface="Calibri"/>
                <a:cs typeface="Calibri"/>
                <a:sym typeface="Calibri"/>
              </a:rPr>
              <a:t>Cycle time</a:t>
            </a:r>
            <a:endParaRPr/>
          </a:p>
        </p:txBody>
      </p:sp>
      <p:sp>
        <p:nvSpPr>
          <p:cNvPr id="452" name="Google Shape;452;p22"/>
          <p:cNvSpPr txBox="1"/>
          <p:nvPr/>
        </p:nvSpPr>
        <p:spPr>
          <a:xfrm>
            <a:off x="4297680" y="2852928"/>
            <a:ext cx="3566160" cy="658368"/>
          </a:xfrm>
          <a:prstGeom prst="rect">
            <a:avLst/>
          </a:prstGeom>
          <a:noFill/>
          <a:ln>
            <a:noFill/>
          </a:ln>
        </p:spPr>
        <p:txBody>
          <a:bodyPr anchorCtr="0" anchor="ctr" bIns="27425" lIns="45700" spcFirstLastPara="1" rIns="45700" wrap="square" tIns="27425">
            <a:spAutoFit/>
          </a:bodyPr>
          <a:lstStyle/>
          <a:p>
            <a:pPr indent="0" lvl="0" marL="0" marR="0" rtl="0" algn="l">
              <a:spcBef>
                <a:spcPts val="0"/>
              </a:spcBef>
              <a:spcAft>
                <a:spcPts val="0"/>
              </a:spcAft>
              <a:buNone/>
            </a:pPr>
            <a:r>
              <a:rPr b="0" i="0" lang="en-US" sz="1300" u="none" cap="none" strike="noStrike">
                <a:solidFill>
                  <a:srgbClr val="141B2D"/>
                </a:solidFill>
                <a:latin typeface="Calibri"/>
                <a:ea typeface="Calibri"/>
                <a:cs typeface="Calibri"/>
                <a:sym typeface="Calibri"/>
              </a:rPr>
              <a:t>Ticket-to-merge time for Devin-eligible tasks</a:t>
            </a:r>
            <a:endParaRPr/>
          </a:p>
        </p:txBody>
      </p:sp>
      <p:sp>
        <p:nvSpPr>
          <p:cNvPr id="453" name="Google Shape;453;p22"/>
          <p:cNvSpPr txBox="1"/>
          <p:nvPr/>
        </p:nvSpPr>
        <p:spPr>
          <a:xfrm>
            <a:off x="7955280" y="2852928"/>
            <a:ext cx="3566160" cy="658368"/>
          </a:xfrm>
          <a:prstGeom prst="rect">
            <a:avLst/>
          </a:prstGeom>
          <a:noFill/>
          <a:ln>
            <a:noFill/>
          </a:ln>
        </p:spPr>
        <p:txBody>
          <a:bodyPr anchorCtr="0" anchor="ctr" bIns="27425" lIns="45700" spcFirstLastPara="1" rIns="45700" wrap="square" tIns="27425">
            <a:spAutoFit/>
          </a:bodyPr>
          <a:lstStyle/>
          <a:p>
            <a:pPr indent="0" lvl="0" marL="0" marR="0" rtl="0" algn="l">
              <a:spcBef>
                <a:spcPts val="0"/>
              </a:spcBef>
              <a:spcAft>
                <a:spcPts val="0"/>
              </a:spcAft>
              <a:buNone/>
            </a:pPr>
            <a:r>
              <a:rPr b="0" i="0" lang="en-US" sz="1300" u="none" cap="none" strike="noStrike">
                <a:solidFill>
                  <a:srgbClr val="141B2D"/>
                </a:solidFill>
                <a:latin typeface="Calibri"/>
                <a:ea typeface="Calibri"/>
                <a:cs typeface="Calibri"/>
                <a:sym typeface="Calibri"/>
              </a:rPr>
              <a:t>Days to hours; parallel execution</a:t>
            </a:r>
            <a:endParaRPr/>
          </a:p>
        </p:txBody>
      </p:sp>
      <p:sp>
        <p:nvSpPr>
          <p:cNvPr id="454" name="Google Shape;454;p22"/>
          <p:cNvSpPr/>
          <p:nvPr/>
        </p:nvSpPr>
        <p:spPr>
          <a:xfrm>
            <a:off x="548640" y="3511296"/>
            <a:ext cx="11064240" cy="658368"/>
          </a:xfrm>
          <a:prstGeom prst="rect">
            <a:avLst/>
          </a:prstGeom>
          <a:solidFill>
            <a:srgbClr val="F4F5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5" name="Google Shape;455;p22"/>
          <p:cNvSpPr txBox="1"/>
          <p:nvPr/>
        </p:nvSpPr>
        <p:spPr>
          <a:xfrm>
            <a:off x="640080" y="3511296"/>
            <a:ext cx="3566160" cy="658368"/>
          </a:xfrm>
          <a:prstGeom prst="rect">
            <a:avLst/>
          </a:prstGeom>
          <a:noFill/>
          <a:ln>
            <a:noFill/>
          </a:ln>
        </p:spPr>
        <p:txBody>
          <a:bodyPr anchorCtr="0" anchor="ctr" bIns="27425" lIns="45700" spcFirstLastPara="1" rIns="45700" wrap="square" tIns="27425">
            <a:spAutoFit/>
          </a:bodyPr>
          <a:lstStyle/>
          <a:p>
            <a:pPr indent="0" lvl="0" marL="0" marR="0" rtl="0" algn="l">
              <a:spcBef>
                <a:spcPts val="0"/>
              </a:spcBef>
              <a:spcAft>
                <a:spcPts val="0"/>
              </a:spcAft>
              <a:buNone/>
            </a:pPr>
            <a:r>
              <a:rPr b="1" i="0" lang="en-US" sz="1300" u="none" cap="none" strike="noStrike">
                <a:solidFill>
                  <a:srgbClr val="141B2D"/>
                </a:solidFill>
                <a:latin typeface="Calibri"/>
                <a:ea typeface="Calibri"/>
                <a:cs typeface="Calibri"/>
                <a:sym typeface="Calibri"/>
              </a:rPr>
              <a:t>Migration cost</a:t>
            </a:r>
            <a:endParaRPr/>
          </a:p>
        </p:txBody>
      </p:sp>
      <p:sp>
        <p:nvSpPr>
          <p:cNvPr id="456" name="Google Shape;456;p22"/>
          <p:cNvSpPr txBox="1"/>
          <p:nvPr/>
        </p:nvSpPr>
        <p:spPr>
          <a:xfrm>
            <a:off x="4297680" y="3511296"/>
            <a:ext cx="3566160" cy="658368"/>
          </a:xfrm>
          <a:prstGeom prst="rect">
            <a:avLst/>
          </a:prstGeom>
          <a:noFill/>
          <a:ln>
            <a:noFill/>
          </a:ln>
        </p:spPr>
        <p:txBody>
          <a:bodyPr anchorCtr="0" anchor="ctr" bIns="27425" lIns="45700" spcFirstLastPara="1" rIns="45700" wrap="square" tIns="27425">
            <a:spAutoFit/>
          </a:bodyPr>
          <a:lstStyle/>
          <a:p>
            <a:pPr indent="0" lvl="0" marL="0" marR="0" rtl="0" algn="l">
              <a:spcBef>
                <a:spcPts val="0"/>
              </a:spcBef>
              <a:spcAft>
                <a:spcPts val="0"/>
              </a:spcAft>
              <a:buNone/>
            </a:pPr>
            <a:r>
              <a:rPr b="0" i="0" lang="en-US" sz="1300" u="none" cap="none" strike="noStrike">
                <a:solidFill>
                  <a:srgbClr val="141B2D"/>
                </a:solidFill>
                <a:latin typeface="Calibri"/>
                <a:ea typeface="Calibri"/>
                <a:cs typeface="Calibri"/>
                <a:sym typeface="Calibri"/>
              </a:rPr>
              <a:t>Cost per repo/service migrated</a:t>
            </a:r>
            <a:endParaRPr/>
          </a:p>
        </p:txBody>
      </p:sp>
      <p:sp>
        <p:nvSpPr>
          <p:cNvPr id="457" name="Google Shape;457;p22"/>
          <p:cNvSpPr txBox="1"/>
          <p:nvPr/>
        </p:nvSpPr>
        <p:spPr>
          <a:xfrm>
            <a:off x="7955280" y="3511296"/>
            <a:ext cx="3566160" cy="658368"/>
          </a:xfrm>
          <a:prstGeom prst="rect">
            <a:avLst/>
          </a:prstGeom>
          <a:noFill/>
          <a:ln>
            <a:noFill/>
          </a:ln>
        </p:spPr>
        <p:txBody>
          <a:bodyPr anchorCtr="0" anchor="ctr" bIns="27425" lIns="45700" spcFirstLastPara="1" rIns="45700" wrap="square" tIns="27425">
            <a:spAutoFit/>
          </a:bodyPr>
          <a:lstStyle/>
          <a:p>
            <a:pPr indent="0" lvl="0" marL="0" marR="0" rtl="0" algn="l">
              <a:spcBef>
                <a:spcPts val="0"/>
              </a:spcBef>
              <a:spcAft>
                <a:spcPts val="0"/>
              </a:spcAft>
              <a:buNone/>
            </a:pPr>
            <a:r>
              <a:rPr b="0" i="0" lang="en-US" sz="1300" u="none" cap="none" strike="noStrike">
                <a:solidFill>
                  <a:srgbClr val="141B2D"/>
                </a:solidFill>
                <a:latin typeface="Calibri"/>
                <a:ea typeface="Calibri"/>
                <a:cs typeface="Calibri"/>
                <a:sym typeface="Calibri"/>
              </a:rPr>
              <a:t>10-20x reduction (Nubank)</a:t>
            </a:r>
            <a:endParaRPr/>
          </a:p>
        </p:txBody>
      </p:sp>
      <p:sp>
        <p:nvSpPr>
          <p:cNvPr id="458" name="Google Shape;458;p22"/>
          <p:cNvSpPr txBox="1"/>
          <p:nvPr/>
        </p:nvSpPr>
        <p:spPr>
          <a:xfrm>
            <a:off x="640080" y="4169664"/>
            <a:ext cx="3566160" cy="658368"/>
          </a:xfrm>
          <a:prstGeom prst="rect">
            <a:avLst/>
          </a:prstGeom>
          <a:noFill/>
          <a:ln>
            <a:noFill/>
          </a:ln>
        </p:spPr>
        <p:txBody>
          <a:bodyPr anchorCtr="0" anchor="ctr" bIns="27425" lIns="45700" spcFirstLastPara="1" rIns="45700" wrap="square" tIns="27425">
            <a:spAutoFit/>
          </a:bodyPr>
          <a:lstStyle/>
          <a:p>
            <a:pPr indent="0" lvl="0" marL="0" marR="0" rtl="0" algn="l">
              <a:spcBef>
                <a:spcPts val="0"/>
              </a:spcBef>
              <a:spcAft>
                <a:spcPts val="0"/>
              </a:spcAft>
              <a:buNone/>
            </a:pPr>
            <a:r>
              <a:rPr b="1" i="0" lang="en-US" sz="1300" u="none" cap="none" strike="noStrike">
                <a:solidFill>
                  <a:srgbClr val="141B2D"/>
                </a:solidFill>
                <a:latin typeface="Calibri"/>
                <a:ea typeface="Calibri"/>
                <a:cs typeface="Calibri"/>
                <a:sym typeface="Calibri"/>
              </a:rPr>
              <a:t>Security posture</a:t>
            </a:r>
            <a:endParaRPr/>
          </a:p>
        </p:txBody>
      </p:sp>
      <p:sp>
        <p:nvSpPr>
          <p:cNvPr id="459" name="Google Shape;459;p22"/>
          <p:cNvSpPr txBox="1"/>
          <p:nvPr/>
        </p:nvSpPr>
        <p:spPr>
          <a:xfrm>
            <a:off x="4297680" y="4169664"/>
            <a:ext cx="3566160" cy="658368"/>
          </a:xfrm>
          <a:prstGeom prst="rect">
            <a:avLst/>
          </a:prstGeom>
          <a:noFill/>
          <a:ln>
            <a:noFill/>
          </a:ln>
        </p:spPr>
        <p:txBody>
          <a:bodyPr anchorCtr="0" anchor="ctr" bIns="27425" lIns="45700" spcFirstLastPara="1" rIns="45700" wrap="square" tIns="27425">
            <a:spAutoFit/>
          </a:bodyPr>
          <a:lstStyle/>
          <a:p>
            <a:pPr indent="0" lvl="0" marL="0" marR="0" rtl="0" algn="l">
              <a:spcBef>
                <a:spcPts val="0"/>
              </a:spcBef>
              <a:spcAft>
                <a:spcPts val="0"/>
              </a:spcAft>
              <a:buNone/>
            </a:pPr>
            <a:r>
              <a:rPr b="0" i="0" lang="en-US" sz="1300" u="none" cap="none" strike="noStrike">
                <a:solidFill>
                  <a:srgbClr val="141B2D"/>
                </a:solidFill>
                <a:latin typeface="Calibri"/>
                <a:ea typeface="Calibri"/>
                <a:cs typeface="Calibri"/>
                <a:sym typeface="Calibri"/>
              </a:rPr>
              <a:t>Mean time to patch known CVEs</a:t>
            </a:r>
            <a:endParaRPr/>
          </a:p>
        </p:txBody>
      </p:sp>
      <p:sp>
        <p:nvSpPr>
          <p:cNvPr id="460" name="Google Shape;460;p22"/>
          <p:cNvSpPr txBox="1"/>
          <p:nvPr/>
        </p:nvSpPr>
        <p:spPr>
          <a:xfrm>
            <a:off x="7955280" y="4169664"/>
            <a:ext cx="3566160" cy="658368"/>
          </a:xfrm>
          <a:prstGeom prst="rect">
            <a:avLst/>
          </a:prstGeom>
          <a:noFill/>
          <a:ln>
            <a:noFill/>
          </a:ln>
        </p:spPr>
        <p:txBody>
          <a:bodyPr anchorCtr="0" anchor="ctr" bIns="27425" lIns="45700" spcFirstLastPara="1" rIns="45700" wrap="square" tIns="27425">
            <a:spAutoFit/>
          </a:bodyPr>
          <a:lstStyle/>
          <a:p>
            <a:pPr indent="0" lvl="0" marL="0" marR="0" rtl="0" algn="l">
              <a:spcBef>
                <a:spcPts val="0"/>
              </a:spcBef>
              <a:spcAft>
                <a:spcPts val="0"/>
              </a:spcAft>
              <a:buNone/>
            </a:pPr>
            <a:r>
              <a:rPr b="0" i="0" lang="en-US" sz="1300" u="none" cap="none" strike="noStrike">
                <a:solidFill>
                  <a:srgbClr val="141B2D"/>
                </a:solidFill>
                <a:latin typeface="Calibri"/>
                <a:ea typeface="Calibri"/>
                <a:cs typeface="Calibri"/>
                <a:sym typeface="Calibri"/>
              </a:rPr>
              <a:t>Weeks to days, org-wide</a:t>
            </a:r>
            <a:endParaRPr/>
          </a:p>
        </p:txBody>
      </p:sp>
      <p:sp>
        <p:nvSpPr>
          <p:cNvPr id="461" name="Google Shape;461;p22"/>
          <p:cNvSpPr/>
          <p:nvPr/>
        </p:nvSpPr>
        <p:spPr>
          <a:xfrm>
            <a:off x="548640" y="4828032"/>
            <a:ext cx="11064240" cy="658368"/>
          </a:xfrm>
          <a:prstGeom prst="rect">
            <a:avLst/>
          </a:prstGeom>
          <a:solidFill>
            <a:srgbClr val="F4F5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2" name="Google Shape;462;p22"/>
          <p:cNvSpPr txBox="1"/>
          <p:nvPr/>
        </p:nvSpPr>
        <p:spPr>
          <a:xfrm>
            <a:off x="640080" y="4828032"/>
            <a:ext cx="3566160" cy="658368"/>
          </a:xfrm>
          <a:prstGeom prst="rect">
            <a:avLst/>
          </a:prstGeom>
          <a:noFill/>
          <a:ln>
            <a:noFill/>
          </a:ln>
        </p:spPr>
        <p:txBody>
          <a:bodyPr anchorCtr="0" anchor="ctr" bIns="27425" lIns="45700" spcFirstLastPara="1" rIns="45700" wrap="square" tIns="27425">
            <a:spAutoFit/>
          </a:bodyPr>
          <a:lstStyle/>
          <a:p>
            <a:pPr indent="0" lvl="0" marL="0" marR="0" rtl="0" algn="l">
              <a:spcBef>
                <a:spcPts val="0"/>
              </a:spcBef>
              <a:spcAft>
                <a:spcPts val="0"/>
              </a:spcAft>
              <a:buNone/>
            </a:pPr>
            <a:r>
              <a:rPr b="1" i="0" lang="en-US" sz="1300" u="none" cap="none" strike="noStrike">
                <a:solidFill>
                  <a:srgbClr val="141B2D"/>
                </a:solidFill>
                <a:latin typeface="Calibri"/>
                <a:ea typeface="Calibri"/>
                <a:cs typeface="Calibri"/>
                <a:sym typeface="Calibri"/>
              </a:rPr>
              <a:t>Onboarding</a:t>
            </a:r>
            <a:endParaRPr/>
          </a:p>
        </p:txBody>
      </p:sp>
      <p:sp>
        <p:nvSpPr>
          <p:cNvPr id="463" name="Google Shape;463;p22"/>
          <p:cNvSpPr txBox="1"/>
          <p:nvPr/>
        </p:nvSpPr>
        <p:spPr>
          <a:xfrm>
            <a:off x="4297680" y="4828032"/>
            <a:ext cx="3566160" cy="658368"/>
          </a:xfrm>
          <a:prstGeom prst="rect">
            <a:avLst/>
          </a:prstGeom>
          <a:noFill/>
          <a:ln>
            <a:noFill/>
          </a:ln>
        </p:spPr>
        <p:txBody>
          <a:bodyPr anchorCtr="0" anchor="ctr" bIns="27425" lIns="45700" spcFirstLastPara="1" rIns="45700" wrap="square" tIns="27425">
            <a:spAutoFit/>
          </a:bodyPr>
          <a:lstStyle/>
          <a:p>
            <a:pPr indent="0" lvl="0" marL="0" marR="0" rtl="0" algn="l">
              <a:spcBef>
                <a:spcPts val="0"/>
              </a:spcBef>
              <a:spcAft>
                <a:spcPts val="0"/>
              </a:spcAft>
              <a:buNone/>
            </a:pPr>
            <a:r>
              <a:rPr b="0" i="0" lang="en-US" sz="1300" u="none" cap="none" strike="noStrike">
                <a:solidFill>
                  <a:srgbClr val="141B2D"/>
                </a:solidFill>
                <a:latin typeface="Calibri"/>
                <a:ea typeface="Calibri"/>
                <a:cs typeface="Calibri"/>
                <a:sym typeface="Calibri"/>
              </a:rPr>
              <a:t>Time to first meaningful PR for new hires</a:t>
            </a:r>
            <a:endParaRPr/>
          </a:p>
        </p:txBody>
      </p:sp>
      <p:sp>
        <p:nvSpPr>
          <p:cNvPr id="464" name="Google Shape;464;p22"/>
          <p:cNvSpPr txBox="1"/>
          <p:nvPr/>
        </p:nvSpPr>
        <p:spPr>
          <a:xfrm>
            <a:off x="7955280" y="4828032"/>
            <a:ext cx="3566160" cy="658368"/>
          </a:xfrm>
          <a:prstGeom prst="rect">
            <a:avLst/>
          </a:prstGeom>
          <a:noFill/>
          <a:ln>
            <a:noFill/>
          </a:ln>
        </p:spPr>
        <p:txBody>
          <a:bodyPr anchorCtr="0" anchor="ctr" bIns="27425" lIns="45700" spcFirstLastPara="1" rIns="45700" wrap="square" tIns="27425">
            <a:spAutoFit/>
          </a:bodyPr>
          <a:lstStyle/>
          <a:p>
            <a:pPr indent="0" lvl="0" marL="0" marR="0" rtl="0" algn="l">
              <a:spcBef>
                <a:spcPts val="0"/>
              </a:spcBef>
              <a:spcAft>
                <a:spcPts val="0"/>
              </a:spcAft>
              <a:buNone/>
            </a:pPr>
            <a:r>
              <a:rPr b="0" i="0" lang="en-US" sz="1300" u="none" cap="none" strike="noStrike">
                <a:solidFill>
                  <a:srgbClr val="141B2D"/>
                </a:solidFill>
                <a:latin typeface="Calibri"/>
                <a:ea typeface="Calibri"/>
                <a:cs typeface="Calibri"/>
                <a:sym typeface="Calibri"/>
              </a:rPr>
              <a:t>Weeks shaved via Wiki and Ask Devin</a:t>
            </a:r>
            <a:endParaRPr/>
          </a:p>
        </p:txBody>
      </p:sp>
      <p:sp>
        <p:nvSpPr>
          <p:cNvPr id="465" name="Google Shape;465;p22"/>
          <p:cNvSpPr txBox="1"/>
          <p:nvPr/>
        </p:nvSpPr>
        <p:spPr>
          <a:xfrm>
            <a:off x="548640" y="5669280"/>
            <a:ext cx="10972800" cy="54864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1" lang="en-US" sz="1300" u="none" cap="none" strike="noStrike">
                <a:solidFill>
                  <a:srgbClr val="6B7280"/>
                </a:solidFill>
                <a:latin typeface="Calibri"/>
                <a:ea typeface="Calibri"/>
                <a:cs typeface="Calibri"/>
                <a:sym typeface="Calibri"/>
              </a:rPr>
              <a:t>Pilot success criteria are set jointly against these levers and reviewed weekly.</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226"/>
        </a:solidFill>
      </p:bgPr>
    </p:bg>
    <p:spTree>
      <p:nvGrpSpPr>
        <p:cNvPr id="469" name="Shape 469"/>
        <p:cNvGrpSpPr/>
        <p:nvPr/>
      </p:nvGrpSpPr>
      <p:grpSpPr>
        <a:xfrm>
          <a:off x="0" y="0"/>
          <a:ext cx="0" cy="0"/>
          <a:chOff x="0" y="0"/>
          <a:chExt cx="0" cy="0"/>
        </a:xfrm>
      </p:grpSpPr>
      <p:sp>
        <p:nvSpPr>
          <p:cNvPr id="470" name="Google Shape;470;p23"/>
          <p:cNvSpPr txBox="1"/>
          <p:nvPr/>
        </p:nvSpPr>
        <p:spPr>
          <a:xfrm>
            <a:off x="822960" y="2377440"/>
            <a:ext cx="3657600" cy="4572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600" u="none" cap="none" strike="noStrike">
                <a:solidFill>
                  <a:srgbClr val="3B82F6"/>
                </a:solidFill>
                <a:latin typeface="Calibri"/>
                <a:ea typeface="Calibri"/>
                <a:cs typeface="Calibri"/>
                <a:sym typeface="Calibri"/>
              </a:rPr>
              <a:t>SECTION 06</a:t>
            </a:r>
            <a:endParaRPr/>
          </a:p>
        </p:txBody>
      </p:sp>
      <p:sp>
        <p:nvSpPr>
          <p:cNvPr id="471" name="Google Shape;471;p23"/>
          <p:cNvSpPr txBox="1"/>
          <p:nvPr/>
        </p:nvSpPr>
        <p:spPr>
          <a:xfrm>
            <a:off x="822960" y="2834640"/>
            <a:ext cx="10058400" cy="109728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4800" u="none" cap="none" strike="noStrike">
                <a:solidFill>
                  <a:srgbClr val="FFFFFF"/>
                </a:solidFill>
                <a:latin typeface="Calibri"/>
                <a:ea typeface="Calibri"/>
                <a:cs typeface="Calibri"/>
                <a:sym typeface="Calibri"/>
              </a:rPr>
              <a:t>Next Steps</a:t>
            </a:r>
            <a:endParaRPr/>
          </a:p>
        </p:txBody>
      </p:sp>
      <p:sp>
        <p:nvSpPr>
          <p:cNvPr id="472" name="Google Shape;472;p23"/>
          <p:cNvSpPr txBox="1"/>
          <p:nvPr/>
        </p:nvSpPr>
        <p:spPr>
          <a:xfrm>
            <a:off x="822960" y="3840480"/>
            <a:ext cx="10058400" cy="73152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2200" u="none" cap="none" strike="noStrike">
                <a:solidFill>
                  <a:srgbClr val="D9DDE5"/>
                </a:solidFill>
                <a:latin typeface="Calibri"/>
                <a:ea typeface="Calibri"/>
                <a:cs typeface="Calibri"/>
                <a:sym typeface="Calibri"/>
              </a:rPr>
              <a:t>A proposal to prove value in your environment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7" name="Shape 477"/>
        <p:cNvGrpSpPr/>
        <p:nvPr/>
      </p:nvGrpSpPr>
      <p:grpSpPr>
        <a:xfrm>
          <a:off x="0" y="0"/>
          <a:ext cx="0" cy="0"/>
          <a:chOff x="0" y="0"/>
          <a:chExt cx="0" cy="0"/>
        </a:xfrm>
      </p:grpSpPr>
      <p:sp>
        <p:nvSpPr>
          <p:cNvPr id="478" name="Google Shape;478;p24"/>
          <p:cNvSpPr/>
          <p:nvPr/>
        </p:nvSpPr>
        <p:spPr>
          <a:xfrm>
            <a:off x="0" y="0"/>
            <a:ext cx="12191695" cy="109728"/>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79" name="Google Shape;479;p24"/>
          <p:cNvSpPr txBox="1"/>
          <p:nvPr/>
        </p:nvSpPr>
        <p:spPr>
          <a:xfrm>
            <a:off x="548640" y="411480"/>
            <a:ext cx="7315200" cy="36576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200" u="none" cap="none" strike="noStrike">
                <a:solidFill>
                  <a:srgbClr val="3B82F6"/>
                </a:solidFill>
                <a:latin typeface="Calibri"/>
                <a:ea typeface="Calibri"/>
                <a:cs typeface="Calibri"/>
                <a:sym typeface="Calibri"/>
              </a:rPr>
              <a:t>NEXT STEPS</a:t>
            </a:r>
            <a:endParaRPr/>
          </a:p>
        </p:txBody>
      </p:sp>
      <p:sp>
        <p:nvSpPr>
          <p:cNvPr id="480" name="Google Shape;480;p24"/>
          <p:cNvSpPr txBox="1"/>
          <p:nvPr/>
        </p:nvSpPr>
        <p:spPr>
          <a:xfrm>
            <a:off x="548640" y="731520"/>
            <a:ext cx="11155680" cy="9144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3000" u="none" cap="none" strike="noStrike">
                <a:solidFill>
                  <a:srgbClr val="141B2D"/>
                </a:solidFill>
                <a:latin typeface="Calibri"/>
                <a:ea typeface="Calibri"/>
                <a:cs typeface="Calibri"/>
                <a:sym typeface="Calibri"/>
              </a:rPr>
              <a:t>Proposal: a 6-week scoped pilot</a:t>
            </a:r>
            <a:endParaRPr/>
          </a:p>
        </p:txBody>
      </p:sp>
      <p:sp>
        <p:nvSpPr>
          <p:cNvPr id="481" name="Google Shape;481;p24"/>
          <p:cNvSpPr txBox="1"/>
          <p:nvPr/>
        </p:nvSpPr>
        <p:spPr>
          <a:xfrm>
            <a:off x="548640" y="6446520"/>
            <a:ext cx="7315200" cy="27432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000" u="none" cap="none" strike="noStrike">
                <a:solidFill>
                  <a:srgbClr val="6B7280"/>
                </a:solidFill>
                <a:latin typeface="Calibri"/>
                <a:ea typeface="Calibri"/>
                <a:cs typeface="Calibri"/>
                <a:sym typeface="Calibri"/>
              </a:rPr>
              <a:t>Cognition  |  Devin Discovery</a:t>
            </a:r>
            <a:endParaRPr/>
          </a:p>
        </p:txBody>
      </p:sp>
      <p:sp>
        <p:nvSpPr>
          <p:cNvPr id="482" name="Google Shape;482;p24"/>
          <p:cNvSpPr txBox="1"/>
          <p:nvPr/>
        </p:nvSpPr>
        <p:spPr>
          <a:xfrm>
            <a:off x="10789920" y="6446520"/>
            <a:ext cx="914400" cy="274320"/>
          </a:xfrm>
          <a:prstGeom prst="rect">
            <a:avLst/>
          </a:prstGeom>
          <a:noFill/>
          <a:ln>
            <a:noFill/>
          </a:ln>
        </p:spPr>
        <p:txBody>
          <a:bodyPr anchorCtr="0" anchor="t" bIns="27425" lIns="45700" spcFirstLastPara="1" rIns="45700" wrap="square" tIns="27425">
            <a:spAutoFit/>
          </a:bodyPr>
          <a:lstStyle/>
          <a:p>
            <a:pPr indent="0" lvl="0" marL="0" marR="0" rtl="0" algn="r">
              <a:spcBef>
                <a:spcPts val="0"/>
              </a:spcBef>
              <a:spcAft>
                <a:spcPts val="0"/>
              </a:spcAft>
              <a:buNone/>
            </a:pPr>
            <a:r>
              <a:rPr b="0" i="0" lang="en-US" sz="1000" u="none" cap="none" strike="noStrike">
                <a:solidFill>
                  <a:srgbClr val="6B7280"/>
                </a:solidFill>
                <a:latin typeface="Calibri"/>
                <a:ea typeface="Calibri"/>
                <a:cs typeface="Calibri"/>
                <a:sym typeface="Calibri"/>
              </a:rPr>
              <a:t>24</a:t>
            </a:r>
            <a:endParaRPr/>
          </a:p>
        </p:txBody>
      </p:sp>
      <p:sp>
        <p:nvSpPr>
          <p:cNvPr id="483" name="Google Shape;483;p24"/>
          <p:cNvSpPr/>
          <p:nvPr/>
        </p:nvSpPr>
        <p:spPr>
          <a:xfrm>
            <a:off x="548640" y="1737360"/>
            <a:ext cx="3566160" cy="3566160"/>
          </a:xfrm>
          <a:prstGeom prst="roundRect">
            <a:avLst>
              <a:gd fmla="val 16667" name="adj"/>
            </a:avLst>
          </a:prstGeom>
          <a:solidFill>
            <a:srgbClr val="F4F5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84" name="Google Shape;484;p24"/>
          <p:cNvSpPr/>
          <p:nvPr/>
        </p:nvSpPr>
        <p:spPr>
          <a:xfrm>
            <a:off x="548640" y="1737360"/>
            <a:ext cx="3566160" cy="548640"/>
          </a:xfrm>
          <a:prstGeom prst="roundRect">
            <a:avLst>
              <a:gd fmla="val 16667" name="adj"/>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85" name="Google Shape;485;p24"/>
          <p:cNvSpPr txBox="1"/>
          <p:nvPr/>
        </p:nvSpPr>
        <p:spPr>
          <a:xfrm>
            <a:off x="731520" y="1737360"/>
            <a:ext cx="3200400" cy="548640"/>
          </a:xfrm>
          <a:prstGeom prst="rect">
            <a:avLst/>
          </a:prstGeom>
          <a:noFill/>
          <a:ln>
            <a:noFill/>
          </a:ln>
        </p:spPr>
        <p:txBody>
          <a:bodyPr anchorCtr="0" anchor="ctr" bIns="27425" lIns="45700" spcFirstLastPara="1" rIns="45700" wrap="square" tIns="27425">
            <a:spAutoFit/>
          </a:bodyPr>
          <a:lstStyle/>
          <a:p>
            <a:pPr indent="0" lvl="0" marL="0" marR="0" rtl="0" algn="l">
              <a:spcBef>
                <a:spcPts val="0"/>
              </a:spcBef>
              <a:spcAft>
                <a:spcPts val="0"/>
              </a:spcAft>
              <a:buNone/>
            </a:pPr>
            <a:r>
              <a:rPr b="1" i="0" lang="en-US" sz="1500" u="none" cap="none" strike="noStrike">
                <a:solidFill>
                  <a:srgbClr val="FFFFFF"/>
                </a:solidFill>
                <a:latin typeface="Calibri"/>
                <a:ea typeface="Calibri"/>
                <a:cs typeface="Calibri"/>
                <a:sym typeface="Calibri"/>
              </a:rPr>
              <a:t>Week 0-1  |  Security &amp; setup</a:t>
            </a:r>
            <a:endParaRPr/>
          </a:p>
        </p:txBody>
      </p:sp>
      <p:sp>
        <p:nvSpPr>
          <p:cNvPr id="486" name="Google Shape;486;p24"/>
          <p:cNvSpPr txBox="1"/>
          <p:nvPr/>
        </p:nvSpPr>
        <p:spPr>
          <a:xfrm>
            <a:off x="731520" y="2468880"/>
            <a:ext cx="3200400" cy="27432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1300" u="none" cap="none" strike="noStrike">
                <a:solidFill>
                  <a:srgbClr val="3B82F6"/>
                </a:solidFill>
                <a:latin typeface="Calibri"/>
                <a:ea typeface="Calibri"/>
                <a:cs typeface="Calibri"/>
                <a:sym typeface="Calibri"/>
              </a:rPr>
              <a:t>▪  </a:t>
            </a:r>
            <a:r>
              <a:rPr b="0" i="0" lang="en-US" sz="1300" u="none" cap="none" strike="noStrike">
                <a:solidFill>
                  <a:srgbClr val="141B2D"/>
                </a:solidFill>
                <a:latin typeface="Calibri"/>
                <a:ea typeface="Calibri"/>
                <a:cs typeface="Calibri"/>
                <a:sym typeface="Calibri"/>
              </a:rPr>
              <a:t>Security review: SOC 2 report, DPA, architecture Q&amp;A</a:t>
            </a:r>
            <a:endParaRPr/>
          </a:p>
          <a:p>
            <a:pPr indent="0" lvl="0" marL="0" marR="0" rtl="0" algn="l">
              <a:spcBef>
                <a:spcPts val="500"/>
              </a:spcBef>
              <a:spcAft>
                <a:spcPts val="0"/>
              </a:spcAft>
              <a:buNone/>
            </a:pPr>
            <a:r>
              <a:rPr b="0" i="0" lang="en-US" sz="1300" u="none" cap="none" strike="noStrike">
                <a:solidFill>
                  <a:srgbClr val="3B82F6"/>
                </a:solidFill>
                <a:latin typeface="Calibri"/>
                <a:ea typeface="Calibri"/>
                <a:cs typeface="Calibri"/>
                <a:sym typeface="Calibri"/>
              </a:rPr>
              <a:t>▪  </a:t>
            </a:r>
            <a:r>
              <a:rPr b="0" i="0" lang="en-US" sz="1300" u="none" cap="none" strike="noStrike">
                <a:solidFill>
                  <a:srgbClr val="141B2D"/>
                </a:solidFill>
                <a:latin typeface="Calibri"/>
                <a:ea typeface="Calibri"/>
                <a:cs typeface="Calibri"/>
                <a:sym typeface="Calibri"/>
              </a:rPr>
              <a:t>Connect repos, Slack, issue tracker</a:t>
            </a:r>
            <a:endParaRPr/>
          </a:p>
          <a:p>
            <a:pPr indent="0" lvl="0" marL="0" marR="0" rtl="0" algn="l">
              <a:spcBef>
                <a:spcPts val="500"/>
              </a:spcBef>
              <a:spcAft>
                <a:spcPts val="0"/>
              </a:spcAft>
              <a:buNone/>
            </a:pPr>
            <a:r>
              <a:rPr b="0" i="0" lang="en-US" sz="1300" u="none" cap="none" strike="noStrike">
                <a:solidFill>
                  <a:srgbClr val="3B82F6"/>
                </a:solidFill>
                <a:latin typeface="Calibri"/>
                <a:ea typeface="Calibri"/>
                <a:cs typeface="Calibri"/>
                <a:sym typeface="Calibri"/>
              </a:rPr>
              <a:t>▪  </a:t>
            </a:r>
            <a:r>
              <a:rPr b="0" i="0" lang="en-US" sz="1300" u="none" cap="none" strike="noStrike">
                <a:solidFill>
                  <a:srgbClr val="141B2D"/>
                </a:solidFill>
                <a:latin typeface="Calibri"/>
                <a:ea typeface="Calibri"/>
                <a:cs typeface="Calibri"/>
                <a:sym typeface="Calibri"/>
              </a:rPr>
              <a:t>Define 2-3 target task types and success metrics</a:t>
            </a:r>
            <a:endParaRPr/>
          </a:p>
        </p:txBody>
      </p:sp>
      <p:sp>
        <p:nvSpPr>
          <p:cNvPr id="487" name="Google Shape;487;p24"/>
          <p:cNvSpPr/>
          <p:nvPr/>
        </p:nvSpPr>
        <p:spPr>
          <a:xfrm>
            <a:off x="4297679" y="1737360"/>
            <a:ext cx="3566160" cy="3566160"/>
          </a:xfrm>
          <a:prstGeom prst="roundRect">
            <a:avLst>
              <a:gd fmla="val 16667" name="adj"/>
            </a:avLst>
          </a:prstGeom>
          <a:solidFill>
            <a:srgbClr val="F4F5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88" name="Google Shape;488;p24"/>
          <p:cNvSpPr/>
          <p:nvPr/>
        </p:nvSpPr>
        <p:spPr>
          <a:xfrm>
            <a:off x="4297679" y="1737360"/>
            <a:ext cx="3566160" cy="548640"/>
          </a:xfrm>
          <a:prstGeom prst="roundRect">
            <a:avLst>
              <a:gd fmla="val 16667" name="adj"/>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89" name="Google Shape;489;p24"/>
          <p:cNvSpPr txBox="1"/>
          <p:nvPr/>
        </p:nvSpPr>
        <p:spPr>
          <a:xfrm>
            <a:off x="4480559" y="1737360"/>
            <a:ext cx="3200400" cy="548640"/>
          </a:xfrm>
          <a:prstGeom prst="rect">
            <a:avLst/>
          </a:prstGeom>
          <a:noFill/>
          <a:ln>
            <a:noFill/>
          </a:ln>
        </p:spPr>
        <p:txBody>
          <a:bodyPr anchorCtr="0" anchor="ctr" bIns="27425" lIns="45700" spcFirstLastPara="1" rIns="45700" wrap="square" tIns="27425">
            <a:spAutoFit/>
          </a:bodyPr>
          <a:lstStyle/>
          <a:p>
            <a:pPr indent="0" lvl="0" marL="0" marR="0" rtl="0" algn="l">
              <a:spcBef>
                <a:spcPts val="0"/>
              </a:spcBef>
              <a:spcAft>
                <a:spcPts val="0"/>
              </a:spcAft>
              <a:buNone/>
            </a:pPr>
            <a:r>
              <a:rPr b="1" i="0" lang="en-US" sz="1500" u="none" cap="none" strike="noStrike">
                <a:solidFill>
                  <a:srgbClr val="FFFFFF"/>
                </a:solidFill>
                <a:latin typeface="Calibri"/>
                <a:ea typeface="Calibri"/>
                <a:cs typeface="Calibri"/>
                <a:sym typeface="Calibri"/>
              </a:rPr>
              <a:t>Week 2-5  |  Run</a:t>
            </a:r>
            <a:endParaRPr/>
          </a:p>
        </p:txBody>
      </p:sp>
      <p:sp>
        <p:nvSpPr>
          <p:cNvPr id="490" name="Google Shape;490;p24"/>
          <p:cNvSpPr txBox="1"/>
          <p:nvPr/>
        </p:nvSpPr>
        <p:spPr>
          <a:xfrm>
            <a:off x="4480559" y="2468880"/>
            <a:ext cx="3200400" cy="27432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1300" u="none" cap="none" strike="noStrike">
                <a:solidFill>
                  <a:srgbClr val="3B82F6"/>
                </a:solidFill>
                <a:latin typeface="Calibri"/>
                <a:ea typeface="Calibri"/>
                <a:cs typeface="Calibri"/>
                <a:sym typeface="Calibri"/>
              </a:rPr>
              <a:t>▪  </a:t>
            </a:r>
            <a:r>
              <a:rPr b="0" i="0" lang="en-US" sz="1300" u="none" cap="none" strike="noStrike">
                <a:solidFill>
                  <a:srgbClr val="141B2D"/>
                </a:solidFill>
                <a:latin typeface="Calibri"/>
                <a:ea typeface="Calibri"/>
                <a:cs typeface="Calibri"/>
                <a:sym typeface="Calibri"/>
              </a:rPr>
              <a:t>Champion team assigns real backlog tickets to Devin</a:t>
            </a:r>
            <a:endParaRPr/>
          </a:p>
          <a:p>
            <a:pPr indent="0" lvl="0" marL="0" marR="0" rtl="0" algn="l">
              <a:spcBef>
                <a:spcPts val="500"/>
              </a:spcBef>
              <a:spcAft>
                <a:spcPts val="0"/>
              </a:spcAft>
              <a:buNone/>
            </a:pPr>
            <a:r>
              <a:rPr b="0" i="0" lang="en-US" sz="1300" u="none" cap="none" strike="noStrike">
                <a:solidFill>
                  <a:srgbClr val="3B82F6"/>
                </a:solidFill>
                <a:latin typeface="Calibri"/>
                <a:ea typeface="Calibri"/>
                <a:cs typeface="Calibri"/>
                <a:sym typeface="Calibri"/>
              </a:rPr>
              <a:t>▪  </a:t>
            </a:r>
            <a:r>
              <a:rPr b="0" i="0" lang="en-US" sz="1300" u="none" cap="none" strike="noStrike">
                <a:solidFill>
                  <a:srgbClr val="141B2D"/>
                </a:solidFill>
                <a:latin typeface="Calibri"/>
                <a:ea typeface="Calibri"/>
                <a:cs typeface="Calibri"/>
                <a:sym typeface="Calibri"/>
              </a:rPr>
              <a:t>Cognition forward-deployed engineer embedded</a:t>
            </a:r>
            <a:endParaRPr/>
          </a:p>
          <a:p>
            <a:pPr indent="0" lvl="0" marL="0" marR="0" rtl="0" algn="l">
              <a:spcBef>
                <a:spcPts val="500"/>
              </a:spcBef>
              <a:spcAft>
                <a:spcPts val="0"/>
              </a:spcAft>
              <a:buNone/>
            </a:pPr>
            <a:r>
              <a:rPr b="0" i="0" lang="en-US" sz="1300" u="none" cap="none" strike="noStrike">
                <a:solidFill>
                  <a:srgbClr val="3B82F6"/>
                </a:solidFill>
                <a:latin typeface="Calibri"/>
                <a:ea typeface="Calibri"/>
                <a:cs typeface="Calibri"/>
                <a:sym typeface="Calibri"/>
              </a:rPr>
              <a:t>▪  </a:t>
            </a:r>
            <a:r>
              <a:rPr b="0" i="0" lang="en-US" sz="1300" u="none" cap="none" strike="noStrike">
                <a:solidFill>
                  <a:srgbClr val="141B2D"/>
                </a:solidFill>
                <a:latin typeface="Calibri"/>
                <a:ea typeface="Calibri"/>
                <a:cs typeface="Calibri"/>
                <a:sym typeface="Calibri"/>
              </a:rPr>
              <a:t>Weekly metrics: PRs merged, cycle time, hours saved</a:t>
            </a:r>
            <a:endParaRPr/>
          </a:p>
        </p:txBody>
      </p:sp>
      <p:sp>
        <p:nvSpPr>
          <p:cNvPr id="491" name="Google Shape;491;p24"/>
          <p:cNvSpPr/>
          <p:nvPr/>
        </p:nvSpPr>
        <p:spPr>
          <a:xfrm>
            <a:off x="8046718" y="1737360"/>
            <a:ext cx="3566160" cy="3566160"/>
          </a:xfrm>
          <a:prstGeom prst="roundRect">
            <a:avLst>
              <a:gd fmla="val 16667" name="adj"/>
            </a:avLst>
          </a:prstGeom>
          <a:solidFill>
            <a:srgbClr val="F4F5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92" name="Google Shape;492;p24"/>
          <p:cNvSpPr/>
          <p:nvPr/>
        </p:nvSpPr>
        <p:spPr>
          <a:xfrm>
            <a:off x="8046718" y="1737360"/>
            <a:ext cx="3566160" cy="548640"/>
          </a:xfrm>
          <a:prstGeom prst="roundRect">
            <a:avLst>
              <a:gd fmla="val 16667" name="adj"/>
            </a:avLst>
          </a:prstGeom>
          <a:solidFill>
            <a:srgbClr val="22C55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93" name="Google Shape;493;p24"/>
          <p:cNvSpPr txBox="1"/>
          <p:nvPr/>
        </p:nvSpPr>
        <p:spPr>
          <a:xfrm>
            <a:off x="8229598" y="1737360"/>
            <a:ext cx="3200400" cy="548640"/>
          </a:xfrm>
          <a:prstGeom prst="rect">
            <a:avLst/>
          </a:prstGeom>
          <a:noFill/>
          <a:ln>
            <a:noFill/>
          </a:ln>
        </p:spPr>
        <p:txBody>
          <a:bodyPr anchorCtr="0" anchor="ctr" bIns="27425" lIns="45700" spcFirstLastPara="1" rIns="45700" wrap="square" tIns="27425">
            <a:spAutoFit/>
          </a:bodyPr>
          <a:lstStyle/>
          <a:p>
            <a:pPr indent="0" lvl="0" marL="0" marR="0" rtl="0" algn="l">
              <a:spcBef>
                <a:spcPts val="0"/>
              </a:spcBef>
              <a:spcAft>
                <a:spcPts val="0"/>
              </a:spcAft>
              <a:buNone/>
            </a:pPr>
            <a:r>
              <a:rPr b="1" i="0" lang="en-US" sz="1500" u="none" cap="none" strike="noStrike">
                <a:solidFill>
                  <a:srgbClr val="FFFFFF"/>
                </a:solidFill>
                <a:latin typeface="Calibri"/>
                <a:ea typeface="Calibri"/>
                <a:cs typeface="Calibri"/>
                <a:sym typeface="Calibri"/>
              </a:rPr>
              <a:t>Week 6  |  Decide</a:t>
            </a:r>
            <a:endParaRPr/>
          </a:p>
        </p:txBody>
      </p:sp>
      <p:sp>
        <p:nvSpPr>
          <p:cNvPr id="494" name="Google Shape;494;p24"/>
          <p:cNvSpPr txBox="1"/>
          <p:nvPr/>
        </p:nvSpPr>
        <p:spPr>
          <a:xfrm>
            <a:off x="8229598" y="2468880"/>
            <a:ext cx="3200400" cy="27432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1300" u="none" cap="none" strike="noStrike">
                <a:solidFill>
                  <a:srgbClr val="3B82F6"/>
                </a:solidFill>
                <a:latin typeface="Calibri"/>
                <a:ea typeface="Calibri"/>
                <a:cs typeface="Calibri"/>
                <a:sym typeface="Calibri"/>
              </a:rPr>
              <a:t>▪  </a:t>
            </a:r>
            <a:r>
              <a:rPr b="0" i="0" lang="en-US" sz="1300" u="none" cap="none" strike="noStrike">
                <a:solidFill>
                  <a:srgbClr val="141B2D"/>
                </a:solidFill>
                <a:latin typeface="Calibri"/>
                <a:ea typeface="Calibri"/>
                <a:cs typeface="Calibri"/>
                <a:sym typeface="Calibri"/>
              </a:rPr>
              <a:t>Executive readout vs. agreed criteria</a:t>
            </a:r>
            <a:endParaRPr/>
          </a:p>
          <a:p>
            <a:pPr indent="0" lvl="0" marL="0" marR="0" rtl="0" algn="l">
              <a:spcBef>
                <a:spcPts val="500"/>
              </a:spcBef>
              <a:spcAft>
                <a:spcPts val="0"/>
              </a:spcAft>
              <a:buNone/>
            </a:pPr>
            <a:r>
              <a:rPr b="0" i="0" lang="en-US" sz="1300" u="none" cap="none" strike="noStrike">
                <a:solidFill>
                  <a:srgbClr val="3B82F6"/>
                </a:solidFill>
                <a:latin typeface="Calibri"/>
                <a:ea typeface="Calibri"/>
                <a:cs typeface="Calibri"/>
                <a:sym typeface="Calibri"/>
              </a:rPr>
              <a:t>▪  </a:t>
            </a:r>
            <a:r>
              <a:rPr b="0" i="0" lang="en-US" sz="1300" u="none" cap="none" strike="noStrike">
                <a:solidFill>
                  <a:srgbClr val="141B2D"/>
                </a:solidFill>
                <a:latin typeface="Calibri"/>
                <a:ea typeface="Calibri"/>
                <a:cs typeface="Calibri"/>
                <a:sym typeface="Calibri"/>
              </a:rPr>
              <a:t>ROI model with your actual numbers</a:t>
            </a:r>
            <a:endParaRPr/>
          </a:p>
          <a:p>
            <a:pPr indent="0" lvl="0" marL="0" marR="0" rtl="0" algn="l">
              <a:spcBef>
                <a:spcPts val="500"/>
              </a:spcBef>
              <a:spcAft>
                <a:spcPts val="0"/>
              </a:spcAft>
              <a:buNone/>
            </a:pPr>
            <a:r>
              <a:rPr b="0" i="0" lang="en-US" sz="1300" u="none" cap="none" strike="noStrike">
                <a:solidFill>
                  <a:srgbClr val="3B82F6"/>
                </a:solidFill>
                <a:latin typeface="Calibri"/>
                <a:ea typeface="Calibri"/>
                <a:cs typeface="Calibri"/>
                <a:sym typeface="Calibri"/>
              </a:rPr>
              <a:t>▪  </a:t>
            </a:r>
            <a:r>
              <a:rPr b="0" i="0" lang="en-US" sz="1300" u="none" cap="none" strike="noStrike">
                <a:solidFill>
                  <a:srgbClr val="141B2D"/>
                </a:solidFill>
                <a:latin typeface="Calibri"/>
                <a:ea typeface="Calibri"/>
                <a:cs typeface="Calibri"/>
                <a:sym typeface="Calibri"/>
              </a:rPr>
              <a:t>Rollout plan and commercial proposal</a:t>
            </a:r>
            <a:endParaRPr/>
          </a:p>
        </p:txBody>
      </p:sp>
      <p:sp>
        <p:nvSpPr>
          <p:cNvPr id="495" name="Google Shape;495;p24"/>
          <p:cNvSpPr txBox="1"/>
          <p:nvPr/>
        </p:nvSpPr>
        <p:spPr>
          <a:xfrm>
            <a:off x="548640" y="5486400"/>
            <a:ext cx="10972800" cy="36576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400" u="none" cap="none" strike="noStrike">
                <a:solidFill>
                  <a:srgbClr val="3B82F6"/>
                </a:solidFill>
                <a:latin typeface="Calibri"/>
                <a:ea typeface="Calibri"/>
                <a:cs typeface="Calibri"/>
                <a:sym typeface="Calibri"/>
              </a:rPr>
              <a:t>What we ask of you</a:t>
            </a:r>
            <a:endParaRPr/>
          </a:p>
        </p:txBody>
      </p:sp>
      <p:sp>
        <p:nvSpPr>
          <p:cNvPr id="496" name="Google Shape;496;p24"/>
          <p:cNvSpPr txBox="1"/>
          <p:nvPr/>
        </p:nvSpPr>
        <p:spPr>
          <a:xfrm>
            <a:off x="548640" y="5806440"/>
            <a:ext cx="10972800" cy="54864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300" u="none" cap="none" strike="noStrike">
                <a:solidFill>
                  <a:srgbClr val="141B2D"/>
                </a:solidFill>
                <a:latin typeface="Calibri"/>
                <a:ea typeface="Calibri"/>
                <a:cs typeface="Calibri"/>
                <a:sym typeface="Calibri"/>
              </a:rPr>
              <a:t>One executive sponsor, one champion team (5-10 engineers), a security point of contact, and a backlog of real tickets. We bring the rest.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226"/>
        </a:solidFill>
      </p:bgPr>
    </p:bg>
    <p:spTree>
      <p:nvGrpSpPr>
        <p:cNvPr id="501" name="Shape 501"/>
        <p:cNvGrpSpPr/>
        <p:nvPr/>
      </p:nvGrpSpPr>
      <p:grpSpPr>
        <a:xfrm>
          <a:off x="0" y="0"/>
          <a:ext cx="0" cy="0"/>
          <a:chOff x="0" y="0"/>
          <a:chExt cx="0" cy="0"/>
        </a:xfrm>
      </p:grpSpPr>
      <p:sp>
        <p:nvSpPr>
          <p:cNvPr id="502" name="Google Shape;502;p25"/>
          <p:cNvSpPr/>
          <p:nvPr/>
        </p:nvSpPr>
        <p:spPr>
          <a:xfrm>
            <a:off x="0" y="0"/>
            <a:ext cx="228600" cy="6858000"/>
          </a:xfrm>
          <a:prstGeom prst="rect">
            <a:avLst/>
          </a:prstGeom>
          <a:solidFill>
            <a:srgbClr val="22C55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03" name="Google Shape;503;p25"/>
          <p:cNvSpPr txBox="1"/>
          <p:nvPr/>
        </p:nvSpPr>
        <p:spPr>
          <a:xfrm>
            <a:off x="822960" y="1645920"/>
            <a:ext cx="10515600" cy="128016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4000" u="none" cap="none" strike="noStrike">
                <a:solidFill>
                  <a:srgbClr val="FFFFFF"/>
                </a:solidFill>
                <a:latin typeface="Calibri"/>
                <a:ea typeface="Calibri"/>
                <a:cs typeface="Calibri"/>
                <a:sym typeface="Calibri"/>
              </a:rPr>
              <a:t>Give your engineers a teammate. Give your roadmap a chance.</a:t>
            </a:r>
            <a:endParaRPr/>
          </a:p>
        </p:txBody>
      </p:sp>
      <p:sp>
        <p:nvSpPr>
          <p:cNvPr id="504" name="Google Shape;504;p25"/>
          <p:cNvSpPr txBox="1"/>
          <p:nvPr/>
        </p:nvSpPr>
        <p:spPr>
          <a:xfrm>
            <a:off x="822960" y="3200400"/>
            <a:ext cx="10515600" cy="146304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2000" u="none" cap="none" strike="noStrike">
                <a:solidFill>
                  <a:srgbClr val="D9DDE5"/>
                </a:solidFill>
                <a:latin typeface="Calibri"/>
                <a:ea typeface="Calibri"/>
                <a:cs typeface="Calibri"/>
                <a:sym typeface="Calibri"/>
              </a:rPr>
              <a:t>Devin takes on the migrations, tests, and toil that consume your best people,</a:t>
            </a:r>
            <a:endParaRPr/>
          </a:p>
          <a:p>
            <a:pPr indent="0" lvl="0" marL="0" marR="0" rtl="0" algn="l">
              <a:spcBef>
                <a:spcPts val="0"/>
              </a:spcBef>
              <a:spcAft>
                <a:spcPts val="0"/>
              </a:spcAft>
              <a:buNone/>
            </a:pPr>
            <a:r>
              <a:rPr b="0" i="0" lang="en-US" sz="2000" u="none" cap="none" strike="noStrike">
                <a:solidFill>
                  <a:srgbClr val="D9DDE5"/>
                </a:solidFill>
                <a:latin typeface="Calibri"/>
                <a:ea typeface="Calibri"/>
                <a:cs typeface="Calibri"/>
                <a:sym typeface="Calibri"/>
              </a:rPr>
              <a:t>inside the security boundaries your CISO defines, with every change reviewed by your team.</a:t>
            </a:r>
            <a:endParaRPr/>
          </a:p>
        </p:txBody>
      </p:sp>
      <p:sp>
        <p:nvSpPr>
          <p:cNvPr id="505" name="Google Shape;505;p25"/>
          <p:cNvSpPr txBox="1"/>
          <p:nvPr/>
        </p:nvSpPr>
        <p:spPr>
          <a:xfrm>
            <a:off x="822960" y="4937760"/>
            <a:ext cx="10515600" cy="4572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400" u="none" cap="none" strike="noStrike">
                <a:solidFill>
                  <a:srgbClr val="22C55E"/>
                </a:solidFill>
                <a:latin typeface="Calibri"/>
                <a:ea typeface="Calibri"/>
                <a:cs typeface="Calibri"/>
                <a:sym typeface="Calibri"/>
              </a:rPr>
              <a:t>Proposed next step</a:t>
            </a:r>
            <a:endParaRPr/>
          </a:p>
        </p:txBody>
      </p:sp>
      <p:sp>
        <p:nvSpPr>
          <p:cNvPr id="506" name="Google Shape;506;p25"/>
          <p:cNvSpPr txBox="1"/>
          <p:nvPr/>
        </p:nvSpPr>
        <p:spPr>
          <a:xfrm>
            <a:off x="822960" y="5303520"/>
            <a:ext cx="10515600" cy="73152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800" u="none" cap="none" strike="noStrike">
                <a:solidFill>
                  <a:srgbClr val="FFFFFF"/>
                </a:solidFill>
                <a:latin typeface="Calibri"/>
                <a:ea typeface="Calibri"/>
                <a:cs typeface="Calibri"/>
                <a:sym typeface="Calibri"/>
              </a:rPr>
              <a:t>Security review kickoff and pilot scoping session within the next two weeks.</a:t>
            </a:r>
            <a:endParaRPr/>
          </a:p>
        </p:txBody>
      </p:sp>
      <p:sp>
        <p:nvSpPr>
          <p:cNvPr id="507" name="Google Shape;507;p25"/>
          <p:cNvSpPr txBox="1"/>
          <p:nvPr/>
        </p:nvSpPr>
        <p:spPr>
          <a:xfrm>
            <a:off x="822960" y="6126480"/>
            <a:ext cx="10058400" cy="36576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300" u="none" cap="none" strike="noStrike">
                <a:solidFill>
                  <a:srgbClr val="6B7280"/>
                </a:solidFill>
                <a:latin typeface="Calibri"/>
                <a:ea typeface="Calibri"/>
                <a:cs typeface="Calibri"/>
                <a:sym typeface="Calibri"/>
              </a:rPr>
              <a:t>[Your Name]  |  [email]  |  cognition.ai</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226"/>
        </a:solidFill>
      </p:bgPr>
    </p:bg>
    <p:spTree>
      <p:nvGrpSpPr>
        <p:cNvPr id="511" name="Shape 511"/>
        <p:cNvGrpSpPr/>
        <p:nvPr/>
      </p:nvGrpSpPr>
      <p:grpSpPr>
        <a:xfrm>
          <a:off x="0" y="0"/>
          <a:ext cx="0" cy="0"/>
          <a:chOff x="0" y="0"/>
          <a:chExt cx="0" cy="0"/>
        </a:xfrm>
      </p:grpSpPr>
      <p:sp>
        <p:nvSpPr>
          <p:cNvPr id="512" name="Google Shape;512;h1bbba60e94861fb1_0_20"/>
          <p:cNvSpPr txBox="1"/>
          <p:nvPr/>
        </p:nvSpPr>
        <p:spPr>
          <a:xfrm>
            <a:off x="822960" y="2377440"/>
            <a:ext cx="3657600" cy="3018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600" u="none" cap="none" strike="noStrike">
                <a:solidFill>
                  <a:srgbClr val="3B82F6"/>
                </a:solidFill>
                <a:latin typeface="Calibri"/>
                <a:ea typeface="Calibri"/>
                <a:cs typeface="Calibri"/>
                <a:sym typeface="Calibri"/>
              </a:rPr>
              <a:t>SECTION 06</a:t>
            </a:r>
            <a:endParaRPr/>
          </a:p>
        </p:txBody>
      </p:sp>
      <p:sp>
        <p:nvSpPr>
          <p:cNvPr id="513" name="Google Shape;513;h1bbba60e94861fb1_0_20"/>
          <p:cNvSpPr txBox="1"/>
          <p:nvPr/>
        </p:nvSpPr>
        <p:spPr>
          <a:xfrm>
            <a:off x="822960" y="2834640"/>
            <a:ext cx="10058400" cy="7941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4800" u="none" cap="none" strike="noStrike">
                <a:solidFill>
                  <a:srgbClr val="FFFFFF"/>
                </a:solidFill>
                <a:latin typeface="Calibri"/>
                <a:ea typeface="Calibri"/>
                <a:cs typeface="Calibri"/>
                <a:sym typeface="Calibri"/>
              </a:rPr>
              <a:t>Appendi</a:t>
            </a:r>
            <a:r>
              <a:rPr b="1" lang="en-US" sz="4800">
                <a:solidFill>
                  <a:srgbClr val="FFFFFF"/>
                </a:solidFill>
                <a:latin typeface="Calibri"/>
                <a:ea typeface="Calibri"/>
                <a:cs typeface="Calibri"/>
                <a:sym typeface="Calibri"/>
              </a:rPr>
              <a:t>x</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18" name="Shape 518"/>
        <p:cNvGrpSpPr/>
        <p:nvPr/>
      </p:nvGrpSpPr>
      <p:grpSpPr>
        <a:xfrm>
          <a:off x="0" y="0"/>
          <a:ext cx="0" cy="0"/>
          <a:chOff x="0" y="0"/>
          <a:chExt cx="0" cy="0"/>
        </a:xfrm>
      </p:grpSpPr>
      <p:sp>
        <p:nvSpPr>
          <p:cNvPr id="519" name="Google Shape;519;p4"/>
          <p:cNvSpPr/>
          <p:nvPr/>
        </p:nvSpPr>
        <p:spPr>
          <a:xfrm>
            <a:off x="0" y="0"/>
            <a:ext cx="12191695" cy="109728"/>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20" name="Google Shape;520;p4"/>
          <p:cNvSpPr txBox="1"/>
          <p:nvPr/>
        </p:nvSpPr>
        <p:spPr>
          <a:xfrm>
            <a:off x="548640" y="411480"/>
            <a:ext cx="7315200" cy="36576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200" u="none" cap="none" strike="noStrike">
                <a:solidFill>
                  <a:srgbClr val="3B82F6"/>
                </a:solidFill>
                <a:latin typeface="Calibri"/>
                <a:ea typeface="Calibri"/>
                <a:cs typeface="Calibri"/>
                <a:sym typeface="Calibri"/>
              </a:rPr>
              <a:t>DISCOVERY  |  FOR THE CTO</a:t>
            </a:r>
            <a:endParaRPr/>
          </a:p>
        </p:txBody>
      </p:sp>
      <p:sp>
        <p:nvSpPr>
          <p:cNvPr id="521" name="Google Shape;521;p4"/>
          <p:cNvSpPr txBox="1"/>
          <p:nvPr/>
        </p:nvSpPr>
        <p:spPr>
          <a:xfrm>
            <a:off x="548640" y="731520"/>
            <a:ext cx="11155680" cy="9144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3000" u="none" cap="none" strike="noStrike">
                <a:solidFill>
                  <a:srgbClr val="141B2D"/>
                </a:solidFill>
                <a:latin typeface="Calibri"/>
                <a:ea typeface="Calibri"/>
                <a:cs typeface="Calibri"/>
                <a:sym typeface="Calibri"/>
              </a:rPr>
              <a:t>Where does engineering time actually go?</a:t>
            </a:r>
            <a:endParaRPr/>
          </a:p>
        </p:txBody>
      </p:sp>
      <p:sp>
        <p:nvSpPr>
          <p:cNvPr id="522" name="Google Shape;522;p4"/>
          <p:cNvSpPr txBox="1"/>
          <p:nvPr/>
        </p:nvSpPr>
        <p:spPr>
          <a:xfrm>
            <a:off x="548640" y="6446520"/>
            <a:ext cx="7315200" cy="27432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000" u="none" cap="none" strike="noStrike">
                <a:solidFill>
                  <a:srgbClr val="6B7280"/>
                </a:solidFill>
                <a:latin typeface="Calibri"/>
                <a:ea typeface="Calibri"/>
                <a:cs typeface="Calibri"/>
                <a:sym typeface="Calibri"/>
              </a:rPr>
              <a:t>Cognition  |  Devin Discovery</a:t>
            </a:r>
            <a:endParaRPr/>
          </a:p>
        </p:txBody>
      </p:sp>
      <p:sp>
        <p:nvSpPr>
          <p:cNvPr id="523" name="Google Shape;523;p4"/>
          <p:cNvSpPr txBox="1"/>
          <p:nvPr/>
        </p:nvSpPr>
        <p:spPr>
          <a:xfrm>
            <a:off x="10789920" y="6446520"/>
            <a:ext cx="914400" cy="274320"/>
          </a:xfrm>
          <a:prstGeom prst="rect">
            <a:avLst/>
          </a:prstGeom>
          <a:noFill/>
          <a:ln>
            <a:noFill/>
          </a:ln>
        </p:spPr>
        <p:txBody>
          <a:bodyPr anchorCtr="0" anchor="t" bIns="27425" lIns="45700" spcFirstLastPara="1" rIns="45700" wrap="square" tIns="27425">
            <a:spAutoFit/>
          </a:bodyPr>
          <a:lstStyle/>
          <a:p>
            <a:pPr indent="0" lvl="0" marL="0" marR="0" rtl="0" algn="r">
              <a:spcBef>
                <a:spcPts val="0"/>
              </a:spcBef>
              <a:spcAft>
                <a:spcPts val="0"/>
              </a:spcAft>
              <a:buNone/>
            </a:pPr>
            <a:r>
              <a:rPr b="0" i="0" lang="en-US" sz="1000" u="none" cap="none" strike="noStrike">
                <a:solidFill>
                  <a:srgbClr val="6B7280"/>
                </a:solidFill>
                <a:latin typeface="Calibri"/>
                <a:ea typeface="Calibri"/>
                <a:cs typeface="Calibri"/>
                <a:sym typeface="Calibri"/>
              </a:rPr>
              <a:t>4</a:t>
            </a:r>
            <a:endParaRPr/>
          </a:p>
        </p:txBody>
      </p:sp>
      <p:sp>
        <p:nvSpPr>
          <p:cNvPr id="524" name="Google Shape;524;p4"/>
          <p:cNvSpPr/>
          <p:nvPr/>
        </p:nvSpPr>
        <p:spPr>
          <a:xfrm>
            <a:off x="548640" y="1737360"/>
            <a:ext cx="5486400" cy="4389120"/>
          </a:xfrm>
          <a:prstGeom prst="roundRect">
            <a:avLst>
              <a:gd fmla="val 6000" name="adj"/>
            </a:avLst>
          </a:prstGeom>
          <a:solidFill>
            <a:srgbClr val="F4F5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25" name="Google Shape;525;p4"/>
          <p:cNvSpPr/>
          <p:nvPr/>
        </p:nvSpPr>
        <p:spPr>
          <a:xfrm>
            <a:off x="548640" y="1737360"/>
            <a:ext cx="73152" cy="4389120"/>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26" name="Google Shape;526;p4"/>
          <p:cNvSpPr txBox="1"/>
          <p:nvPr/>
        </p:nvSpPr>
        <p:spPr>
          <a:xfrm>
            <a:off x="777240" y="1874520"/>
            <a:ext cx="5120640" cy="4572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600" u="none" cap="none" strike="noStrike">
                <a:solidFill>
                  <a:srgbClr val="141B2D"/>
                </a:solidFill>
                <a:latin typeface="Calibri"/>
                <a:ea typeface="Calibri"/>
                <a:cs typeface="Calibri"/>
                <a:sym typeface="Calibri"/>
              </a:rPr>
              <a:t>Delivery &amp; Velocity</a:t>
            </a:r>
            <a:endParaRPr/>
          </a:p>
        </p:txBody>
      </p:sp>
      <p:sp>
        <p:nvSpPr>
          <p:cNvPr id="527" name="Google Shape;527;p4"/>
          <p:cNvSpPr txBox="1"/>
          <p:nvPr/>
        </p:nvSpPr>
        <p:spPr>
          <a:xfrm>
            <a:off x="731520" y="2331720"/>
            <a:ext cx="5120640" cy="36576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1400" u="none" cap="none" strike="noStrike">
                <a:solidFill>
                  <a:srgbClr val="3B82F6"/>
                </a:solidFill>
                <a:latin typeface="Calibri"/>
                <a:ea typeface="Calibri"/>
                <a:cs typeface="Calibri"/>
                <a:sym typeface="Calibri"/>
              </a:rPr>
              <a:t>▪  </a:t>
            </a:r>
            <a:r>
              <a:rPr b="0" i="0" lang="en-US" sz="1400" u="none" cap="none" strike="noStrike">
                <a:solidFill>
                  <a:srgbClr val="141B2D"/>
                </a:solidFill>
                <a:latin typeface="Calibri"/>
                <a:ea typeface="Calibri"/>
                <a:cs typeface="Calibri"/>
                <a:sym typeface="Calibri"/>
              </a:rPr>
              <a:t>What share of engineering capacity goes to new features vs. maintenance, migrations, and tech debt?</a:t>
            </a:r>
            <a:endParaRPr/>
          </a:p>
          <a:p>
            <a:pPr indent="0" lvl="0" marL="0" marR="0" rtl="0" algn="l">
              <a:spcBef>
                <a:spcPts val="300"/>
              </a:spcBef>
              <a:spcAft>
                <a:spcPts val="0"/>
              </a:spcAft>
              <a:buNone/>
            </a:pPr>
            <a:r>
              <a:rPr b="0" i="0" lang="en-US" sz="1400" u="none" cap="none" strike="noStrike">
                <a:solidFill>
                  <a:srgbClr val="3B82F6"/>
                </a:solidFill>
                <a:latin typeface="Calibri"/>
                <a:ea typeface="Calibri"/>
                <a:cs typeface="Calibri"/>
                <a:sym typeface="Calibri"/>
              </a:rPr>
              <a:t>▪  </a:t>
            </a:r>
            <a:r>
              <a:rPr b="0" i="0" lang="en-US" sz="1400" u="none" cap="none" strike="noStrike">
                <a:solidFill>
                  <a:srgbClr val="141B2D"/>
                </a:solidFill>
                <a:latin typeface="Calibri"/>
                <a:ea typeface="Calibri"/>
                <a:cs typeface="Calibri"/>
                <a:sym typeface="Calibri"/>
              </a:rPr>
              <a:t>Which roadmap items slipped last quarter, and why?</a:t>
            </a:r>
            <a:endParaRPr/>
          </a:p>
          <a:p>
            <a:pPr indent="0" lvl="0" marL="0" marR="0" rtl="0" algn="l">
              <a:spcBef>
                <a:spcPts val="300"/>
              </a:spcBef>
              <a:spcAft>
                <a:spcPts val="0"/>
              </a:spcAft>
              <a:buNone/>
            </a:pPr>
            <a:r>
              <a:rPr b="0" i="0" lang="en-US" sz="1400" u="none" cap="none" strike="noStrike">
                <a:solidFill>
                  <a:srgbClr val="3B82F6"/>
                </a:solidFill>
                <a:latin typeface="Calibri"/>
                <a:ea typeface="Calibri"/>
                <a:cs typeface="Calibri"/>
                <a:sym typeface="Calibri"/>
              </a:rPr>
              <a:t>▪  </a:t>
            </a:r>
            <a:r>
              <a:rPr b="0" i="0" lang="en-US" sz="1400" u="none" cap="none" strike="noStrike">
                <a:solidFill>
                  <a:srgbClr val="141B2D"/>
                </a:solidFill>
                <a:latin typeface="Calibri"/>
                <a:ea typeface="Calibri"/>
                <a:cs typeface="Calibri"/>
                <a:sym typeface="Calibri"/>
              </a:rPr>
              <a:t>How long does a typical PR take from open to merge? Where does it stall?</a:t>
            </a:r>
            <a:endParaRPr/>
          </a:p>
          <a:p>
            <a:pPr indent="0" lvl="0" marL="0" marR="0" rtl="0" algn="l">
              <a:spcBef>
                <a:spcPts val="300"/>
              </a:spcBef>
              <a:spcAft>
                <a:spcPts val="0"/>
              </a:spcAft>
              <a:buNone/>
            </a:pPr>
            <a:r>
              <a:rPr b="0" i="0" lang="en-US" sz="1400" u="none" cap="none" strike="noStrike">
                <a:solidFill>
                  <a:srgbClr val="3B82F6"/>
                </a:solidFill>
                <a:latin typeface="Calibri"/>
                <a:ea typeface="Calibri"/>
                <a:cs typeface="Calibri"/>
                <a:sym typeface="Calibri"/>
              </a:rPr>
              <a:t>▪  </a:t>
            </a:r>
            <a:r>
              <a:rPr b="0" i="0" lang="en-US" sz="1400" u="none" cap="none" strike="noStrike">
                <a:solidFill>
                  <a:srgbClr val="141B2D"/>
                </a:solidFill>
                <a:latin typeface="Calibri"/>
                <a:ea typeface="Calibri"/>
                <a:cs typeface="Calibri"/>
                <a:sym typeface="Calibri"/>
              </a:rPr>
              <a:t>What is the ratio of senior to junior engineers, and where are seniors spending review time?</a:t>
            </a:r>
            <a:endParaRPr/>
          </a:p>
        </p:txBody>
      </p:sp>
      <p:sp>
        <p:nvSpPr>
          <p:cNvPr id="528" name="Google Shape;528;p4"/>
          <p:cNvSpPr/>
          <p:nvPr/>
        </p:nvSpPr>
        <p:spPr>
          <a:xfrm>
            <a:off x="6217920" y="1737360"/>
            <a:ext cx="5486400" cy="4389120"/>
          </a:xfrm>
          <a:prstGeom prst="roundRect">
            <a:avLst>
              <a:gd fmla="val 6000" name="adj"/>
            </a:avLst>
          </a:prstGeom>
          <a:solidFill>
            <a:srgbClr val="F4F5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29" name="Google Shape;529;p4"/>
          <p:cNvSpPr/>
          <p:nvPr/>
        </p:nvSpPr>
        <p:spPr>
          <a:xfrm>
            <a:off x="6217920" y="1737360"/>
            <a:ext cx="73152" cy="4389120"/>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30" name="Google Shape;530;p4"/>
          <p:cNvSpPr txBox="1"/>
          <p:nvPr/>
        </p:nvSpPr>
        <p:spPr>
          <a:xfrm>
            <a:off x="6446520" y="1874520"/>
            <a:ext cx="5120640" cy="4572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600" u="none" cap="none" strike="noStrike">
                <a:solidFill>
                  <a:srgbClr val="141B2D"/>
                </a:solidFill>
                <a:latin typeface="Calibri"/>
                <a:ea typeface="Calibri"/>
                <a:cs typeface="Calibri"/>
                <a:sym typeface="Calibri"/>
              </a:rPr>
              <a:t>Backlog &amp; Scale</a:t>
            </a:r>
            <a:endParaRPr/>
          </a:p>
        </p:txBody>
      </p:sp>
      <p:sp>
        <p:nvSpPr>
          <p:cNvPr id="531" name="Google Shape;531;p4"/>
          <p:cNvSpPr txBox="1"/>
          <p:nvPr/>
        </p:nvSpPr>
        <p:spPr>
          <a:xfrm>
            <a:off x="6400800" y="2331720"/>
            <a:ext cx="5120640" cy="36576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1400" u="none" cap="none" strike="noStrike">
                <a:solidFill>
                  <a:srgbClr val="3B82F6"/>
                </a:solidFill>
                <a:latin typeface="Calibri"/>
                <a:ea typeface="Calibri"/>
                <a:cs typeface="Calibri"/>
                <a:sym typeface="Calibri"/>
              </a:rPr>
              <a:t>▪  </a:t>
            </a:r>
            <a:r>
              <a:rPr b="0" i="0" lang="en-US" sz="1400" u="none" cap="none" strike="noStrike">
                <a:solidFill>
                  <a:srgbClr val="141B2D"/>
                </a:solidFill>
                <a:latin typeface="Calibri"/>
                <a:ea typeface="Calibri"/>
                <a:cs typeface="Calibri"/>
                <a:sym typeface="Calibri"/>
              </a:rPr>
              <a:t>What is sitting in the backlog that never gets prioritized: version upgrades, test coverage, flaky CI, documentation?</a:t>
            </a:r>
            <a:endParaRPr/>
          </a:p>
          <a:p>
            <a:pPr indent="0" lvl="0" marL="0" marR="0" rtl="0" algn="l">
              <a:spcBef>
                <a:spcPts val="300"/>
              </a:spcBef>
              <a:spcAft>
                <a:spcPts val="0"/>
              </a:spcAft>
              <a:buNone/>
            </a:pPr>
            <a:r>
              <a:rPr b="0" i="0" lang="en-US" sz="1400" u="none" cap="none" strike="noStrike">
                <a:solidFill>
                  <a:srgbClr val="3B82F6"/>
                </a:solidFill>
                <a:latin typeface="Calibri"/>
                <a:ea typeface="Calibri"/>
                <a:cs typeface="Calibri"/>
                <a:sym typeface="Calibri"/>
              </a:rPr>
              <a:t>▪  </a:t>
            </a:r>
            <a:r>
              <a:rPr b="0" i="0" lang="en-US" sz="1400" u="none" cap="none" strike="noStrike">
                <a:solidFill>
                  <a:srgbClr val="141B2D"/>
                </a:solidFill>
                <a:latin typeface="Calibri"/>
                <a:ea typeface="Calibri"/>
                <a:cs typeface="Calibri"/>
                <a:sym typeface="Calibri"/>
              </a:rPr>
              <a:t>Are there large migrations (language, framework, cloud, monolith-to-services) on the horizon?</a:t>
            </a:r>
            <a:endParaRPr/>
          </a:p>
          <a:p>
            <a:pPr indent="0" lvl="0" marL="0" marR="0" rtl="0" algn="l">
              <a:spcBef>
                <a:spcPts val="300"/>
              </a:spcBef>
              <a:spcAft>
                <a:spcPts val="0"/>
              </a:spcAft>
              <a:buNone/>
            </a:pPr>
            <a:r>
              <a:rPr b="0" i="0" lang="en-US" sz="1400" u="none" cap="none" strike="noStrike">
                <a:solidFill>
                  <a:srgbClr val="3B82F6"/>
                </a:solidFill>
                <a:latin typeface="Calibri"/>
                <a:ea typeface="Calibri"/>
                <a:cs typeface="Calibri"/>
                <a:sym typeface="Calibri"/>
              </a:rPr>
              <a:t>▪  </a:t>
            </a:r>
            <a:r>
              <a:rPr b="0" i="0" lang="en-US" sz="1400" u="none" cap="none" strike="noStrike">
                <a:solidFill>
                  <a:srgbClr val="141B2D"/>
                </a:solidFill>
                <a:latin typeface="Calibri"/>
                <a:ea typeface="Calibri"/>
                <a:cs typeface="Calibri"/>
                <a:sym typeface="Calibri"/>
              </a:rPr>
              <a:t>How many repos and services does a new hire need to understand to be productive?</a:t>
            </a:r>
            <a:endParaRPr/>
          </a:p>
          <a:p>
            <a:pPr indent="0" lvl="0" marL="0" marR="0" rtl="0" algn="l">
              <a:spcBef>
                <a:spcPts val="300"/>
              </a:spcBef>
              <a:spcAft>
                <a:spcPts val="0"/>
              </a:spcAft>
              <a:buNone/>
            </a:pPr>
            <a:r>
              <a:rPr b="0" i="0" lang="en-US" sz="1400" u="none" cap="none" strike="noStrike">
                <a:solidFill>
                  <a:srgbClr val="3B82F6"/>
                </a:solidFill>
                <a:latin typeface="Calibri"/>
                <a:ea typeface="Calibri"/>
                <a:cs typeface="Calibri"/>
                <a:sym typeface="Calibri"/>
              </a:rPr>
              <a:t>▪  </a:t>
            </a:r>
            <a:r>
              <a:rPr b="0" i="0" lang="en-US" sz="1400" u="none" cap="none" strike="noStrike">
                <a:solidFill>
                  <a:srgbClr val="141B2D"/>
                </a:solidFill>
                <a:latin typeface="Calibri"/>
                <a:ea typeface="Calibri"/>
                <a:cs typeface="Calibri"/>
                <a:sym typeface="Calibri"/>
              </a:rPr>
              <a:t>If you had 30% more engineering capacity tomorrow, what would you point it at?</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6" name="Shape 536"/>
        <p:cNvGrpSpPr/>
        <p:nvPr/>
      </p:nvGrpSpPr>
      <p:grpSpPr>
        <a:xfrm>
          <a:off x="0" y="0"/>
          <a:ext cx="0" cy="0"/>
          <a:chOff x="0" y="0"/>
          <a:chExt cx="0" cy="0"/>
        </a:xfrm>
      </p:grpSpPr>
      <p:sp>
        <p:nvSpPr>
          <p:cNvPr id="537" name="Google Shape;537;p5"/>
          <p:cNvSpPr/>
          <p:nvPr/>
        </p:nvSpPr>
        <p:spPr>
          <a:xfrm>
            <a:off x="0" y="0"/>
            <a:ext cx="12191695" cy="109728"/>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38" name="Google Shape;538;p5"/>
          <p:cNvSpPr txBox="1"/>
          <p:nvPr/>
        </p:nvSpPr>
        <p:spPr>
          <a:xfrm>
            <a:off x="548640" y="411480"/>
            <a:ext cx="7315200" cy="36576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200" u="none" cap="none" strike="noStrike">
                <a:solidFill>
                  <a:srgbClr val="3B82F6"/>
                </a:solidFill>
                <a:latin typeface="Calibri"/>
                <a:ea typeface="Calibri"/>
                <a:cs typeface="Calibri"/>
                <a:sym typeface="Calibri"/>
              </a:rPr>
              <a:t>DISCOVERY  |  FOR THE CISO</a:t>
            </a:r>
            <a:endParaRPr/>
          </a:p>
        </p:txBody>
      </p:sp>
      <p:sp>
        <p:nvSpPr>
          <p:cNvPr id="539" name="Google Shape;539;p5"/>
          <p:cNvSpPr txBox="1"/>
          <p:nvPr/>
        </p:nvSpPr>
        <p:spPr>
          <a:xfrm>
            <a:off x="548640" y="731520"/>
            <a:ext cx="11155680" cy="9144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3000" u="none" cap="none" strike="noStrike">
                <a:solidFill>
                  <a:srgbClr val="141B2D"/>
                </a:solidFill>
                <a:latin typeface="Calibri"/>
                <a:ea typeface="Calibri"/>
                <a:cs typeface="Calibri"/>
                <a:sym typeface="Calibri"/>
              </a:rPr>
              <a:t>What does 'safe adoption' look like to you?</a:t>
            </a:r>
            <a:endParaRPr/>
          </a:p>
        </p:txBody>
      </p:sp>
      <p:sp>
        <p:nvSpPr>
          <p:cNvPr id="540" name="Google Shape;540;p5"/>
          <p:cNvSpPr txBox="1"/>
          <p:nvPr/>
        </p:nvSpPr>
        <p:spPr>
          <a:xfrm>
            <a:off x="548640" y="6446520"/>
            <a:ext cx="7315200" cy="27432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000" u="none" cap="none" strike="noStrike">
                <a:solidFill>
                  <a:srgbClr val="6B7280"/>
                </a:solidFill>
                <a:latin typeface="Calibri"/>
                <a:ea typeface="Calibri"/>
                <a:cs typeface="Calibri"/>
                <a:sym typeface="Calibri"/>
              </a:rPr>
              <a:t>Cognition  |  Devin Discovery</a:t>
            </a:r>
            <a:endParaRPr/>
          </a:p>
        </p:txBody>
      </p:sp>
      <p:sp>
        <p:nvSpPr>
          <p:cNvPr id="541" name="Google Shape;541;p5"/>
          <p:cNvSpPr txBox="1"/>
          <p:nvPr/>
        </p:nvSpPr>
        <p:spPr>
          <a:xfrm>
            <a:off x="10789920" y="6446520"/>
            <a:ext cx="914400" cy="274320"/>
          </a:xfrm>
          <a:prstGeom prst="rect">
            <a:avLst/>
          </a:prstGeom>
          <a:noFill/>
          <a:ln>
            <a:noFill/>
          </a:ln>
        </p:spPr>
        <p:txBody>
          <a:bodyPr anchorCtr="0" anchor="t" bIns="27425" lIns="45700" spcFirstLastPara="1" rIns="45700" wrap="square" tIns="27425">
            <a:spAutoFit/>
          </a:bodyPr>
          <a:lstStyle/>
          <a:p>
            <a:pPr indent="0" lvl="0" marL="0" marR="0" rtl="0" algn="r">
              <a:spcBef>
                <a:spcPts val="0"/>
              </a:spcBef>
              <a:spcAft>
                <a:spcPts val="0"/>
              </a:spcAft>
              <a:buNone/>
            </a:pPr>
            <a:r>
              <a:rPr b="0" i="0" lang="en-US" sz="1000" u="none" cap="none" strike="noStrike">
                <a:solidFill>
                  <a:srgbClr val="6B7280"/>
                </a:solidFill>
                <a:latin typeface="Calibri"/>
                <a:ea typeface="Calibri"/>
                <a:cs typeface="Calibri"/>
                <a:sym typeface="Calibri"/>
              </a:rPr>
              <a:t>5</a:t>
            </a:r>
            <a:endParaRPr/>
          </a:p>
        </p:txBody>
      </p:sp>
      <p:sp>
        <p:nvSpPr>
          <p:cNvPr id="542" name="Google Shape;542;p5"/>
          <p:cNvSpPr/>
          <p:nvPr/>
        </p:nvSpPr>
        <p:spPr>
          <a:xfrm>
            <a:off x="548640" y="1737360"/>
            <a:ext cx="5486400" cy="4389120"/>
          </a:xfrm>
          <a:prstGeom prst="roundRect">
            <a:avLst>
              <a:gd fmla="val 6000" name="adj"/>
            </a:avLst>
          </a:prstGeom>
          <a:solidFill>
            <a:srgbClr val="F4F5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43" name="Google Shape;543;p5"/>
          <p:cNvSpPr/>
          <p:nvPr/>
        </p:nvSpPr>
        <p:spPr>
          <a:xfrm>
            <a:off x="548640" y="1737360"/>
            <a:ext cx="73152" cy="4389120"/>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44" name="Google Shape;544;p5"/>
          <p:cNvSpPr txBox="1"/>
          <p:nvPr/>
        </p:nvSpPr>
        <p:spPr>
          <a:xfrm>
            <a:off x="777240" y="1874520"/>
            <a:ext cx="5120640" cy="4572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600" u="none" cap="none" strike="noStrike">
                <a:solidFill>
                  <a:srgbClr val="141B2D"/>
                </a:solidFill>
                <a:latin typeface="Calibri"/>
                <a:ea typeface="Calibri"/>
                <a:cs typeface="Calibri"/>
                <a:sym typeface="Calibri"/>
              </a:rPr>
              <a:t>Governance &amp; Risk</a:t>
            </a:r>
            <a:endParaRPr/>
          </a:p>
        </p:txBody>
      </p:sp>
      <p:sp>
        <p:nvSpPr>
          <p:cNvPr id="545" name="Google Shape;545;p5"/>
          <p:cNvSpPr txBox="1"/>
          <p:nvPr/>
        </p:nvSpPr>
        <p:spPr>
          <a:xfrm>
            <a:off x="731520" y="2331720"/>
            <a:ext cx="5120640" cy="36576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1400" u="none" cap="none" strike="noStrike">
                <a:solidFill>
                  <a:srgbClr val="3B82F6"/>
                </a:solidFill>
                <a:latin typeface="Calibri"/>
                <a:ea typeface="Calibri"/>
                <a:cs typeface="Calibri"/>
                <a:sym typeface="Calibri"/>
              </a:rPr>
              <a:t>▪  </a:t>
            </a:r>
            <a:r>
              <a:rPr b="0" i="0" lang="en-US" sz="1400" u="none" cap="none" strike="noStrike">
                <a:solidFill>
                  <a:srgbClr val="141B2D"/>
                </a:solidFill>
                <a:latin typeface="Calibri"/>
                <a:ea typeface="Calibri"/>
                <a:cs typeface="Calibri"/>
                <a:sym typeface="Calibri"/>
              </a:rPr>
              <a:t>Are engineers already using AI coding tools? Sanctioned or shadow?</a:t>
            </a:r>
            <a:endParaRPr/>
          </a:p>
          <a:p>
            <a:pPr indent="0" lvl="0" marL="0" marR="0" rtl="0" algn="l">
              <a:spcBef>
                <a:spcPts val="300"/>
              </a:spcBef>
              <a:spcAft>
                <a:spcPts val="0"/>
              </a:spcAft>
              <a:buNone/>
            </a:pPr>
            <a:r>
              <a:rPr b="0" i="0" lang="en-US" sz="1400" u="none" cap="none" strike="noStrike">
                <a:solidFill>
                  <a:srgbClr val="3B82F6"/>
                </a:solidFill>
                <a:latin typeface="Calibri"/>
                <a:ea typeface="Calibri"/>
                <a:cs typeface="Calibri"/>
                <a:sym typeface="Calibri"/>
              </a:rPr>
              <a:t>▪  </a:t>
            </a:r>
            <a:r>
              <a:rPr b="0" i="0" lang="en-US" sz="1400" u="none" cap="none" strike="noStrike">
                <a:solidFill>
                  <a:srgbClr val="141B2D"/>
                </a:solidFill>
                <a:latin typeface="Calibri"/>
                <a:ea typeface="Calibri"/>
                <a:cs typeface="Calibri"/>
                <a:sym typeface="Calibri"/>
              </a:rPr>
              <a:t>What is your policy on source code leaving your environment or being used for model training?</a:t>
            </a:r>
            <a:endParaRPr/>
          </a:p>
          <a:p>
            <a:pPr indent="0" lvl="0" marL="0" marR="0" rtl="0" algn="l">
              <a:spcBef>
                <a:spcPts val="300"/>
              </a:spcBef>
              <a:spcAft>
                <a:spcPts val="0"/>
              </a:spcAft>
              <a:buNone/>
            </a:pPr>
            <a:r>
              <a:rPr b="0" i="0" lang="en-US" sz="1400" u="none" cap="none" strike="noStrike">
                <a:solidFill>
                  <a:srgbClr val="3B82F6"/>
                </a:solidFill>
                <a:latin typeface="Calibri"/>
                <a:ea typeface="Calibri"/>
                <a:cs typeface="Calibri"/>
                <a:sym typeface="Calibri"/>
              </a:rPr>
              <a:t>▪  </a:t>
            </a:r>
            <a:r>
              <a:rPr b="0" i="0" lang="en-US" sz="1400" u="none" cap="none" strike="noStrike">
                <a:solidFill>
                  <a:srgbClr val="141B2D"/>
                </a:solidFill>
                <a:latin typeface="Calibri"/>
                <a:ea typeface="Calibri"/>
                <a:cs typeface="Calibri"/>
                <a:sym typeface="Calibri"/>
              </a:rPr>
              <a:t>Which compliance frameworks matter most: SOC 2, ISO 27001, HIPAA, PCI, FedRAMP?</a:t>
            </a:r>
            <a:endParaRPr/>
          </a:p>
          <a:p>
            <a:pPr indent="0" lvl="0" marL="0" marR="0" rtl="0" algn="l">
              <a:spcBef>
                <a:spcPts val="300"/>
              </a:spcBef>
              <a:spcAft>
                <a:spcPts val="0"/>
              </a:spcAft>
              <a:buNone/>
            </a:pPr>
            <a:r>
              <a:rPr b="0" i="0" lang="en-US" sz="1400" u="none" cap="none" strike="noStrike">
                <a:solidFill>
                  <a:srgbClr val="3B82F6"/>
                </a:solidFill>
                <a:latin typeface="Calibri"/>
                <a:ea typeface="Calibri"/>
                <a:cs typeface="Calibri"/>
                <a:sym typeface="Calibri"/>
              </a:rPr>
              <a:t>▪  </a:t>
            </a:r>
            <a:r>
              <a:rPr b="0" i="0" lang="en-US" sz="1400" u="none" cap="none" strike="noStrike">
                <a:solidFill>
                  <a:srgbClr val="141B2D"/>
                </a:solidFill>
                <a:latin typeface="Calibri"/>
                <a:ea typeface="Calibri"/>
                <a:cs typeface="Calibri"/>
                <a:sym typeface="Calibri"/>
              </a:rPr>
              <a:t>How do you audit who or what changed production code today?</a:t>
            </a:r>
            <a:endParaRPr/>
          </a:p>
        </p:txBody>
      </p:sp>
      <p:sp>
        <p:nvSpPr>
          <p:cNvPr id="546" name="Google Shape;546;p5"/>
          <p:cNvSpPr/>
          <p:nvPr/>
        </p:nvSpPr>
        <p:spPr>
          <a:xfrm>
            <a:off x="6217920" y="1737360"/>
            <a:ext cx="5486400" cy="4389120"/>
          </a:xfrm>
          <a:prstGeom prst="roundRect">
            <a:avLst>
              <a:gd fmla="val 6000" name="adj"/>
            </a:avLst>
          </a:prstGeom>
          <a:solidFill>
            <a:srgbClr val="F4F5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47" name="Google Shape;547;p5"/>
          <p:cNvSpPr/>
          <p:nvPr/>
        </p:nvSpPr>
        <p:spPr>
          <a:xfrm>
            <a:off x="6217920" y="1737360"/>
            <a:ext cx="73152" cy="4389120"/>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48" name="Google Shape;548;p5"/>
          <p:cNvSpPr txBox="1"/>
          <p:nvPr/>
        </p:nvSpPr>
        <p:spPr>
          <a:xfrm>
            <a:off x="6446520" y="1874520"/>
            <a:ext cx="5120640" cy="4572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600" u="none" cap="none" strike="noStrike">
                <a:solidFill>
                  <a:srgbClr val="141B2D"/>
                </a:solidFill>
                <a:latin typeface="Calibri"/>
                <a:ea typeface="Calibri"/>
                <a:cs typeface="Calibri"/>
                <a:sym typeface="Calibri"/>
              </a:rPr>
              <a:t>Controls &amp; Vulnerability Debt</a:t>
            </a:r>
            <a:endParaRPr/>
          </a:p>
        </p:txBody>
      </p:sp>
      <p:sp>
        <p:nvSpPr>
          <p:cNvPr id="549" name="Google Shape;549;p5"/>
          <p:cNvSpPr txBox="1"/>
          <p:nvPr/>
        </p:nvSpPr>
        <p:spPr>
          <a:xfrm>
            <a:off x="6400800" y="2331720"/>
            <a:ext cx="5120640" cy="36576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1400" u="none" cap="none" strike="noStrike">
                <a:solidFill>
                  <a:srgbClr val="3B82F6"/>
                </a:solidFill>
                <a:latin typeface="Calibri"/>
                <a:ea typeface="Calibri"/>
                <a:cs typeface="Calibri"/>
                <a:sym typeface="Calibri"/>
              </a:rPr>
              <a:t>▪  </a:t>
            </a:r>
            <a:r>
              <a:rPr b="0" i="0" lang="en-US" sz="1400" u="none" cap="none" strike="noStrike">
                <a:solidFill>
                  <a:srgbClr val="141B2D"/>
                </a:solidFill>
                <a:latin typeface="Calibri"/>
                <a:ea typeface="Calibri"/>
                <a:cs typeface="Calibri"/>
                <a:sym typeface="Calibri"/>
              </a:rPr>
              <a:t>How do you manage secrets and access for automated systems (CI, bots, service accounts)?</a:t>
            </a:r>
            <a:endParaRPr/>
          </a:p>
          <a:p>
            <a:pPr indent="0" lvl="0" marL="0" marR="0" rtl="0" algn="l">
              <a:spcBef>
                <a:spcPts val="300"/>
              </a:spcBef>
              <a:spcAft>
                <a:spcPts val="0"/>
              </a:spcAft>
              <a:buNone/>
            </a:pPr>
            <a:r>
              <a:rPr b="0" i="0" lang="en-US" sz="1400" u="none" cap="none" strike="noStrike">
                <a:solidFill>
                  <a:srgbClr val="3B82F6"/>
                </a:solidFill>
                <a:latin typeface="Calibri"/>
                <a:ea typeface="Calibri"/>
                <a:cs typeface="Calibri"/>
                <a:sym typeface="Calibri"/>
              </a:rPr>
              <a:t>▪  </a:t>
            </a:r>
            <a:r>
              <a:rPr b="0" i="0" lang="en-US" sz="1400" u="none" cap="none" strike="noStrike">
                <a:solidFill>
                  <a:srgbClr val="141B2D"/>
                </a:solidFill>
                <a:latin typeface="Calibri"/>
                <a:ea typeface="Calibri"/>
                <a:cs typeface="Calibri"/>
                <a:sym typeface="Calibri"/>
              </a:rPr>
              <a:t>How long do known CVEs in dependencies sit open before they are patched?</a:t>
            </a:r>
            <a:endParaRPr/>
          </a:p>
          <a:p>
            <a:pPr indent="0" lvl="0" marL="0" marR="0" rtl="0" algn="l">
              <a:spcBef>
                <a:spcPts val="300"/>
              </a:spcBef>
              <a:spcAft>
                <a:spcPts val="0"/>
              </a:spcAft>
              <a:buNone/>
            </a:pPr>
            <a:r>
              <a:rPr b="0" i="0" lang="en-US" sz="1400" u="none" cap="none" strike="noStrike">
                <a:solidFill>
                  <a:srgbClr val="3B82F6"/>
                </a:solidFill>
                <a:latin typeface="Calibri"/>
                <a:ea typeface="Calibri"/>
                <a:cs typeface="Calibri"/>
                <a:sym typeface="Calibri"/>
              </a:rPr>
              <a:t>▪  </a:t>
            </a:r>
            <a:r>
              <a:rPr b="0" i="0" lang="en-US" sz="1400" u="none" cap="none" strike="noStrike">
                <a:solidFill>
                  <a:srgbClr val="141B2D"/>
                </a:solidFill>
                <a:latin typeface="Calibri"/>
                <a:ea typeface="Calibri"/>
                <a:cs typeface="Calibri"/>
                <a:sym typeface="Calibri"/>
              </a:rPr>
              <a:t>Would you require VPC or self-hosted deployment, SSO, and audit logs for an AI agent?</a:t>
            </a:r>
            <a:endParaRPr/>
          </a:p>
          <a:p>
            <a:pPr indent="0" lvl="0" marL="0" marR="0" rtl="0" algn="l">
              <a:spcBef>
                <a:spcPts val="300"/>
              </a:spcBef>
              <a:spcAft>
                <a:spcPts val="0"/>
              </a:spcAft>
              <a:buNone/>
            </a:pPr>
            <a:r>
              <a:rPr b="0" i="0" lang="en-US" sz="1400" u="none" cap="none" strike="noStrike">
                <a:solidFill>
                  <a:srgbClr val="3B82F6"/>
                </a:solidFill>
                <a:latin typeface="Calibri"/>
                <a:ea typeface="Calibri"/>
                <a:cs typeface="Calibri"/>
                <a:sym typeface="Calibri"/>
              </a:rPr>
              <a:t>▪  </a:t>
            </a:r>
            <a:r>
              <a:rPr b="0" i="0" lang="en-US" sz="1400" u="none" cap="none" strike="noStrike">
                <a:solidFill>
                  <a:srgbClr val="141B2D"/>
                </a:solidFill>
                <a:latin typeface="Calibri"/>
                <a:ea typeface="Calibri"/>
                <a:cs typeface="Calibri"/>
                <a:sym typeface="Calibri"/>
              </a:rPr>
              <a:t>What would an AI agent need to prove before you would allow it to open a pull request?</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226"/>
        </a:solidFill>
      </p:bgPr>
    </p:bg>
    <p:spTree>
      <p:nvGrpSpPr>
        <p:cNvPr id="554" name="Shape 554"/>
        <p:cNvGrpSpPr/>
        <p:nvPr/>
      </p:nvGrpSpPr>
      <p:grpSpPr>
        <a:xfrm>
          <a:off x="0" y="0"/>
          <a:ext cx="0" cy="0"/>
          <a:chOff x="0" y="0"/>
          <a:chExt cx="0" cy="0"/>
        </a:xfrm>
      </p:grpSpPr>
      <p:sp>
        <p:nvSpPr>
          <p:cNvPr id="555" name="Google Shape;555;p17"/>
          <p:cNvSpPr/>
          <p:nvPr/>
        </p:nvSpPr>
        <p:spPr>
          <a:xfrm>
            <a:off x="0" y="0"/>
            <a:ext cx="12191695" cy="109728"/>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56" name="Google Shape;556;p17"/>
          <p:cNvSpPr txBox="1"/>
          <p:nvPr/>
        </p:nvSpPr>
        <p:spPr>
          <a:xfrm>
            <a:off x="548640" y="411480"/>
            <a:ext cx="7315200" cy="36576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200" u="none" cap="none" strike="noStrike">
                <a:solidFill>
                  <a:srgbClr val="3B82F6"/>
                </a:solidFill>
                <a:latin typeface="Calibri"/>
                <a:ea typeface="Calibri"/>
                <a:cs typeface="Calibri"/>
                <a:sym typeface="Calibri"/>
              </a:rPr>
              <a:t>HOW IT WORKS  |  SECURITY</a:t>
            </a:r>
            <a:endParaRPr/>
          </a:p>
        </p:txBody>
      </p:sp>
      <p:sp>
        <p:nvSpPr>
          <p:cNvPr id="557" name="Google Shape;557;p17"/>
          <p:cNvSpPr txBox="1"/>
          <p:nvPr/>
        </p:nvSpPr>
        <p:spPr>
          <a:xfrm>
            <a:off x="548640" y="731520"/>
            <a:ext cx="11155680" cy="9144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3000" u="none" cap="none" strike="noStrike">
                <a:solidFill>
                  <a:srgbClr val="FFFFFF"/>
                </a:solidFill>
                <a:latin typeface="Calibri"/>
                <a:ea typeface="Calibri"/>
                <a:cs typeface="Calibri"/>
                <a:sym typeface="Calibri"/>
              </a:rPr>
              <a:t>Security and trust, designed for the CISO</a:t>
            </a:r>
            <a:endParaRPr/>
          </a:p>
        </p:txBody>
      </p:sp>
      <p:sp>
        <p:nvSpPr>
          <p:cNvPr id="558" name="Google Shape;558;p17"/>
          <p:cNvSpPr txBox="1"/>
          <p:nvPr/>
        </p:nvSpPr>
        <p:spPr>
          <a:xfrm>
            <a:off x="548640" y="6446520"/>
            <a:ext cx="7315200" cy="27432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000" u="none" cap="none" strike="noStrike">
                <a:solidFill>
                  <a:srgbClr val="6B7280"/>
                </a:solidFill>
                <a:latin typeface="Calibri"/>
                <a:ea typeface="Calibri"/>
                <a:cs typeface="Calibri"/>
                <a:sym typeface="Calibri"/>
              </a:rPr>
              <a:t>Cognition  |  Devin Discovery</a:t>
            </a:r>
            <a:endParaRPr/>
          </a:p>
        </p:txBody>
      </p:sp>
      <p:sp>
        <p:nvSpPr>
          <p:cNvPr id="559" name="Google Shape;559;p17"/>
          <p:cNvSpPr txBox="1"/>
          <p:nvPr/>
        </p:nvSpPr>
        <p:spPr>
          <a:xfrm>
            <a:off x="10789920" y="6446520"/>
            <a:ext cx="914400" cy="274320"/>
          </a:xfrm>
          <a:prstGeom prst="rect">
            <a:avLst/>
          </a:prstGeom>
          <a:noFill/>
          <a:ln>
            <a:noFill/>
          </a:ln>
        </p:spPr>
        <p:txBody>
          <a:bodyPr anchorCtr="0" anchor="t" bIns="27425" lIns="45700" spcFirstLastPara="1" rIns="45700" wrap="square" tIns="27425">
            <a:spAutoFit/>
          </a:bodyPr>
          <a:lstStyle/>
          <a:p>
            <a:pPr indent="0" lvl="0" marL="0" marR="0" rtl="0" algn="r">
              <a:spcBef>
                <a:spcPts val="0"/>
              </a:spcBef>
              <a:spcAft>
                <a:spcPts val="0"/>
              </a:spcAft>
              <a:buNone/>
            </a:pPr>
            <a:r>
              <a:rPr b="0" i="0" lang="en-US" sz="1000" u="none" cap="none" strike="noStrike">
                <a:solidFill>
                  <a:srgbClr val="6B7280"/>
                </a:solidFill>
                <a:latin typeface="Calibri"/>
                <a:ea typeface="Calibri"/>
                <a:cs typeface="Calibri"/>
                <a:sym typeface="Calibri"/>
              </a:rPr>
              <a:t>17</a:t>
            </a:r>
            <a:endParaRPr/>
          </a:p>
        </p:txBody>
      </p:sp>
      <p:sp>
        <p:nvSpPr>
          <p:cNvPr id="560" name="Google Shape;560;p17"/>
          <p:cNvSpPr/>
          <p:nvPr/>
        </p:nvSpPr>
        <p:spPr>
          <a:xfrm>
            <a:off x="548640" y="1737360"/>
            <a:ext cx="3566160" cy="4297680"/>
          </a:xfrm>
          <a:prstGeom prst="roundRect">
            <a:avLst>
              <a:gd fmla="val 6000" name="adj"/>
            </a:avLst>
          </a:prstGeom>
          <a:solidFill>
            <a:srgbClr val="1A233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61" name="Google Shape;561;p17"/>
          <p:cNvSpPr/>
          <p:nvPr/>
        </p:nvSpPr>
        <p:spPr>
          <a:xfrm>
            <a:off x="548640" y="1737360"/>
            <a:ext cx="73152" cy="4297680"/>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62" name="Google Shape;562;p17"/>
          <p:cNvSpPr txBox="1"/>
          <p:nvPr/>
        </p:nvSpPr>
        <p:spPr>
          <a:xfrm>
            <a:off x="777240" y="1874520"/>
            <a:ext cx="3200400" cy="4572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600" u="none" cap="none" strike="noStrike">
                <a:solidFill>
                  <a:srgbClr val="FFFFFF"/>
                </a:solidFill>
                <a:latin typeface="Calibri"/>
                <a:ea typeface="Calibri"/>
                <a:cs typeface="Calibri"/>
                <a:sym typeface="Calibri"/>
              </a:rPr>
              <a:t>Data Protection</a:t>
            </a:r>
            <a:endParaRPr/>
          </a:p>
        </p:txBody>
      </p:sp>
      <p:sp>
        <p:nvSpPr>
          <p:cNvPr id="563" name="Google Shape;563;p17"/>
          <p:cNvSpPr txBox="1"/>
          <p:nvPr/>
        </p:nvSpPr>
        <p:spPr>
          <a:xfrm>
            <a:off x="731520" y="2331720"/>
            <a:ext cx="3200400" cy="356616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1300" u="none" cap="none" strike="noStrike">
                <a:solidFill>
                  <a:srgbClr val="3B82F6"/>
                </a:solidFill>
                <a:latin typeface="Calibri"/>
                <a:ea typeface="Calibri"/>
                <a:cs typeface="Calibri"/>
                <a:sym typeface="Calibri"/>
              </a:rPr>
              <a:t>▪  </a:t>
            </a:r>
            <a:r>
              <a:rPr b="0" i="0" lang="en-US" sz="1300" u="none" cap="none" strike="noStrike">
                <a:solidFill>
                  <a:srgbClr val="D9DDE5"/>
                </a:solidFill>
                <a:latin typeface="Calibri"/>
                <a:ea typeface="Calibri"/>
                <a:cs typeface="Calibri"/>
                <a:sym typeface="Calibri"/>
              </a:rPr>
              <a:t>Your code is not used to train models.</a:t>
            </a:r>
            <a:endParaRPr/>
          </a:p>
          <a:p>
            <a:pPr indent="0" lvl="0" marL="0" marR="0" rtl="0" algn="l">
              <a:spcBef>
                <a:spcPts val="300"/>
              </a:spcBef>
              <a:spcAft>
                <a:spcPts val="0"/>
              </a:spcAft>
              <a:buNone/>
            </a:pPr>
            <a:r>
              <a:rPr b="0" i="0" lang="en-US" sz="1300" u="none" cap="none" strike="noStrike">
                <a:solidFill>
                  <a:srgbClr val="3B82F6"/>
                </a:solidFill>
                <a:latin typeface="Calibri"/>
                <a:ea typeface="Calibri"/>
                <a:cs typeface="Calibri"/>
                <a:sym typeface="Calibri"/>
              </a:rPr>
              <a:t>▪  </a:t>
            </a:r>
            <a:r>
              <a:rPr b="0" i="0" lang="en-US" sz="1300" u="none" cap="none" strike="noStrike">
                <a:solidFill>
                  <a:srgbClr val="D9DDE5"/>
                </a:solidFill>
                <a:latin typeface="Calibri"/>
                <a:ea typeface="Calibri"/>
                <a:cs typeface="Calibri"/>
                <a:sym typeface="Calibri"/>
              </a:rPr>
              <a:t>Encryption in transit and at rest.</a:t>
            </a:r>
            <a:endParaRPr/>
          </a:p>
          <a:p>
            <a:pPr indent="0" lvl="0" marL="0" marR="0" rtl="0" algn="l">
              <a:spcBef>
                <a:spcPts val="300"/>
              </a:spcBef>
              <a:spcAft>
                <a:spcPts val="0"/>
              </a:spcAft>
              <a:buNone/>
            </a:pPr>
            <a:r>
              <a:rPr b="0" i="0" lang="en-US" sz="1300" u="none" cap="none" strike="noStrike">
                <a:solidFill>
                  <a:srgbClr val="3B82F6"/>
                </a:solidFill>
                <a:latin typeface="Calibri"/>
                <a:ea typeface="Calibri"/>
                <a:cs typeface="Calibri"/>
                <a:sym typeface="Calibri"/>
              </a:rPr>
              <a:t>▪  </a:t>
            </a:r>
            <a:r>
              <a:rPr b="0" i="0" lang="en-US" sz="1300" u="none" cap="none" strike="noStrike">
                <a:solidFill>
                  <a:srgbClr val="D9DDE5"/>
                </a:solidFill>
                <a:latin typeface="Calibri"/>
                <a:ea typeface="Calibri"/>
                <a:cs typeface="Calibri"/>
                <a:sym typeface="Calibri"/>
              </a:rPr>
              <a:t>Secrets stored in an encrypted vault and injected at runtime; never exposed in transcripts.</a:t>
            </a:r>
            <a:endParaRPr/>
          </a:p>
          <a:p>
            <a:pPr indent="0" lvl="0" marL="0" marR="0" rtl="0" algn="l">
              <a:spcBef>
                <a:spcPts val="300"/>
              </a:spcBef>
              <a:spcAft>
                <a:spcPts val="0"/>
              </a:spcAft>
              <a:buNone/>
            </a:pPr>
            <a:r>
              <a:rPr b="0" i="0" lang="en-US" sz="1300" u="none" cap="none" strike="noStrike">
                <a:solidFill>
                  <a:srgbClr val="3B82F6"/>
                </a:solidFill>
                <a:latin typeface="Calibri"/>
                <a:ea typeface="Calibri"/>
                <a:cs typeface="Calibri"/>
                <a:sym typeface="Calibri"/>
              </a:rPr>
              <a:t>▪  </a:t>
            </a:r>
            <a:r>
              <a:rPr b="0" i="0" lang="en-US" sz="1300" u="none" cap="none" strike="noStrike">
                <a:solidFill>
                  <a:srgbClr val="D9DDE5"/>
                </a:solidFill>
                <a:latin typeface="Calibri"/>
                <a:ea typeface="Calibri"/>
                <a:cs typeface="Calibri"/>
                <a:sym typeface="Calibri"/>
              </a:rPr>
              <a:t>Configurable data retention.</a:t>
            </a:r>
            <a:endParaRPr/>
          </a:p>
        </p:txBody>
      </p:sp>
      <p:sp>
        <p:nvSpPr>
          <p:cNvPr id="564" name="Google Shape;564;p17"/>
          <p:cNvSpPr/>
          <p:nvPr/>
        </p:nvSpPr>
        <p:spPr>
          <a:xfrm>
            <a:off x="4297680" y="1737360"/>
            <a:ext cx="3566160" cy="4297680"/>
          </a:xfrm>
          <a:prstGeom prst="roundRect">
            <a:avLst>
              <a:gd fmla="val 6000" name="adj"/>
            </a:avLst>
          </a:prstGeom>
          <a:solidFill>
            <a:srgbClr val="1A233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65" name="Google Shape;565;p17"/>
          <p:cNvSpPr/>
          <p:nvPr/>
        </p:nvSpPr>
        <p:spPr>
          <a:xfrm>
            <a:off x="4297680" y="1737360"/>
            <a:ext cx="73152" cy="4297680"/>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66" name="Google Shape;566;p17"/>
          <p:cNvSpPr txBox="1"/>
          <p:nvPr/>
        </p:nvSpPr>
        <p:spPr>
          <a:xfrm>
            <a:off x="4526280" y="1874520"/>
            <a:ext cx="3200400" cy="4572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600" u="none" cap="none" strike="noStrike">
                <a:solidFill>
                  <a:srgbClr val="FFFFFF"/>
                </a:solidFill>
                <a:latin typeface="Calibri"/>
                <a:ea typeface="Calibri"/>
                <a:cs typeface="Calibri"/>
                <a:sym typeface="Calibri"/>
              </a:rPr>
              <a:t>Deployment &amp; Access</a:t>
            </a:r>
            <a:endParaRPr/>
          </a:p>
        </p:txBody>
      </p:sp>
      <p:sp>
        <p:nvSpPr>
          <p:cNvPr id="567" name="Google Shape;567;p17"/>
          <p:cNvSpPr txBox="1"/>
          <p:nvPr/>
        </p:nvSpPr>
        <p:spPr>
          <a:xfrm>
            <a:off x="4480560" y="2331720"/>
            <a:ext cx="3200400" cy="356616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1300" u="none" cap="none" strike="noStrike">
                <a:solidFill>
                  <a:srgbClr val="3B82F6"/>
                </a:solidFill>
                <a:latin typeface="Calibri"/>
                <a:ea typeface="Calibri"/>
                <a:cs typeface="Calibri"/>
                <a:sym typeface="Calibri"/>
              </a:rPr>
              <a:t>▪  </a:t>
            </a:r>
            <a:r>
              <a:rPr b="0" i="0" lang="en-US" sz="1300" u="none" cap="none" strike="noStrike">
                <a:solidFill>
                  <a:srgbClr val="D9DDE5"/>
                </a:solidFill>
                <a:latin typeface="Calibri"/>
                <a:ea typeface="Calibri"/>
                <a:cs typeface="Calibri"/>
                <a:sym typeface="Calibri"/>
              </a:rPr>
              <a:t>Multi-tenant SaaS, or Enterprise VPC deployment in your cloud account.</a:t>
            </a:r>
            <a:endParaRPr/>
          </a:p>
          <a:p>
            <a:pPr indent="0" lvl="0" marL="0" marR="0" rtl="0" algn="l">
              <a:spcBef>
                <a:spcPts val="300"/>
              </a:spcBef>
              <a:spcAft>
                <a:spcPts val="0"/>
              </a:spcAft>
              <a:buNone/>
            </a:pPr>
            <a:r>
              <a:rPr b="0" i="0" lang="en-US" sz="1300" u="none" cap="none" strike="noStrike">
                <a:solidFill>
                  <a:srgbClr val="3B82F6"/>
                </a:solidFill>
                <a:latin typeface="Calibri"/>
                <a:ea typeface="Calibri"/>
                <a:cs typeface="Calibri"/>
                <a:sym typeface="Calibri"/>
              </a:rPr>
              <a:t>▪  </a:t>
            </a:r>
            <a:r>
              <a:rPr b="0" i="0" lang="en-US" sz="1300" u="none" cap="none" strike="noStrike">
                <a:solidFill>
                  <a:srgbClr val="D9DDE5"/>
                </a:solidFill>
                <a:latin typeface="Calibri"/>
                <a:ea typeface="Calibri"/>
                <a:cs typeface="Calibri"/>
                <a:sym typeface="Calibri"/>
              </a:rPr>
              <a:t>SSO/SAML, SCIM, role-based access, repo-level scoping.</a:t>
            </a:r>
            <a:endParaRPr/>
          </a:p>
          <a:p>
            <a:pPr indent="0" lvl="0" marL="0" marR="0" rtl="0" algn="l">
              <a:spcBef>
                <a:spcPts val="300"/>
              </a:spcBef>
              <a:spcAft>
                <a:spcPts val="0"/>
              </a:spcAft>
              <a:buNone/>
            </a:pPr>
            <a:r>
              <a:rPr b="0" i="0" lang="en-US" sz="1300" u="none" cap="none" strike="noStrike">
                <a:solidFill>
                  <a:srgbClr val="3B82F6"/>
                </a:solidFill>
                <a:latin typeface="Calibri"/>
                <a:ea typeface="Calibri"/>
                <a:cs typeface="Calibri"/>
                <a:sym typeface="Calibri"/>
              </a:rPr>
              <a:t>▪  </a:t>
            </a:r>
            <a:r>
              <a:rPr b="0" i="0" lang="en-US" sz="1300" u="none" cap="none" strike="noStrike">
                <a:solidFill>
                  <a:srgbClr val="D9DDE5"/>
                </a:solidFill>
                <a:latin typeface="Calibri"/>
                <a:ea typeface="Calibri"/>
                <a:cs typeface="Calibri"/>
                <a:sym typeface="Calibri"/>
              </a:rPr>
              <a:t>Devin authenticates as a scoped GitHub App, not a personal token.</a:t>
            </a:r>
            <a:endParaRPr/>
          </a:p>
        </p:txBody>
      </p:sp>
      <p:sp>
        <p:nvSpPr>
          <p:cNvPr id="568" name="Google Shape;568;p17"/>
          <p:cNvSpPr/>
          <p:nvPr/>
        </p:nvSpPr>
        <p:spPr>
          <a:xfrm>
            <a:off x="8046720" y="1737360"/>
            <a:ext cx="3566160" cy="4297680"/>
          </a:xfrm>
          <a:prstGeom prst="roundRect">
            <a:avLst>
              <a:gd fmla="val 6000" name="adj"/>
            </a:avLst>
          </a:prstGeom>
          <a:solidFill>
            <a:srgbClr val="1A233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69" name="Google Shape;569;p17"/>
          <p:cNvSpPr/>
          <p:nvPr/>
        </p:nvSpPr>
        <p:spPr>
          <a:xfrm>
            <a:off x="8046720" y="1737360"/>
            <a:ext cx="73152" cy="4297680"/>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70" name="Google Shape;570;p17"/>
          <p:cNvSpPr txBox="1"/>
          <p:nvPr/>
        </p:nvSpPr>
        <p:spPr>
          <a:xfrm>
            <a:off x="8275320" y="1874520"/>
            <a:ext cx="3200400" cy="4572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600" u="none" cap="none" strike="noStrike">
                <a:solidFill>
                  <a:srgbClr val="FFFFFF"/>
                </a:solidFill>
                <a:latin typeface="Calibri"/>
                <a:ea typeface="Calibri"/>
                <a:cs typeface="Calibri"/>
                <a:sym typeface="Calibri"/>
              </a:rPr>
              <a:t>Compliance &amp; Audit</a:t>
            </a:r>
            <a:endParaRPr/>
          </a:p>
        </p:txBody>
      </p:sp>
      <p:sp>
        <p:nvSpPr>
          <p:cNvPr id="571" name="Google Shape;571;p17"/>
          <p:cNvSpPr txBox="1"/>
          <p:nvPr/>
        </p:nvSpPr>
        <p:spPr>
          <a:xfrm>
            <a:off x="8229600" y="2331720"/>
            <a:ext cx="3200400" cy="356616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1300" u="none" cap="none" strike="noStrike">
                <a:solidFill>
                  <a:srgbClr val="3B82F6"/>
                </a:solidFill>
                <a:latin typeface="Calibri"/>
                <a:ea typeface="Calibri"/>
                <a:cs typeface="Calibri"/>
                <a:sym typeface="Calibri"/>
              </a:rPr>
              <a:t>▪  </a:t>
            </a:r>
            <a:r>
              <a:rPr b="0" i="0" lang="en-US" sz="1300" u="none" cap="none" strike="noStrike">
                <a:solidFill>
                  <a:srgbClr val="D9DDE5"/>
                </a:solidFill>
                <a:latin typeface="Calibri"/>
                <a:ea typeface="Calibri"/>
                <a:cs typeface="Calibri"/>
                <a:sym typeface="Calibri"/>
              </a:rPr>
              <a:t>SOC 2 Type II attested.</a:t>
            </a:r>
            <a:endParaRPr/>
          </a:p>
          <a:p>
            <a:pPr indent="0" lvl="0" marL="0" marR="0" rtl="0" algn="l">
              <a:spcBef>
                <a:spcPts val="300"/>
              </a:spcBef>
              <a:spcAft>
                <a:spcPts val="0"/>
              </a:spcAft>
              <a:buNone/>
            </a:pPr>
            <a:r>
              <a:rPr b="0" i="0" lang="en-US" sz="1300" u="none" cap="none" strike="noStrike">
                <a:solidFill>
                  <a:srgbClr val="3B82F6"/>
                </a:solidFill>
                <a:latin typeface="Calibri"/>
                <a:ea typeface="Calibri"/>
                <a:cs typeface="Calibri"/>
                <a:sym typeface="Calibri"/>
              </a:rPr>
              <a:t>▪  </a:t>
            </a:r>
            <a:r>
              <a:rPr b="0" i="0" lang="en-US" sz="1300" u="none" cap="none" strike="noStrike">
                <a:solidFill>
                  <a:srgbClr val="D9DDE5"/>
                </a:solidFill>
                <a:latin typeface="Calibri"/>
                <a:ea typeface="Calibri"/>
                <a:cs typeface="Calibri"/>
                <a:sym typeface="Calibri"/>
              </a:rPr>
              <a:t>Complete, immutable session logs for every action taken.</a:t>
            </a:r>
            <a:endParaRPr/>
          </a:p>
          <a:p>
            <a:pPr indent="0" lvl="0" marL="0" marR="0" rtl="0" algn="l">
              <a:spcBef>
                <a:spcPts val="300"/>
              </a:spcBef>
              <a:spcAft>
                <a:spcPts val="0"/>
              </a:spcAft>
              <a:buNone/>
            </a:pPr>
            <a:r>
              <a:rPr b="0" i="0" lang="en-US" sz="1300" u="none" cap="none" strike="noStrike">
                <a:solidFill>
                  <a:srgbClr val="3B82F6"/>
                </a:solidFill>
                <a:latin typeface="Calibri"/>
                <a:ea typeface="Calibri"/>
                <a:cs typeface="Calibri"/>
                <a:sym typeface="Calibri"/>
              </a:rPr>
              <a:t>▪  </a:t>
            </a:r>
            <a:r>
              <a:rPr b="0" i="0" lang="en-US" sz="1300" u="none" cap="none" strike="noStrike">
                <a:solidFill>
                  <a:srgbClr val="D9DDE5"/>
                </a:solidFill>
                <a:latin typeface="Calibri"/>
                <a:ea typeface="Calibri"/>
                <a:cs typeface="Calibri"/>
                <a:sym typeface="Calibri"/>
              </a:rPr>
              <a:t>No self-merge; branch protection and CODEOWNERS enforced.</a:t>
            </a:r>
            <a:endParaRPr/>
          </a:p>
          <a:p>
            <a:pPr indent="0" lvl="0" marL="0" marR="0" rtl="0" algn="l">
              <a:spcBef>
                <a:spcPts val="300"/>
              </a:spcBef>
              <a:spcAft>
                <a:spcPts val="0"/>
              </a:spcAft>
              <a:buNone/>
            </a:pPr>
            <a:r>
              <a:rPr b="0" i="0" lang="en-US" sz="1300" u="none" cap="none" strike="noStrike">
                <a:solidFill>
                  <a:srgbClr val="3B82F6"/>
                </a:solidFill>
                <a:latin typeface="Calibri"/>
                <a:ea typeface="Calibri"/>
                <a:cs typeface="Calibri"/>
                <a:sym typeface="Calibri"/>
              </a:rPr>
              <a:t>▪  </a:t>
            </a:r>
            <a:r>
              <a:rPr b="0" i="0" lang="en-US" sz="1300" u="none" cap="none" strike="noStrike">
                <a:solidFill>
                  <a:srgbClr val="D9DDE5"/>
                </a:solidFill>
                <a:latin typeface="Calibri"/>
                <a:ea typeface="Calibri"/>
                <a:cs typeface="Calibri"/>
                <a:sym typeface="Calibri"/>
              </a:rPr>
              <a:t>Devin Review and code scans surface vulnerabilities in existing code.</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6" name="Shape 576"/>
        <p:cNvGrpSpPr/>
        <p:nvPr/>
      </p:nvGrpSpPr>
      <p:grpSpPr>
        <a:xfrm>
          <a:off x="0" y="0"/>
          <a:ext cx="0" cy="0"/>
          <a:chOff x="0" y="0"/>
          <a:chExt cx="0" cy="0"/>
        </a:xfrm>
      </p:grpSpPr>
      <p:sp>
        <p:nvSpPr>
          <p:cNvPr id="577" name="Google Shape;577;p26"/>
          <p:cNvSpPr/>
          <p:nvPr/>
        </p:nvSpPr>
        <p:spPr>
          <a:xfrm>
            <a:off x="0" y="0"/>
            <a:ext cx="12191695" cy="109728"/>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78" name="Google Shape;578;p26"/>
          <p:cNvSpPr txBox="1"/>
          <p:nvPr/>
        </p:nvSpPr>
        <p:spPr>
          <a:xfrm>
            <a:off x="548640" y="411480"/>
            <a:ext cx="7315200" cy="36576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200" u="none" cap="none" strike="noStrike">
                <a:solidFill>
                  <a:srgbClr val="3B82F6"/>
                </a:solidFill>
                <a:latin typeface="Calibri"/>
                <a:ea typeface="Calibri"/>
                <a:cs typeface="Calibri"/>
                <a:sym typeface="Calibri"/>
              </a:rPr>
              <a:t>BACKUP</a:t>
            </a:r>
            <a:endParaRPr/>
          </a:p>
        </p:txBody>
      </p:sp>
      <p:sp>
        <p:nvSpPr>
          <p:cNvPr id="579" name="Google Shape;579;p26"/>
          <p:cNvSpPr txBox="1"/>
          <p:nvPr/>
        </p:nvSpPr>
        <p:spPr>
          <a:xfrm>
            <a:off x="548640" y="731520"/>
            <a:ext cx="11155680" cy="9144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3000" u="none" cap="none" strike="noStrike">
                <a:solidFill>
                  <a:srgbClr val="141B2D"/>
                </a:solidFill>
                <a:latin typeface="Calibri"/>
                <a:ea typeface="Calibri"/>
                <a:cs typeface="Calibri"/>
                <a:sym typeface="Calibri"/>
              </a:rPr>
              <a:t>Appendix: objections and responses</a:t>
            </a:r>
            <a:endParaRPr/>
          </a:p>
        </p:txBody>
      </p:sp>
      <p:sp>
        <p:nvSpPr>
          <p:cNvPr id="580" name="Google Shape;580;p26"/>
          <p:cNvSpPr txBox="1"/>
          <p:nvPr/>
        </p:nvSpPr>
        <p:spPr>
          <a:xfrm>
            <a:off x="548640" y="6446520"/>
            <a:ext cx="7315200" cy="27432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000" u="none" cap="none" strike="noStrike">
                <a:solidFill>
                  <a:srgbClr val="6B7280"/>
                </a:solidFill>
                <a:latin typeface="Calibri"/>
                <a:ea typeface="Calibri"/>
                <a:cs typeface="Calibri"/>
                <a:sym typeface="Calibri"/>
              </a:rPr>
              <a:t>Cognition  |  Devin Discovery</a:t>
            </a:r>
            <a:endParaRPr/>
          </a:p>
        </p:txBody>
      </p:sp>
      <p:sp>
        <p:nvSpPr>
          <p:cNvPr id="581" name="Google Shape;581;p26"/>
          <p:cNvSpPr txBox="1"/>
          <p:nvPr/>
        </p:nvSpPr>
        <p:spPr>
          <a:xfrm>
            <a:off x="10789920" y="6446520"/>
            <a:ext cx="914400" cy="274320"/>
          </a:xfrm>
          <a:prstGeom prst="rect">
            <a:avLst/>
          </a:prstGeom>
          <a:noFill/>
          <a:ln>
            <a:noFill/>
          </a:ln>
        </p:spPr>
        <p:txBody>
          <a:bodyPr anchorCtr="0" anchor="t" bIns="27425" lIns="45700" spcFirstLastPara="1" rIns="45700" wrap="square" tIns="27425">
            <a:spAutoFit/>
          </a:bodyPr>
          <a:lstStyle/>
          <a:p>
            <a:pPr indent="0" lvl="0" marL="0" marR="0" rtl="0" algn="r">
              <a:spcBef>
                <a:spcPts val="0"/>
              </a:spcBef>
              <a:spcAft>
                <a:spcPts val="0"/>
              </a:spcAft>
              <a:buNone/>
            </a:pPr>
            <a:r>
              <a:rPr b="0" i="0" lang="en-US" sz="1000" u="none" cap="none" strike="noStrike">
                <a:solidFill>
                  <a:srgbClr val="6B7280"/>
                </a:solidFill>
                <a:latin typeface="Calibri"/>
                <a:ea typeface="Calibri"/>
                <a:cs typeface="Calibri"/>
                <a:sym typeface="Calibri"/>
              </a:rPr>
              <a:t>26</a:t>
            </a:r>
            <a:endParaRPr/>
          </a:p>
        </p:txBody>
      </p:sp>
      <p:sp>
        <p:nvSpPr>
          <p:cNvPr id="582" name="Google Shape;582;p26"/>
          <p:cNvSpPr txBox="1"/>
          <p:nvPr/>
        </p:nvSpPr>
        <p:spPr>
          <a:xfrm>
            <a:off x="548640" y="1691640"/>
            <a:ext cx="5394960" cy="36576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400" u="none" cap="none" strike="noStrike">
                <a:solidFill>
                  <a:srgbClr val="3B82F6"/>
                </a:solidFill>
                <a:latin typeface="Calibri"/>
                <a:ea typeface="Calibri"/>
                <a:cs typeface="Calibri"/>
                <a:sym typeface="Calibri"/>
              </a:rPr>
              <a:t>"We already have Copilot."</a:t>
            </a:r>
            <a:endParaRPr/>
          </a:p>
        </p:txBody>
      </p:sp>
      <p:sp>
        <p:nvSpPr>
          <p:cNvPr id="583" name="Google Shape;583;p26"/>
          <p:cNvSpPr txBox="1"/>
          <p:nvPr/>
        </p:nvSpPr>
        <p:spPr>
          <a:xfrm>
            <a:off x="548640" y="2057400"/>
            <a:ext cx="5394960" cy="109728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200" u="none" cap="none" strike="noStrike">
                <a:solidFill>
                  <a:srgbClr val="141B2D"/>
                </a:solidFill>
                <a:latin typeface="Calibri"/>
                <a:ea typeface="Calibri"/>
                <a:cs typeface="Calibri"/>
                <a:sym typeface="Calibri"/>
              </a:rPr>
              <a:t>Great, keep it. Copilot helps engineers type; Devin takes tickets off the board. Customers run both; the value is additive.</a:t>
            </a:r>
            <a:endParaRPr/>
          </a:p>
        </p:txBody>
      </p:sp>
      <p:sp>
        <p:nvSpPr>
          <p:cNvPr id="584" name="Google Shape;584;p26"/>
          <p:cNvSpPr txBox="1"/>
          <p:nvPr/>
        </p:nvSpPr>
        <p:spPr>
          <a:xfrm>
            <a:off x="6217920" y="1691640"/>
            <a:ext cx="5394960" cy="36576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400" u="none" cap="none" strike="noStrike">
                <a:solidFill>
                  <a:srgbClr val="3B82F6"/>
                </a:solidFill>
                <a:latin typeface="Calibri"/>
                <a:ea typeface="Calibri"/>
                <a:cs typeface="Calibri"/>
                <a:sym typeface="Calibri"/>
              </a:rPr>
              <a:t>"AI code isn't trustworthy."</a:t>
            </a:r>
            <a:endParaRPr/>
          </a:p>
        </p:txBody>
      </p:sp>
      <p:sp>
        <p:nvSpPr>
          <p:cNvPr id="585" name="Google Shape;585;p26"/>
          <p:cNvSpPr txBox="1"/>
          <p:nvPr/>
        </p:nvSpPr>
        <p:spPr>
          <a:xfrm>
            <a:off x="6217920" y="2057400"/>
            <a:ext cx="5394960" cy="109728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200" u="none" cap="none" strike="noStrike">
                <a:solidFill>
                  <a:srgbClr val="141B2D"/>
                </a:solidFill>
                <a:latin typeface="Calibri"/>
                <a:ea typeface="Calibri"/>
                <a:cs typeface="Calibri"/>
                <a:sym typeface="Calibri"/>
              </a:rPr>
              <a:t>Neither is any unreviewed code. Devin runs tests, fixes CI, and never self-merges. Your review process is unchanged; the volume of reviewable work increases.</a:t>
            </a:r>
            <a:endParaRPr/>
          </a:p>
        </p:txBody>
      </p:sp>
      <p:sp>
        <p:nvSpPr>
          <p:cNvPr id="586" name="Google Shape;586;p26"/>
          <p:cNvSpPr txBox="1"/>
          <p:nvPr/>
        </p:nvSpPr>
        <p:spPr>
          <a:xfrm>
            <a:off x="548640" y="3246120"/>
            <a:ext cx="5394960" cy="36576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400" u="none" cap="none" strike="noStrike">
                <a:solidFill>
                  <a:srgbClr val="3B82F6"/>
                </a:solidFill>
                <a:latin typeface="Calibri"/>
                <a:ea typeface="Calibri"/>
                <a:cs typeface="Calibri"/>
                <a:sym typeface="Calibri"/>
              </a:rPr>
              <a:t>"Our code can't leave our environment."</a:t>
            </a:r>
            <a:endParaRPr/>
          </a:p>
        </p:txBody>
      </p:sp>
      <p:sp>
        <p:nvSpPr>
          <p:cNvPr id="587" name="Google Shape;587;p26"/>
          <p:cNvSpPr txBox="1"/>
          <p:nvPr/>
        </p:nvSpPr>
        <p:spPr>
          <a:xfrm>
            <a:off x="548640" y="3611880"/>
            <a:ext cx="5394960" cy="109728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200" u="none" cap="none" strike="noStrike">
                <a:solidFill>
                  <a:srgbClr val="141B2D"/>
                </a:solidFill>
                <a:latin typeface="Calibri"/>
                <a:ea typeface="Calibri"/>
                <a:cs typeface="Calibri"/>
                <a:sym typeface="Calibri"/>
              </a:rPr>
              <a:t>Enterprise VPC deployment runs in your cloud account. No training on your code, encrypted secrets, full audit logs.</a:t>
            </a:r>
            <a:endParaRPr/>
          </a:p>
        </p:txBody>
      </p:sp>
      <p:sp>
        <p:nvSpPr>
          <p:cNvPr id="588" name="Google Shape;588;p26"/>
          <p:cNvSpPr txBox="1"/>
          <p:nvPr/>
        </p:nvSpPr>
        <p:spPr>
          <a:xfrm>
            <a:off x="6217920" y="3246120"/>
            <a:ext cx="5394960" cy="36576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400" u="none" cap="none" strike="noStrike">
                <a:solidFill>
                  <a:srgbClr val="3B82F6"/>
                </a:solidFill>
                <a:latin typeface="Calibri"/>
                <a:ea typeface="Calibri"/>
                <a:cs typeface="Calibri"/>
                <a:sym typeface="Calibri"/>
              </a:rPr>
              <a:t>"Will this replace engineers?"</a:t>
            </a:r>
            <a:endParaRPr/>
          </a:p>
        </p:txBody>
      </p:sp>
      <p:sp>
        <p:nvSpPr>
          <p:cNvPr id="589" name="Google Shape;589;p26"/>
          <p:cNvSpPr txBox="1"/>
          <p:nvPr/>
        </p:nvSpPr>
        <p:spPr>
          <a:xfrm>
            <a:off x="6217920" y="3611880"/>
            <a:ext cx="5394960" cy="109728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200" u="none" cap="none" strike="noStrike">
                <a:solidFill>
                  <a:srgbClr val="141B2D"/>
                </a:solidFill>
                <a:latin typeface="Calibri"/>
                <a:ea typeface="Calibri"/>
                <a:cs typeface="Calibri"/>
                <a:sym typeface="Calibri"/>
              </a:rPr>
              <a:t>It replaces toil. Customers redeploy engineers to product work and report higher retention when migrations and maintenance are automated.</a:t>
            </a:r>
            <a:endParaRPr/>
          </a:p>
        </p:txBody>
      </p:sp>
      <p:sp>
        <p:nvSpPr>
          <p:cNvPr id="590" name="Google Shape;590;p26"/>
          <p:cNvSpPr txBox="1"/>
          <p:nvPr/>
        </p:nvSpPr>
        <p:spPr>
          <a:xfrm>
            <a:off x="548640" y="4800600"/>
            <a:ext cx="5394960" cy="36576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400" u="none" cap="none" strike="noStrike">
                <a:solidFill>
                  <a:srgbClr val="3B82F6"/>
                </a:solidFill>
                <a:latin typeface="Calibri"/>
                <a:ea typeface="Calibri"/>
                <a:cs typeface="Calibri"/>
                <a:sym typeface="Calibri"/>
              </a:rPr>
              <a:t>"How do we measure it?"</a:t>
            </a:r>
            <a:endParaRPr/>
          </a:p>
        </p:txBody>
      </p:sp>
      <p:sp>
        <p:nvSpPr>
          <p:cNvPr id="591" name="Google Shape;591;p26"/>
          <p:cNvSpPr txBox="1"/>
          <p:nvPr/>
        </p:nvSpPr>
        <p:spPr>
          <a:xfrm>
            <a:off x="548640" y="5166360"/>
            <a:ext cx="5394960" cy="109728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200" u="none" cap="none" strike="noStrike">
                <a:solidFill>
                  <a:srgbClr val="141B2D"/>
                </a:solidFill>
                <a:latin typeface="Calibri"/>
                <a:ea typeface="Calibri"/>
                <a:cs typeface="Calibri"/>
                <a:sym typeface="Calibri"/>
              </a:rPr>
              <a:t>Jointly defined pilot metrics: PRs merged, cycle time, hours saved, CVEs patched. Reported weekly.</a:t>
            </a:r>
            <a:endParaRPr/>
          </a:p>
        </p:txBody>
      </p:sp>
      <p:sp>
        <p:nvSpPr>
          <p:cNvPr id="592" name="Google Shape;592;p26"/>
          <p:cNvSpPr txBox="1"/>
          <p:nvPr/>
        </p:nvSpPr>
        <p:spPr>
          <a:xfrm>
            <a:off x="6217920" y="4800600"/>
            <a:ext cx="5394960" cy="36576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400" u="none" cap="none" strike="noStrike">
                <a:solidFill>
                  <a:srgbClr val="3B82F6"/>
                </a:solidFill>
                <a:latin typeface="Calibri"/>
                <a:ea typeface="Calibri"/>
                <a:cs typeface="Calibri"/>
                <a:sym typeface="Calibri"/>
              </a:rPr>
              <a:t>"What does it cost?"</a:t>
            </a:r>
            <a:endParaRPr/>
          </a:p>
        </p:txBody>
      </p:sp>
      <p:sp>
        <p:nvSpPr>
          <p:cNvPr id="593" name="Google Shape;593;p26"/>
          <p:cNvSpPr txBox="1"/>
          <p:nvPr/>
        </p:nvSpPr>
        <p:spPr>
          <a:xfrm>
            <a:off x="6217920" y="5166360"/>
            <a:ext cx="5394960" cy="109728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200" u="none" cap="none" strike="noStrike">
                <a:solidFill>
                  <a:srgbClr val="141B2D"/>
                </a:solidFill>
                <a:latin typeface="Calibri"/>
                <a:ea typeface="Calibri"/>
                <a:cs typeface="Calibri"/>
                <a:sym typeface="Calibri"/>
              </a:rPr>
              <a:t>Consumption-based (ACUs) with team and enterprise tiers. Pilot pricing is scoped to the agreed use cases; we model ROI on your numbers.</a:t>
            </a:r>
            <a:endParaRP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75" cy="109728"/>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9144000" cy="365760"/>
          </a:xfrm>
          <a:prstGeom prst="rect">
            <a:avLst/>
          </a:prstGeom>
          <a:noFill/>
        </p:spPr>
        <p:txBody>
          <a:bodyPr wrap="square" anchor="t" lIns="45720" rIns="45720" tIns="27432" bIns="27432">
            <a:spAutoFit/>
          </a:bodyPr>
          <a:lstStyle/>
          <a:p>
            <a:pPr algn="l"/>
            <a:r>
              <a:rPr sz="1200" b="1" i="0">
                <a:solidFill>
                  <a:srgbClr val="3B82F6"/>
                </a:solidFill>
                <a:latin typeface="Calibri"/>
              </a:rPr>
              <a:t>RECAP &amp; DISCOVERY  |  CONFIRM, CORRECT, AND ADD TO THIS</a:t>
            </a:r>
          </a:p>
        </p:txBody>
      </p:sp>
      <p:sp>
        <p:nvSpPr>
          <p:cNvPr id="4" name="TextBox 3"/>
          <p:cNvSpPr txBox="1"/>
          <p:nvPr/>
        </p:nvSpPr>
        <p:spPr>
          <a:xfrm>
            <a:off x="548640" y="731520"/>
            <a:ext cx="11155680" cy="914400"/>
          </a:xfrm>
          <a:prstGeom prst="rect">
            <a:avLst/>
          </a:prstGeom>
          <a:noFill/>
        </p:spPr>
        <p:txBody>
          <a:bodyPr wrap="square" anchor="t" lIns="45720" rIns="45720" tIns="27432" bIns="27432">
            <a:spAutoFit/>
          </a:bodyPr>
          <a:lstStyle/>
          <a:p>
            <a:pPr algn="l"/>
            <a:r>
              <a:rPr sz="3000" b="1" i="0">
                <a:solidFill>
                  <a:srgbClr val="141B2D"/>
                </a:solidFill>
                <a:latin typeface="Calibri"/>
              </a:rPr>
              <a:t>Our understanding of Shopify</a:t>
            </a:r>
          </a:p>
        </p:txBody>
      </p:sp>
      <p:sp>
        <p:nvSpPr>
          <p:cNvPr id="5" name="TextBox 4"/>
          <p:cNvSpPr txBox="1"/>
          <p:nvPr/>
        </p:nvSpPr>
        <p:spPr>
          <a:xfrm>
            <a:off x="548640" y="6446520"/>
            <a:ext cx="7315200" cy="274320"/>
          </a:xfrm>
          <a:prstGeom prst="rect">
            <a:avLst/>
          </a:prstGeom>
          <a:noFill/>
        </p:spPr>
        <p:txBody>
          <a:bodyPr wrap="square" anchor="t" lIns="45720" rIns="45720" tIns="27432" bIns="27432">
            <a:spAutoFit/>
          </a:bodyPr>
          <a:lstStyle/>
          <a:p>
            <a:pPr algn="l"/>
            <a:r>
              <a:rPr sz="1000" b="0" i="0">
                <a:solidFill>
                  <a:srgbClr val="6B7280"/>
                </a:solidFill>
                <a:latin typeface="Calibri"/>
              </a:rPr>
              <a:t>Cognition  |  Devin</a:t>
            </a:r>
          </a:p>
        </p:txBody>
      </p:sp>
      <p:sp>
        <p:nvSpPr>
          <p:cNvPr id="6" name="Rounded Rectangle 5"/>
          <p:cNvSpPr/>
          <p:nvPr/>
        </p:nvSpPr>
        <p:spPr>
          <a:xfrm>
            <a:off x="548640" y="1691640"/>
            <a:ext cx="3611880" cy="2880360"/>
          </a:xfrm>
          <a:prstGeom prst="roundRect">
            <a:avLst>
              <a:gd name="adj" fmla="val 6000"/>
            </a:avLst>
          </a:prstGeom>
          <a:solidFill>
            <a:srgbClr val="F4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691640"/>
            <a:ext cx="73152" cy="2880360"/>
          </a:xfrm>
          <a:prstGeom prst="rect">
            <a:avLst/>
          </a:prstGeom>
          <a:solidFill>
            <a:srgbClr val="95BF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3246120" cy="457200"/>
          </a:xfrm>
          <a:prstGeom prst="rect">
            <a:avLst/>
          </a:prstGeom>
          <a:noFill/>
        </p:spPr>
        <p:txBody>
          <a:bodyPr wrap="square" anchor="t" lIns="45720" rIns="45720" tIns="27432" bIns="27432">
            <a:spAutoFit/>
          </a:bodyPr>
          <a:lstStyle/>
          <a:p>
            <a:pPr algn="l"/>
            <a:r>
              <a:rPr sz="1500" b="1" i="0">
                <a:solidFill>
                  <a:srgbClr val="141B2D"/>
                </a:solidFill>
                <a:latin typeface="Calibri"/>
              </a:rPr>
              <a:t>Your business</a:t>
            </a:r>
          </a:p>
        </p:txBody>
      </p:sp>
      <p:sp>
        <p:nvSpPr>
          <p:cNvPr id="9" name="TextBox 8"/>
          <p:cNvSpPr txBox="1"/>
          <p:nvPr/>
        </p:nvSpPr>
        <p:spPr>
          <a:xfrm>
            <a:off x="731520" y="2240280"/>
            <a:ext cx="3246120" cy="2240280"/>
          </a:xfrm>
          <a:prstGeom prst="rect">
            <a:avLst/>
          </a:prstGeom>
          <a:noFill/>
        </p:spPr>
        <p:txBody>
          <a:bodyPr wrap="square" lIns="45720" rIns="45720">
            <a:spAutoFit/>
          </a:bodyPr>
          <a:lstStyle/>
          <a:p>
            <a:pPr>
              <a:spcAft>
                <a:spcPts val="300"/>
              </a:spcAft>
            </a:pPr>
            <a:r>
              <a:rPr sz="1200">
                <a:solidFill>
                  <a:srgbClr val="3B82F6"/>
                </a:solidFill>
              </a:rPr>
              <a:t>▪  </a:t>
            </a:r>
            <a:r>
              <a:rPr sz="1200">
                <a:solidFill>
                  <a:srgbClr val="141B2D"/>
                </a:solidFill>
                <a:latin typeface="Calibri"/>
              </a:rPr>
              <a:t>Commerce OS for millions of merchants in 175+ countries; ~$300B annual GMV, ~$9B revenue, growing 25%+.</a:t>
            </a:r>
          </a:p>
          <a:p>
            <a:pPr>
              <a:spcAft>
                <a:spcPts val="300"/>
              </a:spcAft>
            </a:pPr>
            <a:r>
              <a:rPr sz="1200">
                <a:solidFill>
                  <a:srgbClr val="3B82F6"/>
                </a:solidFill>
              </a:rPr>
              <a:t>▪  </a:t>
            </a:r>
            <a:r>
              <a:rPr sz="1200">
                <a:solidFill>
                  <a:srgbClr val="141B2D"/>
                </a:solidFill>
                <a:latin typeface="Calibri"/>
              </a:rPr>
              <a:t>Every storefront renders through Liquid; every merchant depends on your platform's uptime and speed.</a:t>
            </a:r>
          </a:p>
          <a:p>
            <a:pPr>
              <a:spcAft>
                <a:spcPts val="300"/>
              </a:spcAft>
            </a:pPr>
            <a:r>
              <a:rPr sz="1200">
                <a:solidFill>
                  <a:srgbClr val="3B82F6"/>
                </a:solidFill>
              </a:rPr>
              <a:t>▪  </a:t>
            </a:r>
            <a:r>
              <a:rPr sz="1200">
                <a:solidFill>
                  <a:srgbClr val="141B2D"/>
                </a:solidFill>
                <a:latin typeface="Calibri"/>
              </a:rPr>
              <a:t>Moving up-market (Enterprise, Commerce Components) while defending the SMB core.</a:t>
            </a:r>
          </a:p>
        </p:txBody>
      </p:sp>
      <p:sp>
        <p:nvSpPr>
          <p:cNvPr id="10" name="Rounded Rectangle 9"/>
          <p:cNvSpPr/>
          <p:nvPr/>
        </p:nvSpPr>
        <p:spPr>
          <a:xfrm>
            <a:off x="4297680" y="1691640"/>
            <a:ext cx="3611880" cy="2880360"/>
          </a:xfrm>
          <a:prstGeom prst="roundRect">
            <a:avLst>
              <a:gd name="adj" fmla="val 6000"/>
            </a:avLst>
          </a:prstGeom>
          <a:solidFill>
            <a:srgbClr val="F4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297680" y="1691640"/>
            <a:ext cx="73152" cy="2880360"/>
          </a:xfrm>
          <a:prstGeom prst="rect">
            <a:avLst/>
          </a:prstGeom>
          <a:solidFill>
            <a:srgbClr val="95BF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6280" y="1828800"/>
            <a:ext cx="3246120" cy="457200"/>
          </a:xfrm>
          <a:prstGeom prst="rect">
            <a:avLst/>
          </a:prstGeom>
          <a:noFill/>
        </p:spPr>
        <p:txBody>
          <a:bodyPr wrap="square" anchor="t" lIns="45720" rIns="45720" tIns="27432" bIns="27432">
            <a:spAutoFit/>
          </a:bodyPr>
          <a:lstStyle/>
          <a:p>
            <a:pPr algn="l"/>
            <a:r>
              <a:rPr sz="1500" b="1" i="0">
                <a:solidFill>
                  <a:srgbClr val="141B2D"/>
                </a:solidFill>
                <a:latin typeface="Calibri"/>
              </a:rPr>
              <a:t>Your objectives</a:t>
            </a:r>
          </a:p>
        </p:txBody>
      </p:sp>
      <p:sp>
        <p:nvSpPr>
          <p:cNvPr id="13" name="TextBox 12"/>
          <p:cNvSpPr txBox="1"/>
          <p:nvPr/>
        </p:nvSpPr>
        <p:spPr>
          <a:xfrm>
            <a:off x="4480560" y="2240280"/>
            <a:ext cx="3246120" cy="2240280"/>
          </a:xfrm>
          <a:prstGeom prst="rect">
            <a:avLst/>
          </a:prstGeom>
          <a:noFill/>
        </p:spPr>
        <p:txBody>
          <a:bodyPr wrap="square" lIns="45720" rIns="45720">
            <a:spAutoFit/>
          </a:bodyPr>
          <a:lstStyle/>
          <a:p>
            <a:pPr>
              <a:spcAft>
                <a:spcPts val="300"/>
              </a:spcAft>
            </a:pPr>
            <a:r>
              <a:rPr sz="1100">
                <a:solidFill>
                  <a:srgbClr val="3B82F6"/>
                </a:solidFill>
              </a:rPr>
              <a:t>▪  </a:t>
            </a:r>
            <a:r>
              <a:rPr sz="1100">
                <a:solidFill>
                  <a:srgbClr val="141B2D"/>
                </a:solidFill>
                <a:latin typeface="Calibri"/>
              </a:rPr>
              <a:t>"Reflexive AI usage" mandate: prove AI cannot do the job before asking for headcount.</a:t>
            </a:r>
          </a:p>
          <a:p>
            <a:pPr>
              <a:spcAft>
                <a:spcPts val="300"/>
              </a:spcAft>
            </a:pPr>
            <a:r>
              <a:rPr sz="1100">
                <a:solidFill>
                  <a:srgbClr val="3B82F6"/>
                </a:solidFill>
              </a:rPr>
              <a:t>▪  </a:t>
            </a:r>
            <a:r>
              <a:rPr sz="1100">
                <a:solidFill>
                  <a:srgbClr val="141B2D"/>
                </a:solidFill>
                <a:latin typeface="Calibri"/>
              </a:rPr>
              <a:t>Ship faster on the world's largest Rails codebase while keeping quality and performance.</a:t>
            </a:r>
          </a:p>
          <a:p>
            <a:pPr>
              <a:spcAft>
                <a:spcPts val="300"/>
              </a:spcAft>
            </a:pPr>
            <a:r>
              <a:rPr sz="1100">
                <a:solidFill>
                  <a:srgbClr val="3B82F6"/>
                </a:solidFill>
              </a:rPr>
              <a:t>▪  </a:t>
            </a:r>
            <a:r>
              <a:rPr sz="1100">
                <a:solidFill>
                  <a:srgbClr val="141B2D"/>
                </a:solidFill>
                <a:latin typeface="Calibri"/>
              </a:rPr>
              <a:t>Protect merchant trust: security, uptime, and safe rendering of untrusted templates.</a:t>
            </a:r>
          </a:p>
          <a:p>
            <a:pPr>
              <a:spcAft>
                <a:spcPts val="300"/>
              </a:spcAft>
            </a:pPr>
            <a:r>
              <a:rPr sz="1100">
                <a:solidFill>
                  <a:srgbClr val="3B82F6"/>
                </a:solidFill>
              </a:rPr>
              <a:t>▪  </a:t>
            </a:r>
            <a:r>
              <a:rPr sz="1100">
                <a:solidFill>
                  <a:srgbClr val="141B2D"/>
                </a:solidFill>
                <a:latin typeface="Calibri"/>
              </a:rPr>
              <a:t>Scale the developer ecosystem (themes, apps) without scaling support load.</a:t>
            </a:r>
          </a:p>
        </p:txBody>
      </p:sp>
      <p:sp>
        <p:nvSpPr>
          <p:cNvPr id="14" name="Rounded Rectangle 13"/>
          <p:cNvSpPr/>
          <p:nvPr/>
        </p:nvSpPr>
        <p:spPr>
          <a:xfrm>
            <a:off x="8046720" y="1691640"/>
            <a:ext cx="3611880" cy="2880360"/>
          </a:xfrm>
          <a:prstGeom prst="roundRect">
            <a:avLst>
              <a:gd name="adj" fmla="val 6000"/>
            </a:avLst>
          </a:prstGeom>
          <a:solidFill>
            <a:srgbClr val="F4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46720" y="1691640"/>
            <a:ext cx="73152" cy="2880360"/>
          </a:xfrm>
          <a:prstGeom prst="rect">
            <a:avLst/>
          </a:prstGeom>
          <a:solidFill>
            <a:srgbClr val="95BF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75320" y="1828800"/>
            <a:ext cx="3246120" cy="457200"/>
          </a:xfrm>
          <a:prstGeom prst="rect">
            <a:avLst/>
          </a:prstGeom>
          <a:noFill/>
        </p:spPr>
        <p:txBody>
          <a:bodyPr wrap="square" anchor="t" lIns="45720" rIns="45720" tIns="27432" bIns="27432">
            <a:spAutoFit/>
          </a:bodyPr>
          <a:lstStyle/>
          <a:p>
            <a:pPr algn="l"/>
            <a:r>
              <a:rPr sz="1500" b="1" i="0">
                <a:solidFill>
                  <a:srgbClr val="141B2D"/>
                </a:solidFill>
                <a:latin typeface="Calibri"/>
              </a:rPr>
              <a:t>How Cognition can help</a:t>
            </a:r>
          </a:p>
        </p:txBody>
      </p:sp>
      <p:sp>
        <p:nvSpPr>
          <p:cNvPr id="17" name="TextBox 16"/>
          <p:cNvSpPr txBox="1"/>
          <p:nvPr/>
        </p:nvSpPr>
        <p:spPr>
          <a:xfrm>
            <a:off x="8229600" y="2240280"/>
            <a:ext cx="3246120" cy="2240280"/>
          </a:xfrm>
          <a:prstGeom prst="rect">
            <a:avLst/>
          </a:prstGeom>
          <a:noFill/>
        </p:spPr>
        <p:txBody>
          <a:bodyPr wrap="square" lIns="45720" rIns="45720">
            <a:spAutoFit/>
          </a:bodyPr>
          <a:lstStyle/>
          <a:p>
            <a:pPr>
              <a:spcAft>
                <a:spcPts val="300"/>
              </a:spcAft>
            </a:pPr>
            <a:r>
              <a:rPr sz="1200">
                <a:solidFill>
                  <a:srgbClr val="3B82F6"/>
                </a:solidFill>
              </a:rPr>
              <a:t>▪  </a:t>
            </a:r>
            <a:r>
              <a:rPr sz="1200">
                <a:solidFill>
                  <a:srgbClr val="141B2D"/>
                </a:solidFill>
                <a:latin typeface="Calibri"/>
              </a:rPr>
              <a:t>Devin turns the AI mandate into merged PRs, not just faster typing: migrations, tests, bugs, and upgrades done end to end.</a:t>
            </a:r>
          </a:p>
          <a:p>
            <a:pPr>
              <a:spcAft>
                <a:spcPts val="300"/>
              </a:spcAft>
            </a:pPr>
            <a:r>
              <a:rPr sz="1200">
                <a:solidFill>
                  <a:srgbClr val="3B82F6"/>
                </a:solidFill>
              </a:rPr>
              <a:t>▪  </a:t>
            </a:r>
            <a:r>
              <a:rPr sz="1200">
                <a:solidFill>
                  <a:srgbClr val="141B2D"/>
                </a:solidFill>
                <a:latin typeface="Calibri"/>
              </a:rPr>
              <a:t>Devin Wiki and Review compound knowledge and quality across thousands of engineers and repos.</a:t>
            </a:r>
          </a:p>
          <a:p>
            <a:pPr>
              <a:spcAft>
                <a:spcPts val="300"/>
              </a:spcAft>
            </a:pPr>
            <a:r>
              <a:rPr sz="1200">
                <a:solidFill>
                  <a:srgbClr val="3B82F6"/>
                </a:solidFill>
              </a:rPr>
              <a:t>▪  </a:t>
            </a:r>
            <a:r>
              <a:rPr sz="1200">
                <a:solidFill>
                  <a:srgbClr val="141B2D"/>
                </a:solidFill>
                <a:latin typeface="Calibri"/>
              </a:rPr>
              <a:t>Enterprise controls (VPC, SSO, audit logs, no training on code) fit a platform millions of merchants trust.</a:t>
            </a:r>
          </a:p>
        </p:txBody>
      </p:sp>
      <p:sp>
        <p:nvSpPr>
          <p:cNvPr id="18" name="Rounded Rectangle 17"/>
          <p:cNvSpPr/>
          <p:nvPr/>
        </p:nvSpPr>
        <p:spPr>
          <a:xfrm>
            <a:off x="548640" y="4754880"/>
            <a:ext cx="11109960" cy="1554480"/>
          </a:xfrm>
          <a:prstGeom prst="roundRect">
            <a:avLst/>
          </a:prstGeom>
          <a:solidFill>
            <a:srgbClr val="0B1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846320"/>
            <a:ext cx="3657600" cy="365760"/>
          </a:xfrm>
          <a:prstGeom prst="rect">
            <a:avLst/>
          </a:prstGeom>
          <a:noFill/>
        </p:spPr>
        <p:txBody>
          <a:bodyPr wrap="square" anchor="t" lIns="45720" rIns="45720" tIns="27432" bIns="27432">
            <a:spAutoFit/>
          </a:bodyPr>
          <a:lstStyle/>
          <a:p>
            <a:pPr algn="l"/>
            <a:r>
              <a:rPr sz="1300" b="1" i="0">
                <a:solidFill>
                  <a:srgbClr val="22C55E"/>
                </a:solidFill>
                <a:latin typeface="Calibri"/>
              </a:rPr>
              <a:t>Questions for the room</a:t>
            </a:r>
          </a:p>
        </p:txBody>
      </p:sp>
      <p:sp>
        <p:nvSpPr>
          <p:cNvPr id="20" name="TextBox 19"/>
          <p:cNvSpPr txBox="1"/>
          <p:nvPr/>
        </p:nvSpPr>
        <p:spPr>
          <a:xfrm>
            <a:off x="777240" y="5166360"/>
            <a:ext cx="5394960" cy="1188720"/>
          </a:xfrm>
          <a:prstGeom prst="rect">
            <a:avLst/>
          </a:prstGeom>
          <a:noFill/>
        </p:spPr>
        <p:txBody>
          <a:bodyPr wrap="square" lIns="45720" rIns="45720">
            <a:spAutoFit/>
          </a:bodyPr>
          <a:lstStyle/>
          <a:p>
            <a:pPr>
              <a:spcAft>
                <a:spcPts val="400"/>
              </a:spcAft>
            </a:pPr>
            <a:r>
              <a:rPr sz="1200">
                <a:solidFill>
                  <a:srgbClr val="22C55E"/>
                </a:solidFill>
              </a:rPr>
              <a:t>▪  </a:t>
            </a:r>
            <a:r>
              <a:rPr sz="1200">
                <a:solidFill>
                  <a:srgbClr val="D9DDE5"/>
                </a:solidFill>
                <a:latin typeface="Calibri"/>
              </a:rPr>
              <a:t>CTO: since the AI mandate, what share of PRs are AI-assisted, and how has merge time or defect rate changed?</a:t>
            </a:r>
          </a:p>
          <a:p>
            <a:pPr>
              <a:spcAft>
                <a:spcPts val="400"/>
              </a:spcAft>
            </a:pPr>
            <a:r>
              <a:rPr sz="1200">
                <a:solidFill>
                  <a:srgbClr val="22C55E"/>
                </a:solidFill>
              </a:rPr>
              <a:t>▪  </a:t>
            </a:r>
            <a:r>
              <a:rPr sz="1200">
                <a:solidFill>
                  <a:srgbClr val="D9DDE5"/>
                </a:solidFill>
                <a:latin typeface="Calibri"/>
              </a:rPr>
              <a:t>CTO / VP Eng: what is the biggest chunk of engineering time that is not roadmap right now?</a:t>
            </a:r>
          </a:p>
        </p:txBody>
      </p:sp>
      <p:sp>
        <p:nvSpPr>
          <p:cNvPr id="21" name="TextBox 20"/>
          <p:cNvSpPr txBox="1"/>
          <p:nvPr/>
        </p:nvSpPr>
        <p:spPr>
          <a:xfrm>
            <a:off x="6309360" y="5166360"/>
            <a:ext cx="5212080" cy="1188720"/>
          </a:xfrm>
          <a:prstGeom prst="rect">
            <a:avLst/>
          </a:prstGeom>
          <a:noFill/>
        </p:spPr>
        <p:txBody>
          <a:bodyPr wrap="square" lIns="45720" rIns="45720">
            <a:spAutoFit/>
          </a:bodyPr>
          <a:lstStyle/>
          <a:p>
            <a:pPr>
              <a:spcAft>
                <a:spcPts val="400"/>
              </a:spcAft>
            </a:pPr>
            <a:r>
              <a:rPr sz="1200">
                <a:solidFill>
                  <a:srgbClr val="22C55E"/>
                </a:solidFill>
              </a:rPr>
              <a:t>▪  </a:t>
            </a:r>
            <a:r>
              <a:rPr sz="1200">
                <a:solidFill>
                  <a:srgbClr val="D9DDE5"/>
                </a:solidFill>
                <a:latin typeface="Calibri"/>
              </a:rPr>
              <a:t>CISO: what did you need to see before approving Cursor and Copilot for engineers? Would an autonomous agent be judged differently?</a:t>
            </a:r>
          </a:p>
          <a:p>
            <a:pPr>
              <a:spcAft>
                <a:spcPts val="400"/>
              </a:spcAft>
            </a:pPr>
            <a:r>
              <a:rPr sz="1200">
                <a:solidFill>
                  <a:srgbClr val="22C55E"/>
                </a:solidFill>
              </a:rPr>
              <a:t>▪  </a:t>
            </a:r>
            <a:r>
              <a:rPr sz="1200">
                <a:solidFill>
                  <a:srgbClr val="D9DDE5"/>
                </a:solidFill>
                <a:latin typeface="Calibri"/>
              </a:rPr>
              <a:t>Business: which merchant-facing initiative slipped last quarter because engineering was the constraint?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75" cy="109728"/>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9144000" cy="365760"/>
          </a:xfrm>
          <a:prstGeom prst="rect">
            <a:avLst/>
          </a:prstGeom>
          <a:noFill/>
        </p:spPr>
        <p:txBody>
          <a:bodyPr wrap="square" anchor="t" lIns="45720" rIns="45720" tIns="27432" bIns="27432">
            <a:spAutoFit/>
          </a:bodyPr>
          <a:lstStyle/>
          <a:p>
            <a:pPr algn="l"/>
            <a:r>
              <a:rPr sz="1200" b="1" i="0">
                <a:solidFill>
                  <a:srgbClr val="3B82F6"/>
                </a:solidFill>
                <a:latin typeface="Calibri"/>
              </a:rPr>
              <a:t>VALUE FRAMING  |  FROM BUSINESS OBJECTIVE TO ENGINEERING OUTCOME</a:t>
            </a:r>
          </a:p>
        </p:txBody>
      </p:sp>
      <p:sp>
        <p:nvSpPr>
          <p:cNvPr id="4" name="TextBox 3"/>
          <p:cNvSpPr txBox="1"/>
          <p:nvPr/>
        </p:nvSpPr>
        <p:spPr>
          <a:xfrm>
            <a:off x="548640" y="731520"/>
            <a:ext cx="11155680" cy="914400"/>
          </a:xfrm>
          <a:prstGeom prst="rect">
            <a:avLst/>
          </a:prstGeom>
          <a:noFill/>
        </p:spPr>
        <p:txBody>
          <a:bodyPr wrap="square" anchor="t" lIns="45720" rIns="45720" tIns="27432" bIns="27432">
            <a:spAutoFit/>
          </a:bodyPr>
          <a:lstStyle/>
          <a:p>
            <a:pPr algn="l"/>
            <a:r>
              <a:rPr sz="3000" b="1" i="0">
                <a:solidFill>
                  <a:srgbClr val="141B2D"/>
                </a:solidFill>
                <a:latin typeface="Calibri"/>
              </a:rPr>
              <a:t>Where Devin moves Shopify's initiatives</a:t>
            </a:r>
          </a:p>
        </p:txBody>
      </p:sp>
      <p:sp>
        <p:nvSpPr>
          <p:cNvPr id="5" name="TextBox 4"/>
          <p:cNvSpPr txBox="1"/>
          <p:nvPr/>
        </p:nvSpPr>
        <p:spPr>
          <a:xfrm>
            <a:off x="548640" y="6446520"/>
            <a:ext cx="7315200" cy="274320"/>
          </a:xfrm>
          <a:prstGeom prst="rect">
            <a:avLst/>
          </a:prstGeom>
          <a:noFill/>
        </p:spPr>
        <p:txBody>
          <a:bodyPr wrap="square" anchor="t" lIns="45720" rIns="45720" tIns="27432" bIns="27432">
            <a:spAutoFit/>
          </a:bodyPr>
          <a:lstStyle/>
          <a:p>
            <a:pPr algn="l"/>
            <a:r>
              <a:rPr sz="1000" b="0" i="0">
                <a:solidFill>
                  <a:srgbClr val="6B7280"/>
                </a:solidFill>
                <a:latin typeface="Calibri"/>
              </a:rPr>
              <a:t>Cognition  |  Devin</a:t>
            </a:r>
          </a:p>
        </p:txBody>
      </p:sp>
      <p:sp>
        <p:nvSpPr>
          <p:cNvPr id="6" name="Rectangle 5"/>
          <p:cNvSpPr/>
          <p:nvPr/>
        </p:nvSpPr>
        <p:spPr>
          <a:xfrm>
            <a:off x="548640" y="1691640"/>
            <a:ext cx="11109960" cy="457200"/>
          </a:xfrm>
          <a:prstGeom prst="rect">
            <a:avLst/>
          </a:prstGeom>
          <a:solidFill>
            <a:srgbClr val="0B1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691640"/>
            <a:ext cx="2651760" cy="457200"/>
          </a:xfrm>
          <a:prstGeom prst="rect">
            <a:avLst/>
          </a:prstGeom>
          <a:noFill/>
        </p:spPr>
        <p:txBody>
          <a:bodyPr wrap="square" anchor="ctr" lIns="45720" rIns="45720" tIns="27432" bIns="27432">
            <a:spAutoFit/>
          </a:bodyPr>
          <a:lstStyle/>
          <a:p>
            <a:pPr algn="l"/>
            <a:r>
              <a:rPr sz="1300" b="1" i="0">
                <a:solidFill>
                  <a:srgbClr val="FFFFFF"/>
                </a:solidFill>
                <a:latin typeface="Calibri"/>
              </a:rPr>
              <a:t>Shopify initiative</a:t>
            </a:r>
          </a:p>
        </p:txBody>
      </p:sp>
      <p:sp>
        <p:nvSpPr>
          <p:cNvPr id="8" name="TextBox 7"/>
          <p:cNvSpPr txBox="1"/>
          <p:nvPr/>
        </p:nvSpPr>
        <p:spPr>
          <a:xfrm>
            <a:off x="3337560" y="1691640"/>
            <a:ext cx="3017520" cy="457200"/>
          </a:xfrm>
          <a:prstGeom prst="rect">
            <a:avLst/>
          </a:prstGeom>
          <a:noFill/>
        </p:spPr>
        <p:txBody>
          <a:bodyPr wrap="square" anchor="ctr" lIns="45720" rIns="45720" tIns="27432" bIns="27432">
            <a:spAutoFit/>
          </a:bodyPr>
          <a:lstStyle/>
          <a:p>
            <a:pPr algn="l"/>
            <a:r>
              <a:rPr sz="1300" b="1" i="0">
                <a:solidFill>
                  <a:srgbClr val="FFFFFF"/>
                </a:solidFill>
                <a:latin typeface="Calibri"/>
              </a:rPr>
              <a:t>Engineering work it creates</a:t>
            </a:r>
          </a:p>
        </p:txBody>
      </p:sp>
      <p:sp>
        <p:nvSpPr>
          <p:cNvPr id="9" name="TextBox 8"/>
          <p:cNvSpPr txBox="1"/>
          <p:nvPr/>
        </p:nvSpPr>
        <p:spPr>
          <a:xfrm>
            <a:off x="6400800" y="1691640"/>
            <a:ext cx="3017520" cy="457200"/>
          </a:xfrm>
          <a:prstGeom prst="rect">
            <a:avLst/>
          </a:prstGeom>
          <a:noFill/>
        </p:spPr>
        <p:txBody>
          <a:bodyPr wrap="square" anchor="ctr" lIns="45720" rIns="45720" tIns="27432" bIns="27432">
            <a:spAutoFit/>
          </a:bodyPr>
          <a:lstStyle/>
          <a:p>
            <a:pPr algn="l"/>
            <a:r>
              <a:rPr sz="1300" b="1" i="0">
                <a:solidFill>
                  <a:srgbClr val="FFFFFF"/>
                </a:solidFill>
                <a:latin typeface="Calibri"/>
              </a:rPr>
              <a:t>What Devin does</a:t>
            </a:r>
          </a:p>
        </p:txBody>
      </p:sp>
      <p:sp>
        <p:nvSpPr>
          <p:cNvPr id="10" name="TextBox 9"/>
          <p:cNvSpPr txBox="1"/>
          <p:nvPr/>
        </p:nvSpPr>
        <p:spPr>
          <a:xfrm>
            <a:off x="9464040" y="1691640"/>
            <a:ext cx="2286000" cy="457200"/>
          </a:xfrm>
          <a:prstGeom prst="rect">
            <a:avLst/>
          </a:prstGeom>
          <a:noFill/>
        </p:spPr>
        <p:txBody>
          <a:bodyPr wrap="square" anchor="ctr" lIns="45720" rIns="45720" tIns="27432" bIns="27432">
            <a:spAutoFit/>
          </a:bodyPr>
          <a:lstStyle/>
          <a:p>
            <a:pPr algn="l"/>
            <a:r>
              <a:rPr sz="1300" b="1" i="0">
                <a:solidFill>
                  <a:srgbClr val="FFFFFF"/>
                </a:solidFill>
                <a:latin typeface="Calibri"/>
              </a:rPr>
              <a:t>Business outcome</a:t>
            </a:r>
          </a:p>
        </p:txBody>
      </p:sp>
      <p:sp>
        <p:nvSpPr>
          <p:cNvPr id="11" name="Rectangle 10"/>
          <p:cNvSpPr/>
          <p:nvPr/>
        </p:nvSpPr>
        <p:spPr>
          <a:xfrm>
            <a:off x="548640" y="2148840"/>
            <a:ext cx="11109960" cy="822960"/>
          </a:xfrm>
          <a:prstGeom prst="rect">
            <a:avLst/>
          </a:prstGeom>
          <a:solidFill>
            <a:srgbClr val="F4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2148840"/>
            <a:ext cx="2514600" cy="822960"/>
          </a:xfrm>
          <a:prstGeom prst="rect">
            <a:avLst/>
          </a:prstGeom>
          <a:noFill/>
        </p:spPr>
        <p:txBody>
          <a:bodyPr wrap="square" anchor="ctr" lIns="45720" rIns="45720" tIns="27432" bIns="27432">
            <a:spAutoFit/>
          </a:bodyPr>
          <a:lstStyle/>
          <a:p>
            <a:pPr algn="l"/>
            <a:r>
              <a:rPr sz="1100" b="1" i="0">
                <a:solidFill>
                  <a:srgbClr val="141B2D"/>
                </a:solidFill>
                <a:latin typeface="Calibri"/>
              </a:rPr>
              <a:t>Reflexive AI usage; headcount only where AI cannot do the job</a:t>
            </a:r>
          </a:p>
        </p:txBody>
      </p:sp>
      <p:sp>
        <p:nvSpPr>
          <p:cNvPr id="13" name="TextBox 12"/>
          <p:cNvSpPr txBox="1"/>
          <p:nvPr/>
        </p:nvSpPr>
        <p:spPr>
          <a:xfrm>
            <a:off x="3337560" y="2148840"/>
            <a:ext cx="2880360" cy="822960"/>
          </a:xfrm>
          <a:prstGeom prst="rect">
            <a:avLst/>
          </a:prstGeom>
          <a:noFill/>
        </p:spPr>
        <p:txBody>
          <a:bodyPr wrap="square" anchor="ctr" lIns="45720" rIns="45720" tIns="27432" bIns="27432">
            <a:spAutoFit/>
          </a:bodyPr>
          <a:lstStyle/>
          <a:p>
            <a:pPr algn="l"/>
            <a:r>
              <a:rPr sz="1100" b="0" i="0">
                <a:solidFill>
                  <a:srgbClr val="141B2D"/>
                </a:solidFill>
                <a:latin typeface="Calibri"/>
              </a:rPr>
              <a:t>Backlog of well-specified tickets, tests, and upgrades nobody has time for</a:t>
            </a:r>
          </a:p>
        </p:txBody>
      </p:sp>
      <p:sp>
        <p:nvSpPr>
          <p:cNvPr id="14" name="TextBox 13"/>
          <p:cNvSpPr txBox="1"/>
          <p:nvPr/>
        </p:nvSpPr>
        <p:spPr>
          <a:xfrm>
            <a:off x="6400800" y="2148840"/>
            <a:ext cx="2880360" cy="822960"/>
          </a:xfrm>
          <a:prstGeom prst="rect">
            <a:avLst/>
          </a:prstGeom>
          <a:noFill/>
        </p:spPr>
        <p:txBody>
          <a:bodyPr wrap="square" anchor="ctr" lIns="45720" rIns="45720" tIns="27432" bIns="27432">
            <a:spAutoFit/>
          </a:bodyPr>
          <a:lstStyle/>
          <a:p>
            <a:pPr algn="l"/>
            <a:r>
              <a:rPr sz="1100" b="0" i="0">
                <a:solidFill>
                  <a:srgbClr val="3B82F6"/>
                </a:solidFill>
                <a:latin typeface="Calibri"/>
              </a:rPr>
              <a:t>Sessions: takes tickets from Slack/GitHub to tested, reviewed PRs, many in parallel</a:t>
            </a:r>
          </a:p>
        </p:txBody>
      </p:sp>
      <p:sp>
        <p:nvSpPr>
          <p:cNvPr id="15" name="TextBox 14"/>
          <p:cNvSpPr txBox="1"/>
          <p:nvPr/>
        </p:nvSpPr>
        <p:spPr>
          <a:xfrm>
            <a:off x="9464040" y="2148840"/>
            <a:ext cx="2148840" cy="822960"/>
          </a:xfrm>
          <a:prstGeom prst="rect">
            <a:avLst/>
          </a:prstGeom>
          <a:noFill/>
        </p:spPr>
        <p:txBody>
          <a:bodyPr wrap="square" anchor="ctr" lIns="45720" rIns="45720" tIns="27432" bIns="27432">
            <a:spAutoFit/>
          </a:bodyPr>
          <a:lstStyle/>
          <a:p>
            <a:pPr algn="l"/>
            <a:r>
              <a:rPr sz="1100" b="0" i="0">
                <a:solidFill>
                  <a:srgbClr val="141B2D"/>
                </a:solidFill>
                <a:latin typeface="Calibri"/>
              </a:rPr>
              <a:t>Mandate becomes measurable: PRs merged and hours reclaimed per team</a:t>
            </a:r>
          </a:p>
        </p:txBody>
      </p:sp>
      <p:sp>
        <p:nvSpPr>
          <p:cNvPr id="16" name="TextBox 15"/>
          <p:cNvSpPr txBox="1"/>
          <p:nvPr/>
        </p:nvSpPr>
        <p:spPr>
          <a:xfrm>
            <a:off x="640080" y="2971800"/>
            <a:ext cx="2514600" cy="822960"/>
          </a:xfrm>
          <a:prstGeom prst="rect">
            <a:avLst/>
          </a:prstGeom>
          <a:noFill/>
        </p:spPr>
        <p:txBody>
          <a:bodyPr wrap="square" anchor="ctr" lIns="45720" rIns="45720" tIns="27432" bIns="27432">
            <a:spAutoFit/>
          </a:bodyPr>
          <a:lstStyle/>
          <a:p>
            <a:pPr algn="l"/>
            <a:r>
              <a:rPr sz="1100" b="1" i="0">
                <a:solidFill>
                  <a:srgbClr val="141B2D"/>
                </a:solidFill>
                <a:latin typeface="Calibri"/>
              </a:rPr>
              <a:t>Storefront performance and reliability (Liquid, themes, checkout)</a:t>
            </a:r>
          </a:p>
        </p:txBody>
      </p:sp>
      <p:sp>
        <p:nvSpPr>
          <p:cNvPr id="17" name="TextBox 16"/>
          <p:cNvSpPr txBox="1"/>
          <p:nvPr/>
        </p:nvSpPr>
        <p:spPr>
          <a:xfrm>
            <a:off x="3337560" y="2971800"/>
            <a:ext cx="2880360" cy="822960"/>
          </a:xfrm>
          <a:prstGeom prst="rect">
            <a:avLst/>
          </a:prstGeom>
          <a:noFill/>
        </p:spPr>
        <p:txBody>
          <a:bodyPr wrap="square" anchor="ctr" lIns="45720" rIns="45720" tIns="27432" bIns="27432">
            <a:spAutoFit/>
          </a:bodyPr>
          <a:lstStyle/>
          <a:p>
            <a:pPr algn="l"/>
            <a:r>
              <a:rPr sz="1100" b="0" i="0">
                <a:solidFill>
                  <a:srgbClr val="141B2D"/>
                </a:solidFill>
                <a:latin typeface="Calibri"/>
              </a:rPr>
              <a:t>Perf regressions, edge-case bugs, filter/tag features requested by theme devs</a:t>
            </a:r>
          </a:p>
        </p:txBody>
      </p:sp>
      <p:sp>
        <p:nvSpPr>
          <p:cNvPr id="18" name="TextBox 17"/>
          <p:cNvSpPr txBox="1"/>
          <p:nvPr/>
        </p:nvSpPr>
        <p:spPr>
          <a:xfrm>
            <a:off x="6400800" y="2971800"/>
            <a:ext cx="2880360" cy="822960"/>
          </a:xfrm>
          <a:prstGeom prst="rect">
            <a:avLst/>
          </a:prstGeom>
          <a:noFill/>
        </p:spPr>
        <p:txBody>
          <a:bodyPr wrap="square" anchor="ctr" lIns="45720" rIns="45720" tIns="27432" bIns="27432">
            <a:spAutoFit/>
          </a:bodyPr>
          <a:lstStyle/>
          <a:p>
            <a:pPr algn="l"/>
            <a:r>
              <a:rPr sz="1100" b="0" i="0">
                <a:solidFill>
                  <a:srgbClr val="3B82F6"/>
                </a:solidFill>
                <a:latin typeface="Calibri"/>
              </a:rPr>
              <a:t>Sessions + Review: reproduce, fix, benchmark; Review catches regressions on every PR</a:t>
            </a:r>
          </a:p>
        </p:txBody>
      </p:sp>
      <p:sp>
        <p:nvSpPr>
          <p:cNvPr id="19" name="TextBox 18"/>
          <p:cNvSpPr txBox="1"/>
          <p:nvPr/>
        </p:nvSpPr>
        <p:spPr>
          <a:xfrm>
            <a:off x="9464040" y="2971800"/>
            <a:ext cx="2148840" cy="822960"/>
          </a:xfrm>
          <a:prstGeom prst="rect">
            <a:avLst/>
          </a:prstGeom>
          <a:noFill/>
        </p:spPr>
        <p:txBody>
          <a:bodyPr wrap="square" anchor="ctr" lIns="45720" rIns="45720" tIns="27432" bIns="27432">
            <a:spAutoFit/>
          </a:bodyPr>
          <a:lstStyle/>
          <a:p>
            <a:pPr algn="l"/>
            <a:r>
              <a:rPr sz="1100" b="0" i="0">
                <a:solidFill>
                  <a:srgbClr val="141B2D"/>
                </a:solidFill>
                <a:latin typeface="Calibri"/>
              </a:rPr>
              <a:t>Faster storefronts, fewer merchant-facing incidents, higher conversion</a:t>
            </a:r>
          </a:p>
        </p:txBody>
      </p:sp>
      <p:sp>
        <p:nvSpPr>
          <p:cNvPr id="20" name="Rectangle 19"/>
          <p:cNvSpPr/>
          <p:nvPr/>
        </p:nvSpPr>
        <p:spPr>
          <a:xfrm>
            <a:off x="548640" y="3794760"/>
            <a:ext cx="11109960" cy="822960"/>
          </a:xfrm>
          <a:prstGeom prst="rect">
            <a:avLst/>
          </a:prstGeom>
          <a:solidFill>
            <a:srgbClr val="F4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3794760"/>
            <a:ext cx="2514600" cy="822960"/>
          </a:xfrm>
          <a:prstGeom prst="rect">
            <a:avLst/>
          </a:prstGeom>
          <a:noFill/>
        </p:spPr>
        <p:txBody>
          <a:bodyPr wrap="square" anchor="ctr" lIns="45720" rIns="45720" tIns="27432" bIns="27432">
            <a:spAutoFit/>
          </a:bodyPr>
          <a:lstStyle/>
          <a:p>
            <a:pPr algn="l"/>
            <a:r>
              <a:rPr sz="1100" b="1" i="0">
                <a:solidFill>
                  <a:srgbClr val="141B2D"/>
                </a:solidFill>
                <a:latin typeface="Calibri"/>
              </a:rPr>
              <a:t>Largest Rails monolith in the world: keep it modern</a:t>
            </a:r>
          </a:p>
        </p:txBody>
      </p:sp>
      <p:sp>
        <p:nvSpPr>
          <p:cNvPr id="22" name="TextBox 21"/>
          <p:cNvSpPr txBox="1"/>
          <p:nvPr/>
        </p:nvSpPr>
        <p:spPr>
          <a:xfrm>
            <a:off x="3337560" y="3794760"/>
            <a:ext cx="2880360" cy="822960"/>
          </a:xfrm>
          <a:prstGeom prst="rect">
            <a:avLst/>
          </a:prstGeom>
          <a:noFill/>
        </p:spPr>
        <p:txBody>
          <a:bodyPr wrap="square" anchor="ctr" lIns="45720" rIns="45720" tIns="27432" bIns="27432">
            <a:spAutoFit/>
          </a:bodyPr>
          <a:lstStyle/>
          <a:p>
            <a:pPr algn="l"/>
            <a:r>
              <a:rPr sz="1100" b="0" i="0">
                <a:solidFill>
                  <a:srgbClr val="141B2D"/>
                </a:solidFill>
                <a:latin typeface="Calibri"/>
              </a:rPr>
              <a:t>Ruby/Rails upgrades, gem CVEs, deprecations across thousands of modules</a:t>
            </a:r>
          </a:p>
        </p:txBody>
      </p:sp>
      <p:sp>
        <p:nvSpPr>
          <p:cNvPr id="23" name="TextBox 22"/>
          <p:cNvSpPr txBox="1"/>
          <p:nvPr/>
        </p:nvSpPr>
        <p:spPr>
          <a:xfrm>
            <a:off x="6400800" y="3794760"/>
            <a:ext cx="2880360" cy="822960"/>
          </a:xfrm>
          <a:prstGeom prst="rect">
            <a:avLst/>
          </a:prstGeom>
          <a:noFill/>
        </p:spPr>
        <p:txBody>
          <a:bodyPr wrap="square" anchor="ctr" lIns="45720" rIns="45720" tIns="27432" bIns="27432">
            <a:spAutoFit/>
          </a:bodyPr>
          <a:lstStyle/>
          <a:p>
            <a:pPr algn="l"/>
            <a:r>
              <a:rPr sz="1100" b="0" i="0">
                <a:solidFill>
                  <a:srgbClr val="3B82F6"/>
                </a:solidFill>
                <a:latin typeface="Calibri"/>
              </a:rPr>
              <a:t>Automations: scheduled dependency and CVE sweeps that open PRs automatically</a:t>
            </a:r>
          </a:p>
        </p:txBody>
      </p:sp>
      <p:sp>
        <p:nvSpPr>
          <p:cNvPr id="24" name="TextBox 23"/>
          <p:cNvSpPr txBox="1"/>
          <p:nvPr/>
        </p:nvSpPr>
        <p:spPr>
          <a:xfrm>
            <a:off x="9464040" y="3794760"/>
            <a:ext cx="2148840" cy="822960"/>
          </a:xfrm>
          <a:prstGeom prst="rect">
            <a:avLst/>
          </a:prstGeom>
          <a:noFill/>
        </p:spPr>
        <p:txBody>
          <a:bodyPr wrap="square" anchor="ctr" lIns="45720" rIns="45720" tIns="27432" bIns="27432">
            <a:spAutoFit/>
          </a:bodyPr>
          <a:lstStyle/>
          <a:p>
            <a:pPr algn="l"/>
            <a:r>
              <a:rPr sz="1100" b="0" i="0">
                <a:solidFill>
                  <a:srgbClr val="141B2D"/>
                </a:solidFill>
                <a:latin typeface="Calibri"/>
              </a:rPr>
              <a:t>Security debt shrinks continuously instead of in painful annual pushes</a:t>
            </a:r>
          </a:p>
        </p:txBody>
      </p:sp>
      <p:sp>
        <p:nvSpPr>
          <p:cNvPr id="25" name="TextBox 24"/>
          <p:cNvSpPr txBox="1"/>
          <p:nvPr/>
        </p:nvSpPr>
        <p:spPr>
          <a:xfrm>
            <a:off x="640080" y="4617720"/>
            <a:ext cx="2514600" cy="822960"/>
          </a:xfrm>
          <a:prstGeom prst="rect">
            <a:avLst/>
          </a:prstGeom>
          <a:noFill/>
        </p:spPr>
        <p:txBody>
          <a:bodyPr wrap="square" anchor="ctr" lIns="45720" rIns="45720" tIns="27432" bIns="27432">
            <a:spAutoFit/>
          </a:bodyPr>
          <a:lstStyle/>
          <a:p>
            <a:pPr algn="l"/>
            <a:r>
              <a:rPr sz="1100" b="1" i="0">
                <a:solidFill>
                  <a:srgbClr val="141B2D"/>
                </a:solidFill>
                <a:latin typeface="Calibri"/>
              </a:rPr>
              <a:t>Grow the theme and app developer ecosystem</a:t>
            </a:r>
          </a:p>
        </p:txBody>
      </p:sp>
      <p:sp>
        <p:nvSpPr>
          <p:cNvPr id="26" name="TextBox 25"/>
          <p:cNvSpPr txBox="1"/>
          <p:nvPr/>
        </p:nvSpPr>
        <p:spPr>
          <a:xfrm>
            <a:off x="3337560" y="4617720"/>
            <a:ext cx="2880360" cy="822960"/>
          </a:xfrm>
          <a:prstGeom prst="rect">
            <a:avLst/>
          </a:prstGeom>
          <a:noFill/>
        </p:spPr>
        <p:txBody>
          <a:bodyPr wrap="square" anchor="ctr" lIns="45720" rIns="45720" tIns="27432" bIns="27432">
            <a:spAutoFit/>
          </a:bodyPr>
          <a:lstStyle/>
          <a:p>
            <a:pPr algn="l"/>
            <a:r>
              <a:rPr sz="1100" b="0" i="0">
                <a:solidFill>
                  <a:srgbClr val="141B2D"/>
                </a:solidFill>
                <a:latin typeface="Calibri"/>
              </a:rPr>
              <a:t>Docs drift; partners and new hires ask the same questions of senior engineers</a:t>
            </a:r>
          </a:p>
        </p:txBody>
      </p:sp>
      <p:sp>
        <p:nvSpPr>
          <p:cNvPr id="27" name="TextBox 26"/>
          <p:cNvSpPr txBox="1"/>
          <p:nvPr/>
        </p:nvSpPr>
        <p:spPr>
          <a:xfrm>
            <a:off x="6400800" y="4617720"/>
            <a:ext cx="2880360" cy="822960"/>
          </a:xfrm>
          <a:prstGeom prst="rect">
            <a:avLst/>
          </a:prstGeom>
          <a:noFill/>
        </p:spPr>
        <p:txBody>
          <a:bodyPr wrap="square" anchor="ctr" lIns="45720" rIns="45720" tIns="27432" bIns="27432">
            <a:spAutoFit/>
          </a:bodyPr>
          <a:lstStyle/>
          <a:p>
            <a:pPr algn="l"/>
            <a:r>
              <a:rPr sz="1100" b="0" i="0">
                <a:solidFill>
                  <a:srgbClr val="3B82F6"/>
                </a:solidFill>
                <a:latin typeface="Calibri"/>
              </a:rPr>
              <a:t>Wiki + Ask Devin: always-current architecture docs and codebase Q&amp;A</a:t>
            </a:r>
          </a:p>
        </p:txBody>
      </p:sp>
      <p:sp>
        <p:nvSpPr>
          <p:cNvPr id="28" name="TextBox 27"/>
          <p:cNvSpPr txBox="1"/>
          <p:nvPr/>
        </p:nvSpPr>
        <p:spPr>
          <a:xfrm>
            <a:off x="9464040" y="4617720"/>
            <a:ext cx="2148840" cy="822960"/>
          </a:xfrm>
          <a:prstGeom prst="rect">
            <a:avLst/>
          </a:prstGeom>
          <a:noFill/>
        </p:spPr>
        <p:txBody>
          <a:bodyPr wrap="square" anchor="ctr" lIns="45720" rIns="45720" tIns="27432" bIns="27432">
            <a:spAutoFit/>
          </a:bodyPr>
          <a:lstStyle/>
          <a:p>
            <a:pPr algn="l"/>
            <a:r>
              <a:rPr sz="1100" b="0" i="0">
                <a:solidFill>
                  <a:srgbClr val="141B2D"/>
                </a:solidFill>
                <a:latin typeface="Calibri"/>
              </a:rPr>
              <a:t>Faster onboarding, fewer interrupts for senior engineers, better partner experience</a:t>
            </a:r>
          </a:p>
        </p:txBody>
      </p:sp>
      <p:sp>
        <p:nvSpPr>
          <p:cNvPr id="29" name="Rectangle 28"/>
          <p:cNvSpPr/>
          <p:nvPr/>
        </p:nvSpPr>
        <p:spPr>
          <a:xfrm>
            <a:off x="548640" y="5440680"/>
            <a:ext cx="11109960" cy="822960"/>
          </a:xfrm>
          <a:prstGeom prst="rect">
            <a:avLst/>
          </a:prstGeom>
          <a:solidFill>
            <a:srgbClr val="F4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0080" y="5440680"/>
            <a:ext cx="2514600" cy="822960"/>
          </a:xfrm>
          <a:prstGeom prst="rect">
            <a:avLst/>
          </a:prstGeom>
          <a:noFill/>
        </p:spPr>
        <p:txBody>
          <a:bodyPr wrap="square" anchor="ctr" lIns="45720" rIns="45720" tIns="27432" bIns="27432">
            <a:spAutoFit/>
          </a:bodyPr>
          <a:lstStyle/>
          <a:p>
            <a:pPr algn="l"/>
            <a:r>
              <a:rPr sz="1100" b="1" i="0">
                <a:solidFill>
                  <a:srgbClr val="141B2D"/>
                </a:solidFill>
                <a:latin typeface="Calibri"/>
              </a:rPr>
              <a:t>Merchant trust: security and compliance at scale</a:t>
            </a:r>
          </a:p>
        </p:txBody>
      </p:sp>
      <p:sp>
        <p:nvSpPr>
          <p:cNvPr id="31" name="TextBox 30"/>
          <p:cNvSpPr txBox="1"/>
          <p:nvPr/>
        </p:nvSpPr>
        <p:spPr>
          <a:xfrm>
            <a:off x="3337560" y="5440680"/>
            <a:ext cx="2880360" cy="822960"/>
          </a:xfrm>
          <a:prstGeom prst="rect">
            <a:avLst/>
          </a:prstGeom>
          <a:noFill/>
        </p:spPr>
        <p:txBody>
          <a:bodyPr wrap="square" anchor="ctr" lIns="45720" rIns="45720" tIns="27432" bIns="27432">
            <a:spAutoFit/>
          </a:bodyPr>
          <a:lstStyle/>
          <a:p>
            <a:pPr algn="l"/>
            <a:r>
              <a:rPr sz="1100" b="0" i="0">
                <a:solidFill>
                  <a:srgbClr val="141B2D"/>
                </a:solidFill>
                <a:latin typeface="Calibri"/>
              </a:rPr>
              <a:t>Every automated actor needs auditability, scoped access, and data guarantees</a:t>
            </a:r>
          </a:p>
        </p:txBody>
      </p:sp>
      <p:sp>
        <p:nvSpPr>
          <p:cNvPr id="32" name="TextBox 31"/>
          <p:cNvSpPr txBox="1"/>
          <p:nvPr/>
        </p:nvSpPr>
        <p:spPr>
          <a:xfrm>
            <a:off x="6400800" y="5440680"/>
            <a:ext cx="2880360" cy="822960"/>
          </a:xfrm>
          <a:prstGeom prst="rect">
            <a:avLst/>
          </a:prstGeom>
          <a:noFill/>
        </p:spPr>
        <p:txBody>
          <a:bodyPr wrap="square" anchor="ctr" lIns="45720" rIns="45720" tIns="27432" bIns="27432">
            <a:spAutoFit/>
          </a:bodyPr>
          <a:lstStyle/>
          <a:p>
            <a:pPr algn="l"/>
            <a:r>
              <a:rPr sz="1100" b="0" i="0">
                <a:solidFill>
                  <a:srgbClr val="3B82F6"/>
                </a:solidFill>
                <a:latin typeface="Calibri"/>
              </a:rPr>
              <a:t>Security: VPC option, SSO/SCIM, encrypted secrets, immutable session logs, no training on code</a:t>
            </a:r>
          </a:p>
        </p:txBody>
      </p:sp>
      <p:sp>
        <p:nvSpPr>
          <p:cNvPr id="33" name="TextBox 32"/>
          <p:cNvSpPr txBox="1"/>
          <p:nvPr/>
        </p:nvSpPr>
        <p:spPr>
          <a:xfrm>
            <a:off x="9464040" y="5440680"/>
            <a:ext cx="2148840" cy="822960"/>
          </a:xfrm>
          <a:prstGeom prst="rect">
            <a:avLst/>
          </a:prstGeom>
          <a:noFill/>
        </p:spPr>
        <p:txBody>
          <a:bodyPr wrap="square" anchor="ctr" lIns="45720" rIns="45720" tIns="27432" bIns="27432">
            <a:spAutoFit/>
          </a:bodyPr>
          <a:lstStyle/>
          <a:p>
            <a:pPr algn="l"/>
            <a:r>
              <a:rPr sz="1100" b="0" i="0">
                <a:solidFill>
                  <a:srgbClr val="141B2D"/>
                </a:solidFill>
                <a:latin typeface="Calibri"/>
              </a:rPr>
              <a:t>AI adoption the CISO can sign off on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B1226"/>
        </a:solidFill>
        <a:effectLst/>
      </p:bgPr>
    </p:bg>
    <p:spTree>
      <p:nvGrpSpPr>
        <p:cNvPr id="1" name=""/>
        <p:cNvGrpSpPr/>
        <p:nvPr/>
      </p:nvGrpSpPr>
      <p:grpSpPr/>
      <p:sp>
        <p:nvSpPr>
          <p:cNvPr id="2" name="Rectangle 1"/>
          <p:cNvSpPr/>
          <p:nvPr/>
        </p:nvSpPr>
        <p:spPr>
          <a:xfrm>
            <a:off x="0" y="0"/>
            <a:ext cx="12191675" cy="109728"/>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9144000" cy="365760"/>
          </a:xfrm>
          <a:prstGeom prst="rect">
            <a:avLst/>
          </a:prstGeom>
          <a:noFill/>
        </p:spPr>
        <p:txBody>
          <a:bodyPr wrap="square" anchor="t" lIns="45720" rIns="45720" tIns="27432" bIns="27432">
            <a:spAutoFit/>
          </a:bodyPr>
          <a:lstStyle/>
          <a:p>
            <a:pPr algn="l"/>
            <a:r>
              <a:rPr sz="1200" b="1" i="0">
                <a:solidFill>
                  <a:srgbClr val="3B82F6"/>
                </a:solidFill>
                <a:latin typeface="Calibri"/>
              </a:rPr>
              <a:t>VALUE FRAMING  |  WHY THIS CODEBASE TELLS THE STORY</a:t>
            </a:r>
          </a:p>
        </p:txBody>
      </p:sp>
      <p:sp>
        <p:nvSpPr>
          <p:cNvPr id="4" name="TextBox 3"/>
          <p:cNvSpPr txBox="1"/>
          <p:nvPr/>
        </p:nvSpPr>
        <p:spPr>
          <a:xfrm>
            <a:off x="548640" y="731520"/>
            <a:ext cx="11155680" cy="914400"/>
          </a:xfrm>
          <a:prstGeom prst="rect">
            <a:avLst/>
          </a:prstGeom>
          <a:noFill/>
        </p:spPr>
        <p:txBody>
          <a:bodyPr wrap="square" anchor="t" lIns="45720" rIns="45720" tIns="27432" bIns="27432">
            <a:spAutoFit/>
          </a:bodyPr>
          <a:lstStyle/>
          <a:p>
            <a:pPr algn="l"/>
            <a:r>
              <a:rPr sz="3000" b="1" i="0">
                <a:solidFill>
                  <a:srgbClr val="FFFFFF"/>
                </a:solidFill>
                <a:latin typeface="Calibri"/>
              </a:rPr>
              <a:t>Demo repo: Shopify/liquid</a:t>
            </a:r>
          </a:p>
        </p:txBody>
      </p:sp>
      <p:sp>
        <p:nvSpPr>
          <p:cNvPr id="5" name="TextBox 4"/>
          <p:cNvSpPr txBox="1"/>
          <p:nvPr/>
        </p:nvSpPr>
        <p:spPr>
          <a:xfrm>
            <a:off x="548640" y="6446520"/>
            <a:ext cx="7315200" cy="274320"/>
          </a:xfrm>
          <a:prstGeom prst="rect">
            <a:avLst/>
          </a:prstGeom>
          <a:noFill/>
        </p:spPr>
        <p:txBody>
          <a:bodyPr wrap="square" anchor="t" lIns="45720" rIns="45720" tIns="27432" bIns="27432">
            <a:spAutoFit/>
          </a:bodyPr>
          <a:lstStyle/>
          <a:p>
            <a:pPr algn="l"/>
            <a:r>
              <a:rPr sz="1000" b="0" i="0">
                <a:solidFill>
                  <a:srgbClr val="6B7280"/>
                </a:solidFill>
                <a:latin typeface="Calibri"/>
              </a:rPr>
              <a:t>Cognition  |  Devin</a:t>
            </a:r>
          </a:p>
        </p:txBody>
      </p:sp>
      <p:sp>
        <p:nvSpPr>
          <p:cNvPr id="6" name="TextBox 5"/>
          <p:cNvSpPr txBox="1"/>
          <p:nvPr/>
        </p:nvSpPr>
        <p:spPr>
          <a:xfrm>
            <a:off x="548640" y="1691640"/>
            <a:ext cx="5669280" cy="4114800"/>
          </a:xfrm>
          <a:prstGeom prst="rect">
            <a:avLst/>
          </a:prstGeom>
          <a:noFill/>
        </p:spPr>
        <p:txBody>
          <a:bodyPr wrap="square" anchor="t" lIns="45720" rIns="45720" tIns="27432" bIns="27432">
            <a:spAutoFit/>
          </a:bodyPr>
          <a:lstStyle/>
          <a:p>
            <a:pPr algn="l"/>
            <a:r>
              <a:rPr sz="1400" b="0" i="0">
                <a:solidFill>
                  <a:srgbClr val="D9DDE5"/>
                </a:solidFill>
                <a:latin typeface="Calibri"/>
              </a:rPr>
              <a:t>Liquid is the open-source template engine behind every Shopify storefront theme, used by millions of merchants and the entire theme-developer ecosystem.</a:t>
            </a:r>
          </a:p>
          <a:p>
            <a:pPr algn="l"/>
            <a:r>
              <a:rPr sz="1400" b="0" i="0">
                <a:solidFill>
                  <a:srgbClr val="D9DDE5"/>
                </a:solidFill>
                <a:latin typeface="Calibri"/>
              </a:rPr>
              <a:t/>
            </a:r>
          </a:p>
          <a:p>
            <a:pPr algn="l"/>
            <a:r>
              <a:rPr sz="1400" b="0" i="0">
                <a:solidFill>
                  <a:srgbClr val="D9DDE5"/>
                </a:solidFill>
                <a:latin typeface="Calibri"/>
              </a:rPr>
              <a:t>It is small enough to understand in a 40-minute meeting (~7k lines of Ruby, strong test suite, active CI) and important enough that every change matters: a bug or a slow filter shows up on real storefronts.</a:t>
            </a:r>
          </a:p>
          <a:p>
            <a:pPr algn="l"/>
            <a:r>
              <a:rPr sz="1400" b="0" i="0">
                <a:solidFill>
                  <a:srgbClr val="D9DDE5"/>
                </a:solidFill>
                <a:latin typeface="Calibri"/>
              </a:rPr>
              <a:t/>
            </a:r>
          </a:p>
          <a:p>
            <a:pPr algn="l"/>
            <a:r>
              <a:rPr sz="1400" b="0" i="0">
                <a:solidFill>
                  <a:srgbClr val="D9DDE5"/>
                </a:solidFill>
                <a:latin typeface="Calibri"/>
              </a:rPr>
              <a:t>It is also a security-sensitive codebase by design: Liquid exists so merchants can edit templates without running arbitrary code on Shopify's servers. That makes it the right place to talk about safe, reviewed, auditable change.</a:t>
            </a:r>
          </a:p>
        </p:txBody>
      </p:sp>
      <p:sp>
        <p:nvSpPr>
          <p:cNvPr id="7" name="TextBox 6"/>
          <p:cNvSpPr txBox="1"/>
          <p:nvPr/>
        </p:nvSpPr>
        <p:spPr>
          <a:xfrm>
            <a:off x="6583680" y="1828800"/>
            <a:ext cx="2468880" cy="731520"/>
          </a:xfrm>
          <a:prstGeom prst="rect">
            <a:avLst/>
          </a:prstGeom>
          <a:noFill/>
        </p:spPr>
        <p:txBody>
          <a:bodyPr wrap="square" anchor="t" lIns="45720" rIns="45720" tIns="27432" bIns="27432">
            <a:spAutoFit/>
          </a:bodyPr>
          <a:lstStyle/>
          <a:p>
            <a:pPr algn="ctr"/>
            <a:r>
              <a:rPr sz="3400" b="1" i="0">
                <a:solidFill>
                  <a:srgbClr val="95BF47"/>
                </a:solidFill>
                <a:latin typeface="Calibri"/>
              </a:rPr>
              <a:t>~7k</a:t>
            </a:r>
          </a:p>
        </p:txBody>
      </p:sp>
      <p:sp>
        <p:nvSpPr>
          <p:cNvPr id="8" name="TextBox 7"/>
          <p:cNvSpPr txBox="1"/>
          <p:nvPr/>
        </p:nvSpPr>
        <p:spPr>
          <a:xfrm>
            <a:off x="6583680" y="2606040"/>
            <a:ext cx="2468880" cy="731520"/>
          </a:xfrm>
          <a:prstGeom prst="rect">
            <a:avLst/>
          </a:prstGeom>
          <a:noFill/>
        </p:spPr>
        <p:txBody>
          <a:bodyPr wrap="square" anchor="t" lIns="45720" rIns="45720" tIns="27432" bIns="27432">
            <a:spAutoFit/>
          </a:bodyPr>
          <a:lstStyle/>
          <a:p>
            <a:pPr algn="ctr"/>
            <a:r>
              <a:rPr sz="1200" b="0" i="0">
                <a:solidFill>
                  <a:srgbClr val="D9DDE5"/>
                </a:solidFill>
                <a:latin typeface="Calibri"/>
              </a:rPr>
              <a:t>lines of Ruby, 60+ standard filters</a:t>
            </a:r>
          </a:p>
        </p:txBody>
      </p:sp>
      <p:sp>
        <p:nvSpPr>
          <p:cNvPr id="9" name="TextBox 8"/>
          <p:cNvSpPr txBox="1"/>
          <p:nvPr/>
        </p:nvSpPr>
        <p:spPr>
          <a:xfrm>
            <a:off x="9235440" y="1828800"/>
            <a:ext cx="2468880" cy="731520"/>
          </a:xfrm>
          <a:prstGeom prst="rect">
            <a:avLst/>
          </a:prstGeom>
          <a:noFill/>
        </p:spPr>
        <p:txBody>
          <a:bodyPr wrap="square" anchor="t" lIns="45720" rIns="45720" tIns="27432" bIns="27432">
            <a:spAutoFit/>
          </a:bodyPr>
          <a:lstStyle/>
          <a:p>
            <a:pPr algn="ctr"/>
            <a:r>
              <a:rPr sz="2600" b="1" i="0">
                <a:solidFill>
                  <a:srgbClr val="95BF47"/>
                </a:solidFill>
                <a:latin typeface="Calibri"/>
              </a:rPr>
              <a:t>Millions</a:t>
            </a:r>
          </a:p>
        </p:txBody>
      </p:sp>
      <p:sp>
        <p:nvSpPr>
          <p:cNvPr id="10" name="TextBox 9"/>
          <p:cNvSpPr txBox="1"/>
          <p:nvPr/>
        </p:nvSpPr>
        <p:spPr>
          <a:xfrm>
            <a:off x="9235440" y="2606040"/>
            <a:ext cx="2468880" cy="731520"/>
          </a:xfrm>
          <a:prstGeom prst="rect">
            <a:avLst/>
          </a:prstGeom>
          <a:noFill/>
        </p:spPr>
        <p:txBody>
          <a:bodyPr wrap="square" anchor="t" lIns="45720" rIns="45720" tIns="27432" bIns="27432">
            <a:spAutoFit/>
          </a:bodyPr>
          <a:lstStyle/>
          <a:p>
            <a:pPr algn="ctr"/>
            <a:r>
              <a:rPr sz="1200" b="0" i="0">
                <a:solidFill>
                  <a:srgbClr val="D9DDE5"/>
                </a:solidFill>
                <a:latin typeface="Calibri"/>
              </a:rPr>
              <a:t>of storefronts render Liquid</a:t>
            </a:r>
          </a:p>
        </p:txBody>
      </p:sp>
      <p:sp>
        <p:nvSpPr>
          <p:cNvPr id="11" name="TextBox 10"/>
          <p:cNvSpPr txBox="1"/>
          <p:nvPr/>
        </p:nvSpPr>
        <p:spPr>
          <a:xfrm>
            <a:off x="6583680" y="3749040"/>
            <a:ext cx="2468880" cy="731520"/>
          </a:xfrm>
          <a:prstGeom prst="rect">
            <a:avLst/>
          </a:prstGeom>
          <a:noFill/>
        </p:spPr>
        <p:txBody>
          <a:bodyPr wrap="square" anchor="t" lIns="45720" rIns="45720" tIns="27432" bIns="27432">
            <a:spAutoFit/>
          </a:bodyPr>
          <a:lstStyle/>
          <a:p>
            <a:pPr algn="ctr"/>
            <a:r>
              <a:rPr sz="3400" b="1" i="0">
                <a:solidFill>
                  <a:srgbClr val="95BF47"/>
                </a:solidFill>
                <a:latin typeface="Calibri"/>
              </a:rPr>
              <a:t>Active</a:t>
            </a:r>
          </a:p>
        </p:txBody>
      </p:sp>
      <p:sp>
        <p:nvSpPr>
          <p:cNvPr id="12" name="TextBox 11"/>
          <p:cNvSpPr txBox="1"/>
          <p:nvPr/>
        </p:nvSpPr>
        <p:spPr>
          <a:xfrm>
            <a:off x="6583680" y="4526280"/>
            <a:ext cx="2468880" cy="731520"/>
          </a:xfrm>
          <a:prstGeom prst="rect">
            <a:avLst/>
          </a:prstGeom>
          <a:noFill/>
        </p:spPr>
        <p:txBody>
          <a:bodyPr wrap="square" anchor="t" lIns="45720" rIns="45720" tIns="27432" bIns="27432">
            <a:spAutoFit/>
          </a:bodyPr>
          <a:lstStyle/>
          <a:p>
            <a:pPr algn="ctr"/>
            <a:r>
              <a:rPr sz="1200" b="0" i="0">
                <a:solidFill>
                  <a:srgbClr val="D9DDE5"/>
                </a:solidFill>
                <a:latin typeface="Calibri"/>
              </a:rPr>
              <a:t>CI on GitHub Actions, maintained by Shopify</a:t>
            </a:r>
          </a:p>
        </p:txBody>
      </p:sp>
      <p:sp>
        <p:nvSpPr>
          <p:cNvPr id="13" name="TextBox 12"/>
          <p:cNvSpPr txBox="1"/>
          <p:nvPr/>
        </p:nvSpPr>
        <p:spPr>
          <a:xfrm>
            <a:off x="9235440" y="3749040"/>
            <a:ext cx="2468880" cy="731520"/>
          </a:xfrm>
          <a:prstGeom prst="rect">
            <a:avLst/>
          </a:prstGeom>
          <a:noFill/>
        </p:spPr>
        <p:txBody>
          <a:bodyPr wrap="square" anchor="t" lIns="45720" rIns="45720" tIns="27432" bIns="27432">
            <a:spAutoFit/>
          </a:bodyPr>
          <a:lstStyle/>
          <a:p>
            <a:pPr algn="ctr"/>
            <a:r>
              <a:rPr sz="2600" b="1" i="0">
                <a:solidFill>
                  <a:srgbClr val="95BF47"/>
                </a:solidFill>
                <a:latin typeface="Calibri"/>
              </a:rPr>
              <a:t>Ruby 3.x</a:t>
            </a:r>
          </a:p>
        </p:txBody>
      </p:sp>
      <p:sp>
        <p:nvSpPr>
          <p:cNvPr id="14" name="TextBox 13"/>
          <p:cNvSpPr txBox="1"/>
          <p:nvPr/>
        </p:nvSpPr>
        <p:spPr>
          <a:xfrm>
            <a:off x="9235440" y="4526280"/>
            <a:ext cx="2468880" cy="731520"/>
          </a:xfrm>
          <a:prstGeom prst="rect">
            <a:avLst/>
          </a:prstGeom>
          <a:noFill/>
        </p:spPr>
        <p:txBody>
          <a:bodyPr wrap="square" anchor="t" lIns="45720" rIns="45720" tIns="27432" bIns="27432">
            <a:spAutoFit/>
          </a:bodyPr>
          <a:lstStyle/>
          <a:p>
            <a:pPr algn="ctr"/>
            <a:r>
              <a:rPr sz="1200" b="0" i="0">
                <a:solidFill>
                  <a:srgbClr val="D9DDE5"/>
                </a:solidFill>
                <a:latin typeface="Calibri"/>
              </a:rPr>
              <a:t>maintained by the Rails-heaviest company on earth</a:t>
            </a:r>
          </a:p>
        </p:txBody>
      </p:sp>
      <p:sp>
        <p:nvSpPr>
          <p:cNvPr id="15" name="TextBox 14"/>
          <p:cNvSpPr txBox="1"/>
          <p:nvPr/>
        </p:nvSpPr>
        <p:spPr>
          <a:xfrm>
            <a:off x="548640" y="5806440"/>
            <a:ext cx="10972800" cy="457200"/>
          </a:xfrm>
          <a:prstGeom prst="rect">
            <a:avLst/>
          </a:prstGeom>
          <a:noFill/>
        </p:spPr>
        <p:txBody>
          <a:bodyPr wrap="square" anchor="t" lIns="45720" rIns="45720" tIns="27432" bIns="27432">
            <a:spAutoFit/>
          </a:bodyPr>
          <a:lstStyle/>
          <a:p>
            <a:pPr algn="l"/>
            <a:r>
              <a:rPr sz="1200" b="0" i="1">
                <a:solidFill>
                  <a:srgbClr val="6B7280"/>
                </a:solidFill>
                <a:latin typeface="Calibri"/>
              </a:rPr>
              <a:t>github.com/Shopify/liquid  |  In the demo, Devin works on a fork with the same code, tests, and CI.</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75" cy="109728"/>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9144000" cy="365760"/>
          </a:xfrm>
          <a:prstGeom prst="rect">
            <a:avLst/>
          </a:prstGeom>
          <a:noFill/>
        </p:spPr>
        <p:txBody>
          <a:bodyPr wrap="square" anchor="t" lIns="45720" rIns="45720" tIns="27432" bIns="27432">
            <a:spAutoFit/>
          </a:bodyPr>
          <a:lstStyle/>
          <a:p>
            <a:pPr algn="l"/>
            <a:r>
              <a:rPr sz="1200" b="1" i="0">
                <a:solidFill>
                  <a:srgbClr val="3B82F6"/>
                </a:solidFill>
                <a:latin typeface="Calibri"/>
              </a:rPr>
              <a:t>DEMO  |  FIVE DEVIN SURFACES, ONE STORYLINE</a:t>
            </a:r>
          </a:p>
        </p:txBody>
      </p:sp>
      <p:sp>
        <p:nvSpPr>
          <p:cNvPr id="4" name="TextBox 3"/>
          <p:cNvSpPr txBox="1"/>
          <p:nvPr/>
        </p:nvSpPr>
        <p:spPr>
          <a:xfrm>
            <a:off x="548640" y="731520"/>
            <a:ext cx="11155680" cy="914400"/>
          </a:xfrm>
          <a:prstGeom prst="rect">
            <a:avLst/>
          </a:prstGeom>
          <a:noFill/>
        </p:spPr>
        <p:txBody>
          <a:bodyPr wrap="square" anchor="t" lIns="45720" rIns="45720" tIns="27432" bIns="27432">
            <a:spAutoFit/>
          </a:bodyPr>
          <a:lstStyle/>
          <a:p>
            <a:pPr algn="l"/>
            <a:r>
              <a:rPr sz="3000" b="1" i="0">
                <a:solidFill>
                  <a:srgbClr val="141B2D"/>
                </a:solidFill>
                <a:latin typeface="Calibri"/>
              </a:rPr>
              <a:t>Live demo: a day in the life of a Liquid maintainer</a:t>
            </a:r>
          </a:p>
        </p:txBody>
      </p:sp>
      <p:sp>
        <p:nvSpPr>
          <p:cNvPr id="5" name="TextBox 4"/>
          <p:cNvSpPr txBox="1"/>
          <p:nvPr/>
        </p:nvSpPr>
        <p:spPr>
          <a:xfrm>
            <a:off x="548640" y="6446520"/>
            <a:ext cx="7315200" cy="274320"/>
          </a:xfrm>
          <a:prstGeom prst="rect">
            <a:avLst/>
          </a:prstGeom>
          <a:noFill/>
        </p:spPr>
        <p:txBody>
          <a:bodyPr wrap="square" anchor="t" lIns="45720" rIns="45720" tIns="27432" bIns="27432">
            <a:spAutoFit/>
          </a:bodyPr>
          <a:lstStyle/>
          <a:p>
            <a:pPr algn="l"/>
            <a:r>
              <a:rPr sz="1000" b="0" i="0">
                <a:solidFill>
                  <a:srgbClr val="6B7280"/>
                </a:solidFill>
                <a:latin typeface="Calibri"/>
              </a:rPr>
              <a:t>Cognition  |  Devin</a:t>
            </a:r>
          </a:p>
        </p:txBody>
      </p:sp>
      <p:sp>
        <p:nvSpPr>
          <p:cNvPr id="6" name="Rounded Rectangle 5"/>
          <p:cNvSpPr/>
          <p:nvPr/>
        </p:nvSpPr>
        <p:spPr>
          <a:xfrm>
            <a:off x="548640" y="1691640"/>
            <a:ext cx="2103120" cy="4206240"/>
          </a:xfrm>
          <a:prstGeom prst="roundRect">
            <a:avLst/>
          </a:prstGeom>
          <a:solidFill>
            <a:srgbClr val="F4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1691640"/>
            <a:ext cx="2103120" cy="502920"/>
          </a:xfrm>
          <a:prstGeom prst="round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691640"/>
            <a:ext cx="1828800" cy="502920"/>
          </a:xfrm>
          <a:prstGeom prst="rect">
            <a:avLst/>
          </a:prstGeom>
          <a:noFill/>
        </p:spPr>
        <p:txBody>
          <a:bodyPr wrap="square" anchor="ctr" lIns="45720" rIns="45720" tIns="27432" bIns="27432">
            <a:spAutoFit/>
          </a:bodyPr>
          <a:lstStyle/>
          <a:p>
            <a:pPr algn="l"/>
            <a:r>
              <a:rPr sz="1500" b="1" i="0">
                <a:solidFill>
                  <a:srgbClr val="FFFFFF"/>
                </a:solidFill>
                <a:latin typeface="Calibri"/>
              </a:rPr>
              <a:t>1  Wiki</a:t>
            </a:r>
          </a:p>
        </p:txBody>
      </p:sp>
      <p:sp>
        <p:nvSpPr>
          <p:cNvPr id="9" name="TextBox 8"/>
          <p:cNvSpPr txBox="1"/>
          <p:nvPr/>
        </p:nvSpPr>
        <p:spPr>
          <a:xfrm>
            <a:off x="685800" y="2286000"/>
            <a:ext cx="1828800" cy="365760"/>
          </a:xfrm>
          <a:prstGeom prst="rect">
            <a:avLst/>
          </a:prstGeom>
          <a:noFill/>
        </p:spPr>
        <p:txBody>
          <a:bodyPr wrap="square" anchor="t" lIns="45720" rIns="45720" tIns="27432" bIns="27432">
            <a:spAutoFit/>
          </a:bodyPr>
          <a:lstStyle/>
          <a:p>
            <a:pPr algn="l"/>
            <a:r>
              <a:rPr sz="1300" b="1" i="0">
                <a:solidFill>
                  <a:srgbClr val="141B2D"/>
                </a:solidFill>
                <a:latin typeface="Calibri"/>
              </a:rPr>
              <a:t>Onboard in minutes</a:t>
            </a:r>
          </a:p>
        </p:txBody>
      </p:sp>
      <p:sp>
        <p:nvSpPr>
          <p:cNvPr id="10" name="TextBox 9"/>
          <p:cNvSpPr txBox="1"/>
          <p:nvPr/>
        </p:nvSpPr>
        <p:spPr>
          <a:xfrm>
            <a:off x="685800" y="2697480"/>
            <a:ext cx="1828800" cy="2377440"/>
          </a:xfrm>
          <a:prstGeom prst="rect">
            <a:avLst/>
          </a:prstGeom>
          <a:noFill/>
        </p:spPr>
        <p:txBody>
          <a:bodyPr wrap="square" anchor="t" lIns="45720" rIns="45720" tIns="27432" bIns="27432">
            <a:spAutoFit/>
          </a:bodyPr>
          <a:lstStyle/>
          <a:p>
            <a:pPr algn="l"/>
            <a:r>
              <a:rPr sz="1100" b="0" i="0">
                <a:solidFill>
                  <a:srgbClr val="141B2D"/>
                </a:solidFill>
                <a:latin typeface="Calibri"/>
              </a:rPr>
              <a:t>Open the Devin Wiki for Shopify/liquid: architecture, render pipeline, how filters are registered. Ask Devin: 'Where would I add a new standard filter and what tests must change?'</a:t>
            </a:r>
          </a:p>
        </p:txBody>
      </p:sp>
      <p:sp>
        <p:nvSpPr>
          <p:cNvPr id="11" name="TextBox 10"/>
          <p:cNvSpPr txBox="1"/>
          <p:nvPr/>
        </p:nvSpPr>
        <p:spPr>
          <a:xfrm>
            <a:off x="685800" y="5120640"/>
            <a:ext cx="1828800" cy="731520"/>
          </a:xfrm>
          <a:prstGeom prst="rect">
            <a:avLst/>
          </a:prstGeom>
          <a:noFill/>
        </p:spPr>
        <p:txBody>
          <a:bodyPr wrap="square" anchor="t" lIns="45720" rIns="45720" tIns="27432" bIns="27432">
            <a:spAutoFit/>
          </a:bodyPr>
          <a:lstStyle/>
          <a:p>
            <a:pPr algn="l"/>
            <a:r>
              <a:rPr sz="1000" b="1" i="0">
                <a:solidFill>
                  <a:srgbClr val="3B82F6"/>
                </a:solidFill>
                <a:latin typeface="Calibri"/>
              </a:rPr>
              <a:t>Ties to: Ecosystem &amp; onboarding</a:t>
            </a:r>
          </a:p>
        </p:txBody>
      </p:sp>
      <p:sp>
        <p:nvSpPr>
          <p:cNvPr id="12" name="Rounded Rectangle 11"/>
          <p:cNvSpPr/>
          <p:nvPr/>
        </p:nvSpPr>
        <p:spPr>
          <a:xfrm>
            <a:off x="2788920" y="1691640"/>
            <a:ext cx="2103120" cy="4206240"/>
          </a:xfrm>
          <a:prstGeom prst="roundRect">
            <a:avLst/>
          </a:prstGeom>
          <a:solidFill>
            <a:srgbClr val="F4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788920" y="1691640"/>
            <a:ext cx="2103120" cy="502920"/>
          </a:xfrm>
          <a:prstGeom prst="round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26080" y="1691640"/>
            <a:ext cx="1828800" cy="502920"/>
          </a:xfrm>
          <a:prstGeom prst="rect">
            <a:avLst/>
          </a:prstGeom>
          <a:noFill/>
        </p:spPr>
        <p:txBody>
          <a:bodyPr wrap="square" anchor="ctr" lIns="45720" rIns="45720" tIns="27432" bIns="27432">
            <a:spAutoFit/>
          </a:bodyPr>
          <a:lstStyle/>
          <a:p>
            <a:pPr algn="l"/>
            <a:r>
              <a:rPr sz="1500" b="1" i="0">
                <a:solidFill>
                  <a:srgbClr val="FFFFFF"/>
                </a:solidFill>
                <a:latin typeface="Calibri"/>
              </a:rPr>
              <a:t>2  Session</a:t>
            </a:r>
          </a:p>
        </p:txBody>
      </p:sp>
      <p:sp>
        <p:nvSpPr>
          <p:cNvPr id="15" name="TextBox 14"/>
          <p:cNvSpPr txBox="1"/>
          <p:nvPr/>
        </p:nvSpPr>
        <p:spPr>
          <a:xfrm>
            <a:off x="2926080" y="2286000"/>
            <a:ext cx="1828800" cy="365760"/>
          </a:xfrm>
          <a:prstGeom prst="rect">
            <a:avLst/>
          </a:prstGeom>
          <a:noFill/>
        </p:spPr>
        <p:txBody>
          <a:bodyPr wrap="square" anchor="t" lIns="45720" rIns="45720" tIns="27432" bIns="27432">
            <a:spAutoFit/>
          </a:bodyPr>
          <a:lstStyle/>
          <a:p>
            <a:pPr algn="l"/>
            <a:r>
              <a:rPr sz="1300" b="1" i="0">
                <a:solidFill>
                  <a:srgbClr val="141B2D"/>
                </a:solidFill>
                <a:latin typeface="Calibri"/>
              </a:rPr>
              <a:t>Ticket to PR</a:t>
            </a:r>
          </a:p>
        </p:txBody>
      </p:sp>
      <p:sp>
        <p:nvSpPr>
          <p:cNvPr id="16" name="TextBox 15"/>
          <p:cNvSpPr txBox="1"/>
          <p:nvPr/>
        </p:nvSpPr>
        <p:spPr>
          <a:xfrm>
            <a:off x="2926080" y="2697480"/>
            <a:ext cx="1828800" cy="2377440"/>
          </a:xfrm>
          <a:prstGeom prst="rect">
            <a:avLst/>
          </a:prstGeom>
          <a:noFill/>
        </p:spPr>
        <p:txBody>
          <a:bodyPr wrap="square" anchor="t" lIns="45720" rIns="45720" tIns="27432" bIns="27432">
            <a:spAutoFit/>
          </a:bodyPr>
          <a:lstStyle/>
          <a:p>
            <a:pPr algn="l"/>
            <a:r>
              <a:rPr sz="1100" b="0" i="0">
                <a:solidFill>
                  <a:srgbClr val="141B2D"/>
                </a:solidFill>
                <a:latin typeface="Calibri"/>
              </a:rPr>
              <a:t>From Slack: '@Devin add an `average` filter alongside `sum`, with tests, docs and a History.md entry.' Devin plans, edits, runs the suite, opens a PR.</a:t>
            </a:r>
          </a:p>
        </p:txBody>
      </p:sp>
      <p:sp>
        <p:nvSpPr>
          <p:cNvPr id="17" name="TextBox 16"/>
          <p:cNvSpPr txBox="1"/>
          <p:nvPr/>
        </p:nvSpPr>
        <p:spPr>
          <a:xfrm>
            <a:off x="2926080" y="5120640"/>
            <a:ext cx="1828800" cy="731520"/>
          </a:xfrm>
          <a:prstGeom prst="rect">
            <a:avLst/>
          </a:prstGeom>
          <a:noFill/>
        </p:spPr>
        <p:txBody>
          <a:bodyPr wrap="square" anchor="t" lIns="45720" rIns="45720" tIns="27432" bIns="27432">
            <a:spAutoFit/>
          </a:bodyPr>
          <a:lstStyle/>
          <a:p>
            <a:pPr algn="l"/>
            <a:r>
              <a:rPr sz="1000" b="1" i="0">
                <a:solidFill>
                  <a:srgbClr val="3B82F6"/>
                </a:solidFill>
                <a:latin typeface="Calibri"/>
              </a:rPr>
              <a:t>Ties to: AI mandate; storefront features</a:t>
            </a:r>
          </a:p>
        </p:txBody>
      </p:sp>
      <p:sp>
        <p:nvSpPr>
          <p:cNvPr id="18" name="Rounded Rectangle 17"/>
          <p:cNvSpPr/>
          <p:nvPr/>
        </p:nvSpPr>
        <p:spPr>
          <a:xfrm>
            <a:off x="5029200" y="1691640"/>
            <a:ext cx="2103120" cy="4206240"/>
          </a:xfrm>
          <a:prstGeom prst="roundRect">
            <a:avLst/>
          </a:prstGeom>
          <a:solidFill>
            <a:srgbClr val="F4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029200" y="1691640"/>
            <a:ext cx="2103120" cy="502920"/>
          </a:xfrm>
          <a:prstGeom prst="round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166360" y="1691640"/>
            <a:ext cx="1828800" cy="502920"/>
          </a:xfrm>
          <a:prstGeom prst="rect">
            <a:avLst/>
          </a:prstGeom>
          <a:noFill/>
        </p:spPr>
        <p:txBody>
          <a:bodyPr wrap="square" anchor="ctr" lIns="45720" rIns="45720" tIns="27432" bIns="27432">
            <a:spAutoFit/>
          </a:bodyPr>
          <a:lstStyle/>
          <a:p>
            <a:pPr algn="l"/>
            <a:r>
              <a:rPr sz="1500" b="1" i="0">
                <a:solidFill>
                  <a:srgbClr val="FFFFFF"/>
                </a:solidFill>
                <a:latin typeface="Calibri"/>
              </a:rPr>
              <a:t>3  Review</a:t>
            </a:r>
          </a:p>
        </p:txBody>
      </p:sp>
      <p:sp>
        <p:nvSpPr>
          <p:cNvPr id="21" name="TextBox 20"/>
          <p:cNvSpPr txBox="1"/>
          <p:nvPr/>
        </p:nvSpPr>
        <p:spPr>
          <a:xfrm>
            <a:off x="5166360" y="2286000"/>
            <a:ext cx="1828800" cy="365760"/>
          </a:xfrm>
          <a:prstGeom prst="rect">
            <a:avLst/>
          </a:prstGeom>
          <a:noFill/>
        </p:spPr>
        <p:txBody>
          <a:bodyPr wrap="square" anchor="t" lIns="45720" rIns="45720" tIns="27432" bIns="27432">
            <a:spAutoFit/>
          </a:bodyPr>
          <a:lstStyle/>
          <a:p>
            <a:pPr algn="l"/>
            <a:r>
              <a:rPr sz="1300" b="1" i="0">
                <a:solidFill>
                  <a:srgbClr val="141B2D"/>
                </a:solidFill>
                <a:latin typeface="Calibri"/>
              </a:rPr>
              <a:t>Quality gate</a:t>
            </a:r>
          </a:p>
        </p:txBody>
      </p:sp>
      <p:sp>
        <p:nvSpPr>
          <p:cNvPr id="22" name="TextBox 21"/>
          <p:cNvSpPr txBox="1"/>
          <p:nvPr/>
        </p:nvSpPr>
        <p:spPr>
          <a:xfrm>
            <a:off x="5166360" y="2697480"/>
            <a:ext cx="1828800" cy="2377440"/>
          </a:xfrm>
          <a:prstGeom prst="rect">
            <a:avLst/>
          </a:prstGeom>
          <a:noFill/>
        </p:spPr>
        <p:txBody>
          <a:bodyPr wrap="square" anchor="t" lIns="45720" rIns="45720" tIns="27432" bIns="27432">
            <a:spAutoFit/>
          </a:bodyPr>
          <a:lstStyle/>
          <a:p>
            <a:pPr algn="l"/>
            <a:r>
              <a:rPr sz="1100" b="0" i="0">
                <a:solidFill>
                  <a:srgbClr val="141B2D"/>
                </a:solidFill>
                <a:latin typeface="Calibri"/>
              </a:rPr>
              <a:t>Devin Review comments on the PR: correctness, edge cases (nil, non-numeric), style vs. repo conventions. Show a finding and the fix.</a:t>
            </a:r>
          </a:p>
        </p:txBody>
      </p:sp>
      <p:sp>
        <p:nvSpPr>
          <p:cNvPr id="23" name="TextBox 22"/>
          <p:cNvSpPr txBox="1"/>
          <p:nvPr/>
        </p:nvSpPr>
        <p:spPr>
          <a:xfrm>
            <a:off x="5166360" y="5120640"/>
            <a:ext cx="1828800" cy="731520"/>
          </a:xfrm>
          <a:prstGeom prst="rect">
            <a:avLst/>
          </a:prstGeom>
          <a:noFill/>
        </p:spPr>
        <p:txBody>
          <a:bodyPr wrap="square" anchor="t" lIns="45720" rIns="45720" tIns="27432" bIns="27432">
            <a:spAutoFit/>
          </a:bodyPr>
          <a:lstStyle/>
          <a:p>
            <a:pPr algn="l"/>
            <a:r>
              <a:rPr sz="1000" b="1" i="0">
                <a:solidFill>
                  <a:srgbClr val="3B82F6"/>
                </a:solidFill>
                <a:latin typeface="Calibri"/>
              </a:rPr>
              <a:t>Ties to: Storefront reliability</a:t>
            </a:r>
          </a:p>
        </p:txBody>
      </p:sp>
      <p:sp>
        <p:nvSpPr>
          <p:cNvPr id="24" name="Rounded Rectangle 23"/>
          <p:cNvSpPr/>
          <p:nvPr/>
        </p:nvSpPr>
        <p:spPr>
          <a:xfrm>
            <a:off x="7269480" y="1691640"/>
            <a:ext cx="2103120" cy="4206240"/>
          </a:xfrm>
          <a:prstGeom prst="roundRect">
            <a:avLst/>
          </a:prstGeom>
          <a:solidFill>
            <a:srgbClr val="F4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269480" y="1691640"/>
            <a:ext cx="2103120" cy="502920"/>
          </a:xfrm>
          <a:prstGeom prst="round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06640" y="1691640"/>
            <a:ext cx="1828800" cy="502920"/>
          </a:xfrm>
          <a:prstGeom prst="rect">
            <a:avLst/>
          </a:prstGeom>
          <a:noFill/>
        </p:spPr>
        <p:txBody>
          <a:bodyPr wrap="square" anchor="ctr" lIns="45720" rIns="45720" tIns="27432" bIns="27432">
            <a:spAutoFit/>
          </a:bodyPr>
          <a:lstStyle/>
          <a:p>
            <a:pPr algn="l"/>
            <a:r>
              <a:rPr sz="1500" b="1" i="0">
                <a:solidFill>
                  <a:srgbClr val="FFFFFF"/>
                </a:solidFill>
                <a:latin typeface="Calibri"/>
              </a:rPr>
              <a:t>4  Automation</a:t>
            </a:r>
          </a:p>
        </p:txBody>
      </p:sp>
      <p:sp>
        <p:nvSpPr>
          <p:cNvPr id="27" name="TextBox 26"/>
          <p:cNvSpPr txBox="1"/>
          <p:nvPr/>
        </p:nvSpPr>
        <p:spPr>
          <a:xfrm>
            <a:off x="7406640" y="2286000"/>
            <a:ext cx="1828800" cy="365760"/>
          </a:xfrm>
          <a:prstGeom prst="rect">
            <a:avLst/>
          </a:prstGeom>
          <a:noFill/>
        </p:spPr>
        <p:txBody>
          <a:bodyPr wrap="square" anchor="t" lIns="45720" rIns="45720" tIns="27432" bIns="27432">
            <a:spAutoFit/>
          </a:bodyPr>
          <a:lstStyle/>
          <a:p>
            <a:pPr algn="l"/>
            <a:r>
              <a:rPr sz="1300" b="1" i="0">
                <a:solidFill>
                  <a:srgbClr val="141B2D"/>
                </a:solidFill>
                <a:latin typeface="Calibri"/>
              </a:rPr>
              <a:t>Keep it modern</a:t>
            </a:r>
          </a:p>
        </p:txBody>
      </p:sp>
      <p:sp>
        <p:nvSpPr>
          <p:cNvPr id="28" name="TextBox 27"/>
          <p:cNvSpPr txBox="1"/>
          <p:nvPr/>
        </p:nvSpPr>
        <p:spPr>
          <a:xfrm>
            <a:off x="7406640" y="2697480"/>
            <a:ext cx="1828800" cy="2377440"/>
          </a:xfrm>
          <a:prstGeom prst="rect">
            <a:avLst/>
          </a:prstGeom>
          <a:noFill/>
        </p:spPr>
        <p:txBody>
          <a:bodyPr wrap="square" anchor="t" lIns="45720" rIns="45720" tIns="27432" bIns="27432">
            <a:spAutoFit/>
          </a:bodyPr>
          <a:lstStyle/>
          <a:p>
            <a:pPr algn="l"/>
            <a:r>
              <a:rPr sz="1100" b="0" i="0">
                <a:solidFill>
                  <a:srgbClr val="141B2D"/>
                </a:solidFill>
                <a:latin typeface="Calibri"/>
              </a:rPr>
              <a:t>Show a scheduled automation: weekly gem/CVE sweep on the repo that opens PRs and posts a Slack summary.</a:t>
            </a:r>
          </a:p>
        </p:txBody>
      </p:sp>
      <p:sp>
        <p:nvSpPr>
          <p:cNvPr id="29" name="TextBox 28"/>
          <p:cNvSpPr txBox="1"/>
          <p:nvPr/>
        </p:nvSpPr>
        <p:spPr>
          <a:xfrm>
            <a:off x="7406640" y="5120640"/>
            <a:ext cx="1828800" cy="731520"/>
          </a:xfrm>
          <a:prstGeom prst="rect">
            <a:avLst/>
          </a:prstGeom>
          <a:noFill/>
        </p:spPr>
        <p:txBody>
          <a:bodyPr wrap="square" anchor="t" lIns="45720" rIns="45720" tIns="27432" bIns="27432">
            <a:spAutoFit/>
          </a:bodyPr>
          <a:lstStyle/>
          <a:p>
            <a:pPr algn="l"/>
            <a:r>
              <a:rPr sz="1000" b="1" i="0">
                <a:solidFill>
                  <a:srgbClr val="3B82F6"/>
                </a:solidFill>
                <a:latin typeface="Calibri"/>
              </a:rPr>
              <a:t>Ties to: Rails monolith; security debt</a:t>
            </a:r>
          </a:p>
        </p:txBody>
      </p:sp>
      <p:sp>
        <p:nvSpPr>
          <p:cNvPr id="30" name="Rounded Rectangle 29"/>
          <p:cNvSpPr/>
          <p:nvPr/>
        </p:nvSpPr>
        <p:spPr>
          <a:xfrm>
            <a:off x="9509760" y="1691640"/>
            <a:ext cx="2103120" cy="4206240"/>
          </a:xfrm>
          <a:prstGeom prst="roundRect">
            <a:avLst/>
          </a:prstGeom>
          <a:solidFill>
            <a:srgbClr val="F4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9509760" y="1691640"/>
            <a:ext cx="2103120" cy="502920"/>
          </a:xfrm>
          <a:prstGeom prst="roundRect">
            <a:avLst/>
          </a:prstGeom>
          <a:solidFill>
            <a:srgbClr val="0B1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646920" y="1691640"/>
            <a:ext cx="1828800" cy="502920"/>
          </a:xfrm>
          <a:prstGeom prst="rect">
            <a:avLst/>
          </a:prstGeom>
          <a:noFill/>
        </p:spPr>
        <p:txBody>
          <a:bodyPr wrap="square" anchor="ctr" lIns="45720" rIns="45720" tIns="27432" bIns="27432">
            <a:spAutoFit/>
          </a:bodyPr>
          <a:lstStyle/>
          <a:p>
            <a:pPr algn="l"/>
            <a:r>
              <a:rPr sz="1500" b="1" i="0">
                <a:solidFill>
                  <a:srgbClr val="FFFFFF"/>
                </a:solidFill>
                <a:latin typeface="Calibri"/>
              </a:rPr>
              <a:t>5  Security</a:t>
            </a:r>
          </a:p>
        </p:txBody>
      </p:sp>
      <p:sp>
        <p:nvSpPr>
          <p:cNvPr id="33" name="TextBox 32"/>
          <p:cNvSpPr txBox="1"/>
          <p:nvPr/>
        </p:nvSpPr>
        <p:spPr>
          <a:xfrm>
            <a:off x="9646920" y="2286000"/>
            <a:ext cx="1828800" cy="365760"/>
          </a:xfrm>
          <a:prstGeom prst="rect">
            <a:avLst/>
          </a:prstGeom>
          <a:noFill/>
        </p:spPr>
        <p:txBody>
          <a:bodyPr wrap="square" anchor="t" lIns="45720" rIns="45720" tIns="27432" bIns="27432">
            <a:spAutoFit/>
          </a:bodyPr>
          <a:lstStyle/>
          <a:p>
            <a:pPr algn="l"/>
            <a:r>
              <a:rPr sz="1300" b="1" i="0">
                <a:solidFill>
                  <a:srgbClr val="141B2D"/>
                </a:solidFill>
                <a:latin typeface="Calibri"/>
              </a:rPr>
              <a:t>CISO view</a:t>
            </a:r>
          </a:p>
        </p:txBody>
      </p:sp>
      <p:sp>
        <p:nvSpPr>
          <p:cNvPr id="34" name="TextBox 33"/>
          <p:cNvSpPr txBox="1"/>
          <p:nvPr/>
        </p:nvSpPr>
        <p:spPr>
          <a:xfrm>
            <a:off x="9646920" y="2697480"/>
            <a:ext cx="1828800" cy="2377440"/>
          </a:xfrm>
          <a:prstGeom prst="rect">
            <a:avLst/>
          </a:prstGeom>
          <a:noFill/>
        </p:spPr>
        <p:txBody>
          <a:bodyPr wrap="square" anchor="t" lIns="45720" rIns="45720" tIns="27432" bIns="27432">
            <a:spAutoFit/>
          </a:bodyPr>
          <a:lstStyle/>
          <a:p>
            <a:pPr algn="l"/>
            <a:r>
              <a:rPr sz="1100" b="0" i="0">
                <a:solidFill>
                  <a:srgbClr val="141B2D"/>
                </a:solidFill>
                <a:latin typeface="Calibri"/>
              </a:rPr>
              <a:t>Settings tour: SSO, repo scoping, secrets vault, session audit log, VPC option, data-retention and no-training policy.</a:t>
            </a:r>
          </a:p>
        </p:txBody>
      </p:sp>
      <p:sp>
        <p:nvSpPr>
          <p:cNvPr id="35" name="TextBox 34"/>
          <p:cNvSpPr txBox="1"/>
          <p:nvPr/>
        </p:nvSpPr>
        <p:spPr>
          <a:xfrm>
            <a:off x="9646920" y="5120640"/>
            <a:ext cx="1828800" cy="731520"/>
          </a:xfrm>
          <a:prstGeom prst="rect">
            <a:avLst/>
          </a:prstGeom>
          <a:noFill/>
        </p:spPr>
        <p:txBody>
          <a:bodyPr wrap="square" anchor="t" lIns="45720" rIns="45720" tIns="27432" bIns="27432">
            <a:spAutoFit/>
          </a:bodyPr>
          <a:lstStyle/>
          <a:p>
            <a:pPr algn="l"/>
            <a:r>
              <a:rPr sz="1000" b="1" i="0">
                <a:solidFill>
                  <a:srgbClr val="3B82F6"/>
                </a:solidFill>
                <a:latin typeface="Calibri"/>
              </a:rPr>
              <a:t>Ties to: Merchant trust</a:t>
            </a:r>
          </a:p>
        </p:txBody>
      </p:sp>
      <p:sp>
        <p:nvSpPr>
          <p:cNvPr id="36" name="TextBox 35"/>
          <p:cNvSpPr txBox="1"/>
          <p:nvPr/>
        </p:nvSpPr>
        <p:spPr>
          <a:xfrm>
            <a:off x="548640" y="5989320"/>
            <a:ext cx="10972800" cy="365760"/>
          </a:xfrm>
          <a:prstGeom prst="rect">
            <a:avLst/>
          </a:prstGeom>
          <a:noFill/>
        </p:spPr>
        <p:txBody>
          <a:bodyPr wrap="square" anchor="t" lIns="45720" rIns="45720" tIns="27432" bIns="27432">
            <a:spAutoFit/>
          </a:bodyPr>
          <a:lstStyle/>
          <a:p>
            <a:pPr algn="l"/>
            <a:r>
              <a:rPr sz="1200" b="0" i="1">
                <a:solidFill>
                  <a:srgbClr val="6B7280"/>
                </a:solidFill>
                <a:latin typeface="Calibri"/>
              </a:rPr>
              <a:t>Integrations shown throughout: Slack trigger, GitHub PR, CI status. Backup: pre-recorded session if live run is slow.</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75" cy="109728"/>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9144000" cy="365760"/>
          </a:xfrm>
          <a:prstGeom prst="rect">
            <a:avLst/>
          </a:prstGeom>
          <a:noFill/>
        </p:spPr>
        <p:txBody>
          <a:bodyPr wrap="square" anchor="t" lIns="45720" rIns="45720" tIns="27432" bIns="27432">
            <a:spAutoFit/>
          </a:bodyPr>
          <a:lstStyle/>
          <a:p>
            <a:pPr algn="l"/>
            <a:r>
              <a:rPr sz="1200" b="1" i="0">
                <a:solidFill>
                  <a:srgbClr val="3B82F6"/>
                </a:solidFill>
                <a:latin typeface="Calibri"/>
              </a:rPr>
              <a:t>COMPETITIVE  |  COMPLEMENTARY TOOLS, DIFFERENT JOB</a:t>
            </a:r>
          </a:p>
        </p:txBody>
      </p:sp>
      <p:sp>
        <p:nvSpPr>
          <p:cNvPr id="4" name="TextBox 3"/>
          <p:cNvSpPr txBox="1"/>
          <p:nvPr/>
        </p:nvSpPr>
        <p:spPr>
          <a:xfrm>
            <a:off x="548640" y="731520"/>
            <a:ext cx="11155680" cy="914400"/>
          </a:xfrm>
          <a:prstGeom prst="rect">
            <a:avLst/>
          </a:prstGeom>
          <a:noFill/>
        </p:spPr>
        <p:txBody>
          <a:bodyPr wrap="square" anchor="t" lIns="45720" rIns="45720" tIns="27432" bIns="27432">
            <a:spAutoFit/>
          </a:bodyPr>
          <a:lstStyle/>
          <a:p>
            <a:pPr algn="l"/>
            <a:r>
              <a:rPr sz="3000" b="1" i="0">
                <a:solidFill>
                  <a:srgbClr val="141B2D"/>
                </a:solidFill>
                <a:latin typeface="Calibri"/>
              </a:rPr>
              <a:t>Devin vs. Copilot, Cursor, and Claude Code</a:t>
            </a:r>
          </a:p>
        </p:txBody>
      </p:sp>
      <p:sp>
        <p:nvSpPr>
          <p:cNvPr id="5" name="TextBox 4"/>
          <p:cNvSpPr txBox="1"/>
          <p:nvPr/>
        </p:nvSpPr>
        <p:spPr>
          <a:xfrm>
            <a:off x="548640" y="6446520"/>
            <a:ext cx="7315200" cy="274320"/>
          </a:xfrm>
          <a:prstGeom prst="rect">
            <a:avLst/>
          </a:prstGeom>
          <a:noFill/>
        </p:spPr>
        <p:txBody>
          <a:bodyPr wrap="square" anchor="t" lIns="45720" rIns="45720" tIns="27432" bIns="27432">
            <a:spAutoFit/>
          </a:bodyPr>
          <a:lstStyle/>
          <a:p>
            <a:pPr algn="l"/>
            <a:r>
              <a:rPr sz="1000" b="0" i="0">
                <a:solidFill>
                  <a:srgbClr val="6B7280"/>
                </a:solidFill>
                <a:latin typeface="Calibri"/>
              </a:rPr>
              <a:t>Cognition  |  Devin</a:t>
            </a:r>
          </a:p>
        </p:txBody>
      </p:sp>
      <p:sp>
        <p:nvSpPr>
          <p:cNvPr id="6" name="Rectangle 5"/>
          <p:cNvSpPr/>
          <p:nvPr/>
        </p:nvSpPr>
        <p:spPr>
          <a:xfrm>
            <a:off x="548640" y="1691640"/>
            <a:ext cx="11109960" cy="457200"/>
          </a:xfrm>
          <a:prstGeom prst="rect">
            <a:avLst/>
          </a:prstGeom>
          <a:solidFill>
            <a:srgbClr val="0B1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691640"/>
            <a:ext cx="2468880" cy="457200"/>
          </a:xfrm>
          <a:prstGeom prst="rect">
            <a:avLst/>
          </a:prstGeom>
          <a:noFill/>
        </p:spPr>
        <p:txBody>
          <a:bodyPr wrap="square" anchor="ctr" lIns="45720" rIns="45720" tIns="27432" bIns="27432">
            <a:spAutoFit/>
          </a:bodyPr>
          <a:lstStyle/>
          <a:p>
            <a:pPr algn="l"/>
            <a:r>
              <a:rPr sz="1300" b="1" i="0">
                <a:solidFill>
                  <a:srgbClr val="FFFFFF"/>
                </a:solidFill>
                <a:latin typeface="Calibri"/>
              </a:rPr>
              <a:t/>
            </a:r>
          </a:p>
        </p:txBody>
      </p:sp>
      <p:sp>
        <p:nvSpPr>
          <p:cNvPr id="8" name="TextBox 7"/>
          <p:cNvSpPr txBox="1"/>
          <p:nvPr/>
        </p:nvSpPr>
        <p:spPr>
          <a:xfrm>
            <a:off x="3108960" y="1691640"/>
            <a:ext cx="2148840" cy="457200"/>
          </a:xfrm>
          <a:prstGeom prst="rect">
            <a:avLst/>
          </a:prstGeom>
          <a:noFill/>
        </p:spPr>
        <p:txBody>
          <a:bodyPr wrap="square" anchor="ctr" lIns="45720" rIns="45720" tIns="27432" bIns="27432">
            <a:spAutoFit/>
          </a:bodyPr>
          <a:lstStyle/>
          <a:p>
            <a:pPr algn="ctr"/>
            <a:r>
              <a:rPr sz="1300" b="1" i="0">
                <a:solidFill>
                  <a:srgbClr val="FFFFFF"/>
                </a:solidFill>
                <a:latin typeface="Calibri"/>
              </a:rPr>
              <a:t>Copilot</a:t>
            </a:r>
          </a:p>
        </p:txBody>
      </p:sp>
      <p:sp>
        <p:nvSpPr>
          <p:cNvPr id="9" name="TextBox 8"/>
          <p:cNvSpPr txBox="1"/>
          <p:nvPr/>
        </p:nvSpPr>
        <p:spPr>
          <a:xfrm>
            <a:off x="5257800" y="1691640"/>
            <a:ext cx="2148840" cy="457200"/>
          </a:xfrm>
          <a:prstGeom prst="rect">
            <a:avLst/>
          </a:prstGeom>
          <a:noFill/>
        </p:spPr>
        <p:txBody>
          <a:bodyPr wrap="square" anchor="ctr" lIns="45720" rIns="45720" tIns="27432" bIns="27432">
            <a:spAutoFit/>
          </a:bodyPr>
          <a:lstStyle/>
          <a:p>
            <a:pPr algn="ctr"/>
            <a:r>
              <a:rPr sz="1300" b="1" i="0">
                <a:solidFill>
                  <a:srgbClr val="FFFFFF"/>
                </a:solidFill>
                <a:latin typeface="Calibri"/>
              </a:rPr>
              <a:t>Cursor</a:t>
            </a:r>
          </a:p>
        </p:txBody>
      </p:sp>
      <p:sp>
        <p:nvSpPr>
          <p:cNvPr id="10" name="TextBox 9"/>
          <p:cNvSpPr txBox="1"/>
          <p:nvPr/>
        </p:nvSpPr>
        <p:spPr>
          <a:xfrm>
            <a:off x="7406640" y="1691640"/>
            <a:ext cx="2148840" cy="457200"/>
          </a:xfrm>
          <a:prstGeom prst="rect">
            <a:avLst/>
          </a:prstGeom>
          <a:noFill/>
        </p:spPr>
        <p:txBody>
          <a:bodyPr wrap="square" anchor="ctr" lIns="45720" rIns="45720" tIns="27432" bIns="27432">
            <a:spAutoFit/>
          </a:bodyPr>
          <a:lstStyle/>
          <a:p>
            <a:pPr algn="ctr"/>
            <a:r>
              <a:rPr sz="1300" b="1" i="0">
                <a:solidFill>
                  <a:srgbClr val="FFFFFF"/>
                </a:solidFill>
                <a:latin typeface="Calibri"/>
              </a:rPr>
              <a:t>Claude Code</a:t>
            </a:r>
          </a:p>
        </p:txBody>
      </p:sp>
      <p:sp>
        <p:nvSpPr>
          <p:cNvPr id="11" name="TextBox 10"/>
          <p:cNvSpPr txBox="1"/>
          <p:nvPr/>
        </p:nvSpPr>
        <p:spPr>
          <a:xfrm>
            <a:off x="9555480" y="1691640"/>
            <a:ext cx="2194560" cy="457200"/>
          </a:xfrm>
          <a:prstGeom prst="rect">
            <a:avLst/>
          </a:prstGeom>
          <a:noFill/>
        </p:spPr>
        <p:txBody>
          <a:bodyPr wrap="square" anchor="ctr" lIns="45720" rIns="45720" tIns="27432" bIns="27432">
            <a:spAutoFit/>
          </a:bodyPr>
          <a:lstStyle/>
          <a:p>
            <a:pPr algn="ctr"/>
            <a:r>
              <a:rPr sz="1300" b="1" i="0">
                <a:solidFill>
                  <a:srgbClr val="22C55E"/>
                </a:solidFill>
                <a:latin typeface="Calibri"/>
              </a:rPr>
              <a:t>Devin</a:t>
            </a:r>
          </a:p>
        </p:txBody>
      </p:sp>
      <p:sp>
        <p:nvSpPr>
          <p:cNvPr id="12" name="Rectangle 11"/>
          <p:cNvSpPr/>
          <p:nvPr/>
        </p:nvSpPr>
        <p:spPr>
          <a:xfrm>
            <a:off x="548640" y="2148840"/>
            <a:ext cx="11109960" cy="548640"/>
          </a:xfrm>
          <a:prstGeom prst="rect">
            <a:avLst/>
          </a:prstGeom>
          <a:solidFill>
            <a:srgbClr val="F4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148840"/>
            <a:ext cx="2331720" cy="548640"/>
          </a:xfrm>
          <a:prstGeom prst="rect">
            <a:avLst/>
          </a:prstGeom>
          <a:noFill/>
        </p:spPr>
        <p:txBody>
          <a:bodyPr wrap="square" anchor="ctr" lIns="45720" rIns="45720" tIns="27432" bIns="27432">
            <a:spAutoFit/>
          </a:bodyPr>
          <a:lstStyle/>
          <a:p>
            <a:pPr algn="l"/>
            <a:r>
              <a:rPr sz="1050" b="1" i="0">
                <a:solidFill>
                  <a:srgbClr val="141B2D"/>
                </a:solidFill>
                <a:latin typeface="Calibri"/>
              </a:rPr>
              <a:t>Where it runs</a:t>
            </a:r>
          </a:p>
        </p:txBody>
      </p:sp>
      <p:sp>
        <p:nvSpPr>
          <p:cNvPr id="14" name="TextBox 13"/>
          <p:cNvSpPr txBox="1"/>
          <p:nvPr/>
        </p:nvSpPr>
        <p:spPr>
          <a:xfrm>
            <a:off x="3108960" y="2148840"/>
            <a:ext cx="2011680" cy="548640"/>
          </a:xfrm>
          <a:prstGeom prst="rect">
            <a:avLst/>
          </a:prstGeom>
          <a:noFill/>
        </p:spPr>
        <p:txBody>
          <a:bodyPr wrap="square" anchor="ctr" lIns="45720" rIns="45720" tIns="27432" bIns="27432">
            <a:spAutoFit/>
          </a:bodyPr>
          <a:lstStyle/>
          <a:p>
            <a:pPr algn="l"/>
            <a:r>
              <a:rPr sz="1050" b="0" i="0">
                <a:solidFill>
                  <a:srgbClr val="141B2D"/>
                </a:solidFill>
                <a:latin typeface="Calibri"/>
              </a:rPr>
              <a:t>In the IDE</a:t>
            </a:r>
          </a:p>
        </p:txBody>
      </p:sp>
      <p:sp>
        <p:nvSpPr>
          <p:cNvPr id="15" name="TextBox 14"/>
          <p:cNvSpPr txBox="1"/>
          <p:nvPr/>
        </p:nvSpPr>
        <p:spPr>
          <a:xfrm>
            <a:off x="5257800" y="2148840"/>
            <a:ext cx="2011680" cy="548640"/>
          </a:xfrm>
          <a:prstGeom prst="rect">
            <a:avLst/>
          </a:prstGeom>
          <a:noFill/>
        </p:spPr>
        <p:txBody>
          <a:bodyPr wrap="square" anchor="ctr" lIns="45720" rIns="45720" tIns="27432" bIns="27432">
            <a:spAutoFit/>
          </a:bodyPr>
          <a:lstStyle/>
          <a:p>
            <a:pPr algn="l"/>
            <a:r>
              <a:rPr sz="1050" b="0" i="0">
                <a:solidFill>
                  <a:srgbClr val="141B2D"/>
                </a:solidFill>
                <a:latin typeface="Calibri"/>
              </a:rPr>
              <a:t>In the IDE (fork of VS Code)</a:t>
            </a:r>
          </a:p>
        </p:txBody>
      </p:sp>
      <p:sp>
        <p:nvSpPr>
          <p:cNvPr id="16" name="TextBox 15"/>
          <p:cNvSpPr txBox="1"/>
          <p:nvPr/>
        </p:nvSpPr>
        <p:spPr>
          <a:xfrm>
            <a:off x="7406640" y="2148840"/>
            <a:ext cx="2011680" cy="548640"/>
          </a:xfrm>
          <a:prstGeom prst="rect">
            <a:avLst/>
          </a:prstGeom>
          <a:noFill/>
        </p:spPr>
        <p:txBody>
          <a:bodyPr wrap="square" anchor="ctr" lIns="45720" rIns="45720" tIns="27432" bIns="27432">
            <a:spAutoFit/>
          </a:bodyPr>
          <a:lstStyle/>
          <a:p>
            <a:pPr algn="l"/>
            <a:r>
              <a:rPr sz="1050" b="0" i="0">
                <a:solidFill>
                  <a:srgbClr val="141B2D"/>
                </a:solidFill>
                <a:latin typeface="Calibri"/>
              </a:rPr>
              <a:t>In your terminal</a:t>
            </a:r>
          </a:p>
        </p:txBody>
      </p:sp>
      <p:sp>
        <p:nvSpPr>
          <p:cNvPr id="17" name="TextBox 16"/>
          <p:cNvSpPr txBox="1"/>
          <p:nvPr/>
        </p:nvSpPr>
        <p:spPr>
          <a:xfrm>
            <a:off x="9555480" y="2148840"/>
            <a:ext cx="2057400" cy="548640"/>
          </a:xfrm>
          <a:prstGeom prst="rect">
            <a:avLst/>
          </a:prstGeom>
          <a:noFill/>
        </p:spPr>
        <p:txBody>
          <a:bodyPr wrap="square" anchor="ctr" lIns="45720" rIns="45720" tIns="27432" bIns="27432">
            <a:spAutoFit/>
          </a:bodyPr>
          <a:lstStyle/>
          <a:p>
            <a:pPr algn="l"/>
            <a:r>
              <a:rPr sz="1050" b="0" i="0">
                <a:solidFill>
                  <a:srgbClr val="3B82F6"/>
                </a:solidFill>
                <a:latin typeface="Calibri"/>
              </a:rPr>
              <a:t>Its own cloud VM per task; parallel</a:t>
            </a:r>
          </a:p>
        </p:txBody>
      </p:sp>
      <p:sp>
        <p:nvSpPr>
          <p:cNvPr id="18" name="TextBox 17"/>
          <p:cNvSpPr txBox="1"/>
          <p:nvPr/>
        </p:nvSpPr>
        <p:spPr>
          <a:xfrm>
            <a:off x="640080" y="2697480"/>
            <a:ext cx="2331720" cy="548640"/>
          </a:xfrm>
          <a:prstGeom prst="rect">
            <a:avLst/>
          </a:prstGeom>
          <a:noFill/>
        </p:spPr>
        <p:txBody>
          <a:bodyPr wrap="square" anchor="ctr" lIns="45720" rIns="45720" tIns="27432" bIns="27432">
            <a:spAutoFit/>
          </a:bodyPr>
          <a:lstStyle/>
          <a:p>
            <a:pPr algn="l"/>
            <a:r>
              <a:rPr sz="1050" b="1" i="0">
                <a:solidFill>
                  <a:srgbClr val="141B2D"/>
                </a:solidFill>
                <a:latin typeface="Calibri"/>
              </a:rPr>
              <a:t>Who drives</a:t>
            </a:r>
          </a:p>
        </p:txBody>
      </p:sp>
      <p:sp>
        <p:nvSpPr>
          <p:cNvPr id="19" name="TextBox 18"/>
          <p:cNvSpPr txBox="1"/>
          <p:nvPr/>
        </p:nvSpPr>
        <p:spPr>
          <a:xfrm>
            <a:off x="3108960" y="2697480"/>
            <a:ext cx="2011680" cy="548640"/>
          </a:xfrm>
          <a:prstGeom prst="rect">
            <a:avLst/>
          </a:prstGeom>
          <a:noFill/>
        </p:spPr>
        <p:txBody>
          <a:bodyPr wrap="square" anchor="ctr" lIns="45720" rIns="45720" tIns="27432" bIns="27432">
            <a:spAutoFit/>
          </a:bodyPr>
          <a:lstStyle/>
          <a:p>
            <a:pPr algn="l"/>
            <a:r>
              <a:rPr sz="1050" b="0" i="0">
                <a:solidFill>
                  <a:srgbClr val="141B2D"/>
                </a:solidFill>
                <a:latin typeface="Calibri"/>
              </a:rPr>
              <a:t>Developer, keystroke by keystroke</a:t>
            </a:r>
          </a:p>
        </p:txBody>
      </p:sp>
      <p:sp>
        <p:nvSpPr>
          <p:cNvPr id="20" name="TextBox 19"/>
          <p:cNvSpPr txBox="1"/>
          <p:nvPr/>
        </p:nvSpPr>
        <p:spPr>
          <a:xfrm>
            <a:off x="5257800" y="2697480"/>
            <a:ext cx="2011680" cy="548640"/>
          </a:xfrm>
          <a:prstGeom prst="rect">
            <a:avLst/>
          </a:prstGeom>
          <a:noFill/>
        </p:spPr>
        <p:txBody>
          <a:bodyPr wrap="square" anchor="ctr" lIns="45720" rIns="45720" tIns="27432" bIns="27432">
            <a:spAutoFit/>
          </a:bodyPr>
          <a:lstStyle/>
          <a:p>
            <a:pPr algn="l"/>
            <a:r>
              <a:rPr sz="1050" b="0" i="0">
                <a:solidFill>
                  <a:srgbClr val="141B2D"/>
                </a:solidFill>
                <a:latin typeface="Calibri"/>
              </a:rPr>
              <a:t>Developer, prompt by prompt</a:t>
            </a:r>
          </a:p>
        </p:txBody>
      </p:sp>
      <p:sp>
        <p:nvSpPr>
          <p:cNvPr id="21" name="TextBox 20"/>
          <p:cNvSpPr txBox="1"/>
          <p:nvPr/>
        </p:nvSpPr>
        <p:spPr>
          <a:xfrm>
            <a:off x="7406640" y="2697480"/>
            <a:ext cx="2011680" cy="548640"/>
          </a:xfrm>
          <a:prstGeom prst="rect">
            <a:avLst/>
          </a:prstGeom>
          <a:noFill/>
        </p:spPr>
        <p:txBody>
          <a:bodyPr wrap="square" anchor="ctr" lIns="45720" rIns="45720" tIns="27432" bIns="27432">
            <a:spAutoFit/>
          </a:bodyPr>
          <a:lstStyle/>
          <a:p>
            <a:pPr algn="l"/>
            <a:r>
              <a:rPr sz="1050" b="0" i="0">
                <a:solidFill>
                  <a:srgbClr val="141B2D"/>
                </a:solidFill>
                <a:latin typeface="Calibri"/>
              </a:rPr>
              <a:t>Developer, in a live terminal</a:t>
            </a:r>
          </a:p>
        </p:txBody>
      </p:sp>
      <p:sp>
        <p:nvSpPr>
          <p:cNvPr id="22" name="TextBox 21"/>
          <p:cNvSpPr txBox="1"/>
          <p:nvPr/>
        </p:nvSpPr>
        <p:spPr>
          <a:xfrm>
            <a:off x="9555480" y="2697480"/>
            <a:ext cx="2057400" cy="548640"/>
          </a:xfrm>
          <a:prstGeom prst="rect">
            <a:avLst/>
          </a:prstGeom>
          <a:noFill/>
        </p:spPr>
        <p:txBody>
          <a:bodyPr wrap="square" anchor="ctr" lIns="45720" rIns="45720" tIns="27432" bIns="27432">
            <a:spAutoFit/>
          </a:bodyPr>
          <a:lstStyle/>
          <a:p>
            <a:pPr algn="l"/>
            <a:r>
              <a:rPr sz="1050" b="0" i="0">
                <a:solidFill>
                  <a:srgbClr val="3B82F6"/>
                </a:solidFill>
                <a:latin typeface="Calibri"/>
              </a:rPr>
              <a:t>Devin, end to end; humans review</a:t>
            </a:r>
          </a:p>
        </p:txBody>
      </p:sp>
      <p:sp>
        <p:nvSpPr>
          <p:cNvPr id="23" name="Rectangle 22"/>
          <p:cNvSpPr/>
          <p:nvPr/>
        </p:nvSpPr>
        <p:spPr>
          <a:xfrm>
            <a:off x="548640" y="3246120"/>
            <a:ext cx="11109960" cy="548640"/>
          </a:xfrm>
          <a:prstGeom prst="rect">
            <a:avLst/>
          </a:prstGeom>
          <a:solidFill>
            <a:srgbClr val="F4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3246120"/>
            <a:ext cx="2331720" cy="548640"/>
          </a:xfrm>
          <a:prstGeom prst="rect">
            <a:avLst/>
          </a:prstGeom>
          <a:noFill/>
        </p:spPr>
        <p:txBody>
          <a:bodyPr wrap="square" anchor="ctr" lIns="45720" rIns="45720" tIns="27432" bIns="27432">
            <a:spAutoFit/>
          </a:bodyPr>
          <a:lstStyle/>
          <a:p>
            <a:pPr algn="l"/>
            <a:r>
              <a:rPr sz="1050" b="1" i="0">
                <a:solidFill>
                  <a:srgbClr val="141B2D"/>
                </a:solidFill>
                <a:latin typeface="Calibri"/>
              </a:rPr>
              <a:t>Unit of work</a:t>
            </a:r>
          </a:p>
        </p:txBody>
      </p:sp>
      <p:sp>
        <p:nvSpPr>
          <p:cNvPr id="25" name="TextBox 24"/>
          <p:cNvSpPr txBox="1"/>
          <p:nvPr/>
        </p:nvSpPr>
        <p:spPr>
          <a:xfrm>
            <a:off x="3108960" y="3246120"/>
            <a:ext cx="2011680" cy="548640"/>
          </a:xfrm>
          <a:prstGeom prst="rect">
            <a:avLst/>
          </a:prstGeom>
          <a:noFill/>
        </p:spPr>
        <p:txBody>
          <a:bodyPr wrap="square" anchor="ctr" lIns="45720" rIns="45720" tIns="27432" bIns="27432">
            <a:spAutoFit/>
          </a:bodyPr>
          <a:lstStyle/>
          <a:p>
            <a:pPr algn="l"/>
            <a:r>
              <a:rPr sz="1050" b="0" i="0">
                <a:solidFill>
                  <a:srgbClr val="141B2D"/>
                </a:solidFill>
                <a:latin typeface="Calibri"/>
              </a:rPr>
              <a:t>Line / function</a:t>
            </a:r>
          </a:p>
        </p:txBody>
      </p:sp>
      <p:sp>
        <p:nvSpPr>
          <p:cNvPr id="26" name="TextBox 25"/>
          <p:cNvSpPr txBox="1"/>
          <p:nvPr/>
        </p:nvSpPr>
        <p:spPr>
          <a:xfrm>
            <a:off x="5257800" y="3246120"/>
            <a:ext cx="2011680" cy="548640"/>
          </a:xfrm>
          <a:prstGeom prst="rect">
            <a:avLst/>
          </a:prstGeom>
          <a:noFill/>
        </p:spPr>
        <p:txBody>
          <a:bodyPr wrap="square" anchor="ctr" lIns="45720" rIns="45720" tIns="27432" bIns="27432">
            <a:spAutoFit/>
          </a:bodyPr>
          <a:lstStyle/>
          <a:p>
            <a:pPr algn="l"/>
            <a:r>
              <a:rPr sz="1050" b="0" i="0">
                <a:solidFill>
                  <a:srgbClr val="141B2D"/>
                </a:solidFill>
                <a:latin typeface="Calibri"/>
              </a:rPr>
              <a:t>File / multi-file edit</a:t>
            </a:r>
          </a:p>
        </p:txBody>
      </p:sp>
      <p:sp>
        <p:nvSpPr>
          <p:cNvPr id="27" name="TextBox 26"/>
          <p:cNvSpPr txBox="1"/>
          <p:nvPr/>
        </p:nvSpPr>
        <p:spPr>
          <a:xfrm>
            <a:off x="7406640" y="3246120"/>
            <a:ext cx="2011680" cy="548640"/>
          </a:xfrm>
          <a:prstGeom prst="rect">
            <a:avLst/>
          </a:prstGeom>
          <a:noFill/>
        </p:spPr>
        <p:txBody>
          <a:bodyPr wrap="square" anchor="ctr" lIns="45720" rIns="45720" tIns="27432" bIns="27432">
            <a:spAutoFit/>
          </a:bodyPr>
          <a:lstStyle/>
          <a:p>
            <a:pPr algn="l"/>
            <a:r>
              <a:rPr sz="1050" b="0" i="0">
                <a:solidFill>
                  <a:srgbClr val="141B2D"/>
                </a:solidFill>
                <a:latin typeface="Calibri"/>
              </a:rPr>
              <a:t>Task in a local session</a:t>
            </a:r>
          </a:p>
        </p:txBody>
      </p:sp>
      <p:sp>
        <p:nvSpPr>
          <p:cNvPr id="28" name="TextBox 27"/>
          <p:cNvSpPr txBox="1"/>
          <p:nvPr/>
        </p:nvSpPr>
        <p:spPr>
          <a:xfrm>
            <a:off x="9555480" y="3246120"/>
            <a:ext cx="2057400" cy="548640"/>
          </a:xfrm>
          <a:prstGeom prst="rect">
            <a:avLst/>
          </a:prstGeom>
          <a:noFill/>
        </p:spPr>
        <p:txBody>
          <a:bodyPr wrap="square" anchor="ctr" lIns="45720" rIns="45720" tIns="27432" bIns="27432">
            <a:spAutoFit/>
          </a:bodyPr>
          <a:lstStyle/>
          <a:p>
            <a:pPr algn="l"/>
            <a:r>
              <a:rPr sz="1050" b="0" i="0">
                <a:solidFill>
                  <a:srgbClr val="3B82F6"/>
                </a:solidFill>
                <a:latin typeface="Calibri"/>
              </a:rPr>
              <a:t>Ticket to merged PR, with CI</a:t>
            </a:r>
          </a:p>
        </p:txBody>
      </p:sp>
      <p:sp>
        <p:nvSpPr>
          <p:cNvPr id="29" name="TextBox 28"/>
          <p:cNvSpPr txBox="1"/>
          <p:nvPr/>
        </p:nvSpPr>
        <p:spPr>
          <a:xfrm>
            <a:off x="640080" y="3794760"/>
            <a:ext cx="2331720" cy="548640"/>
          </a:xfrm>
          <a:prstGeom prst="rect">
            <a:avLst/>
          </a:prstGeom>
          <a:noFill/>
        </p:spPr>
        <p:txBody>
          <a:bodyPr wrap="square" anchor="ctr" lIns="45720" rIns="45720" tIns="27432" bIns="27432">
            <a:spAutoFit/>
          </a:bodyPr>
          <a:lstStyle/>
          <a:p>
            <a:pPr algn="l"/>
            <a:r>
              <a:rPr sz="1050" b="1" i="0">
                <a:solidFill>
                  <a:srgbClr val="141B2D"/>
                </a:solidFill>
                <a:latin typeface="Calibri"/>
              </a:rPr>
              <a:t>Runs tests, fixes CI, drives a browser</a:t>
            </a:r>
          </a:p>
        </p:txBody>
      </p:sp>
      <p:sp>
        <p:nvSpPr>
          <p:cNvPr id="30" name="TextBox 29"/>
          <p:cNvSpPr txBox="1"/>
          <p:nvPr/>
        </p:nvSpPr>
        <p:spPr>
          <a:xfrm>
            <a:off x="3108960" y="3794760"/>
            <a:ext cx="2011680" cy="548640"/>
          </a:xfrm>
          <a:prstGeom prst="rect">
            <a:avLst/>
          </a:prstGeom>
          <a:noFill/>
        </p:spPr>
        <p:txBody>
          <a:bodyPr wrap="square" anchor="ctr" lIns="45720" rIns="45720" tIns="27432" bIns="27432">
            <a:spAutoFit/>
          </a:bodyPr>
          <a:lstStyle/>
          <a:p>
            <a:pPr algn="l"/>
            <a:r>
              <a:rPr sz="1050" b="0" i="0">
                <a:solidFill>
                  <a:srgbClr val="141B2D"/>
                </a:solidFill>
                <a:latin typeface="Calibri"/>
              </a:rPr>
              <a:t>No</a:t>
            </a:r>
          </a:p>
        </p:txBody>
      </p:sp>
      <p:sp>
        <p:nvSpPr>
          <p:cNvPr id="31" name="TextBox 30"/>
          <p:cNvSpPr txBox="1"/>
          <p:nvPr/>
        </p:nvSpPr>
        <p:spPr>
          <a:xfrm>
            <a:off x="5257800" y="3794760"/>
            <a:ext cx="2011680" cy="548640"/>
          </a:xfrm>
          <a:prstGeom prst="rect">
            <a:avLst/>
          </a:prstGeom>
          <a:noFill/>
        </p:spPr>
        <p:txBody>
          <a:bodyPr wrap="square" anchor="ctr" lIns="45720" rIns="45720" tIns="27432" bIns="27432">
            <a:spAutoFit/>
          </a:bodyPr>
          <a:lstStyle/>
          <a:p>
            <a:pPr algn="l"/>
            <a:r>
              <a:rPr sz="1050" b="0" i="0">
                <a:solidFill>
                  <a:srgbClr val="141B2D"/>
                </a:solidFill>
                <a:latin typeface="Calibri"/>
              </a:rPr>
              <a:t>Partly (agent mode)</a:t>
            </a:r>
          </a:p>
        </p:txBody>
      </p:sp>
      <p:sp>
        <p:nvSpPr>
          <p:cNvPr id="32" name="TextBox 31"/>
          <p:cNvSpPr txBox="1"/>
          <p:nvPr/>
        </p:nvSpPr>
        <p:spPr>
          <a:xfrm>
            <a:off x="7406640" y="3794760"/>
            <a:ext cx="2011680" cy="548640"/>
          </a:xfrm>
          <a:prstGeom prst="rect">
            <a:avLst/>
          </a:prstGeom>
          <a:noFill/>
        </p:spPr>
        <p:txBody>
          <a:bodyPr wrap="square" anchor="ctr" lIns="45720" rIns="45720" tIns="27432" bIns="27432">
            <a:spAutoFit/>
          </a:bodyPr>
          <a:lstStyle/>
          <a:p>
            <a:pPr algn="l"/>
            <a:r>
              <a:rPr sz="1050" b="0" i="0">
                <a:solidFill>
                  <a:srgbClr val="141B2D"/>
                </a:solidFill>
                <a:latin typeface="Calibri"/>
              </a:rPr>
              <a:t>Yes, on the dev's machine</a:t>
            </a:r>
          </a:p>
        </p:txBody>
      </p:sp>
      <p:sp>
        <p:nvSpPr>
          <p:cNvPr id="33" name="TextBox 32"/>
          <p:cNvSpPr txBox="1"/>
          <p:nvPr/>
        </p:nvSpPr>
        <p:spPr>
          <a:xfrm>
            <a:off x="9555480" y="3794760"/>
            <a:ext cx="2057400" cy="548640"/>
          </a:xfrm>
          <a:prstGeom prst="rect">
            <a:avLst/>
          </a:prstGeom>
          <a:noFill/>
        </p:spPr>
        <p:txBody>
          <a:bodyPr wrap="square" anchor="ctr" lIns="45720" rIns="45720" tIns="27432" bIns="27432">
            <a:spAutoFit/>
          </a:bodyPr>
          <a:lstStyle/>
          <a:p>
            <a:pPr algn="l"/>
            <a:r>
              <a:rPr sz="1050" b="0" i="0">
                <a:solidFill>
                  <a:srgbClr val="3B82F6"/>
                </a:solidFill>
                <a:latin typeface="Calibri"/>
              </a:rPr>
              <a:t>Yes, in an isolated sandbox with full audit log</a:t>
            </a:r>
          </a:p>
        </p:txBody>
      </p:sp>
      <p:sp>
        <p:nvSpPr>
          <p:cNvPr id="34" name="Rectangle 33"/>
          <p:cNvSpPr/>
          <p:nvPr/>
        </p:nvSpPr>
        <p:spPr>
          <a:xfrm>
            <a:off x="548640" y="4343400"/>
            <a:ext cx="11109960" cy="548640"/>
          </a:xfrm>
          <a:prstGeom prst="rect">
            <a:avLst/>
          </a:prstGeom>
          <a:solidFill>
            <a:srgbClr val="F4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0080" y="4343400"/>
            <a:ext cx="2331720" cy="548640"/>
          </a:xfrm>
          <a:prstGeom prst="rect">
            <a:avLst/>
          </a:prstGeom>
          <a:noFill/>
        </p:spPr>
        <p:txBody>
          <a:bodyPr wrap="square" anchor="ctr" lIns="45720" rIns="45720" tIns="27432" bIns="27432">
            <a:spAutoFit/>
          </a:bodyPr>
          <a:lstStyle/>
          <a:p>
            <a:pPr algn="l"/>
            <a:r>
              <a:rPr sz="1050" b="1" i="0">
                <a:solidFill>
                  <a:srgbClr val="141B2D"/>
                </a:solidFill>
                <a:latin typeface="Calibri"/>
              </a:rPr>
              <a:t>Org knowledge</a:t>
            </a:r>
          </a:p>
        </p:txBody>
      </p:sp>
      <p:sp>
        <p:nvSpPr>
          <p:cNvPr id="36" name="TextBox 35"/>
          <p:cNvSpPr txBox="1"/>
          <p:nvPr/>
        </p:nvSpPr>
        <p:spPr>
          <a:xfrm>
            <a:off x="3108960" y="4343400"/>
            <a:ext cx="2011680" cy="548640"/>
          </a:xfrm>
          <a:prstGeom prst="rect">
            <a:avLst/>
          </a:prstGeom>
          <a:noFill/>
        </p:spPr>
        <p:txBody>
          <a:bodyPr wrap="square" anchor="ctr" lIns="45720" rIns="45720" tIns="27432" bIns="27432">
            <a:spAutoFit/>
          </a:bodyPr>
          <a:lstStyle/>
          <a:p>
            <a:pPr algn="l"/>
            <a:r>
              <a:rPr sz="1050" b="0" i="0">
                <a:solidFill>
                  <a:srgbClr val="141B2D"/>
                </a:solidFill>
                <a:latin typeface="Calibri"/>
              </a:rPr>
              <a:t>Per-user context</a:t>
            </a:r>
          </a:p>
        </p:txBody>
      </p:sp>
      <p:sp>
        <p:nvSpPr>
          <p:cNvPr id="37" name="TextBox 36"/>
          <p:cNvSpPr txBox="1"/>
          <p:nvPr/>
        </p:nvSpPr>
        <p:spPr>
          <a:xfrm>
            <a:off x="5257800" y="4343400"/>
            <a:ext cx="2011680" cy="548640"/>
          </a:xfrm>
          <a:prstGeom prst="rect">
            <a:avLst/>
          </a:prstGeom>
          <a:noFill/>
        </p:spPr>
        <p:txBody>
          <a:bodyPr wrap="square" anchor="ctr" lIns="45720" rIns="45720" tIns="27432" bIns="27432">
            <a:spAutoFit/>
          </a:bodyPr>
          <a:lstStyle/>
          <a:p>
            <a:pPr algn="l"/>
            <a:r>
              <a:rPr sz="1050" b="0" i="0">
                <a:solidFill>
                  <a:srgbClr val="141B2D"/>
                </a:solidFill>
                <a:latin typeface="Calibri"/>
              </a:rPr>
              <a:t>Per-repo rules</a:t>
            </a:r>
          </a:p>
        </p:txBody>
      </p:sp>
      <p:sp>
        <p:nvSpPr>
          <p:cNvPr id="38" name="TextBox 37"/>
          <p:cNvSpPr txBox="1"/>
          <p:nvPr/>
        </p:nvSpPr>
        <p:spPr>
          <a:xfrm>
            <a:off x="7406640" y="4343400"/>
            <a:ext cx="2011680" cy="548640"/>
          </a:xfrm>
          <a:prstGeom prst="rect">
            <a:avLst/>
          </a:prstGeom>
          <a:noFill/>
        </p:spPr>
        <p:txBody>
          <a:bodyPr wrap="square" anchor="ctr" lIns="45720" rIns="45720" tIns="27432" bIns="27432">
            <a:spAutoFit/>
          </a:bodyPr>
          <a:lstStyle/>
          <a:p>
            <a:pPr algn="l"/>
            <a:r>
              <a:rPr sz="1050" b="0" i="0">
                <a:solidFill>
                  <a:srgbClr val="141B2D"/>
                </a:solidFill>
                <a:latin typeface="Calibri"/>
              </a:rPr>
              <a:t>CLAUDE.md per repo</a:t>
            </a:r>
          </a:p>
        </p:txBody>
      </p:sp>
      <p:sp>
        <p:nvSpPr>
          <p:cNvPr id="39" name="TextBox 38"/>
          <p:cNvSpPr txBox="1"/>
          <p:nvPr/>
        </p:nvSpPr>
        <p:spPr>
          <a:xfrm>
            <a:off x="9555480" y="4343400"/>
            <a:ext cx="2057400" cy="548640"/>
          </a:xfrm>
          <a:prstGeom prst="rect">
            <a:avLst/>
          </a:prstGeom>
          <a:noFill/>
        </p:spPr>
        <p:txBody>
          <a:bodyPr wrap="square" anchor="ctr" lIns="45720" rIns="45720" tIns="27432" bIns="27432">
            <a:spAutoFit/>
          </a:bodyPr>
          <a:lstStyle/>
          <a:p>
            <a:pPr algn="l"/>
            <a:r>
              <a:rPr sz="1050" b="0" i="0">
                <a:solidFill>
                  <a:srgbClr val="3B82F6"/>
                </a:solidFill>
                <a:latin typeface="Calibri"/>
              </a:rPr>
              <a:t>Wiki, Knowledge, Playbooks shared org-wide</a:t>
            </a:r>
          </a:p>
        </p:txBody>
      </p:sp>
      <p:sp>
        <p:nvSpPr>
          <p:cNvPr id="40" name="TextBox 39"/>
          <p:cNvSpPr txBox="1"/>
          <p:nvPr/>
        </p:nvSpPr>
        <p:spPr>
          <a:xfrm>
            <a:off x="640080" y="4892040"/>
            <a:ext cx="2331720" cy="548640"/>
          </a:xfrm>
          <a:prstGeom prst="rect">
            <a:avLst/>
          </a:prstGeom>
          <a:noFill/>
        </p:spPr>
        <p:txBody>
          <a:bodyPr wrap="square" anchor="ctr" lIns="45720" rIns="45720" tIns="27432" bIns="27432">
            <a:spAutoFit/>
          </a:bodyPr>
          <a:lstStyle/>
          <a:p>
            <a:pPr algn="l"/>
            <a:r>
              <a:rPr sz="1050" b="1" i="0">
                <a:solidFill>
                  <a:srgbClr val="141B2D"/>
                </a:solidFill>
                <a:latin typeface="Calibri"/>
              </a:rPr>
              <a:t>Runs unattended (schedules, events)</a:t>
            </a:r>
          </a:p>
        </p:txBody>
      </p:sp>
      <p:sp>
        <p:nvSpPr>
          <p:cNvPr id="41" name="TextBox 40"/>
          <p:cNvSpPr txBox="1"/>
          <p:nvPr/>
        </p:nvSpPr>
        <p:spPr>
          <a:xfrm>
            <a:off x="3108960" y="4892040"/>
            <a:ext cx="2011680" cy="548640"/>
          </a:xfrm>
          <a:prstGeom prst="rect">
            <a:avLst/>
          </a:prstGeom>
          <a:noFill/>
        </p:spPr>
        <p:txBody>
          <a:bodyPr wrap="square" anchor="ctr" lIns="45720" rIns="45720" tIns="27432" bIns="27432">
            <a:spAutoFit/>
          </a:bodyPr>
          <a:lstStyle/>
          <a:p>
            <a:pPr algn="l"/>
            <a:r>
              <a:rPr sz="1050" b="0" i="0">
                <a:solidFill>
                  <a:srgbClr val="141B2D"/>
                </a:solidFill>
                <a:latin typeface="Calibri"/>
              </a:rPr>
              <a:t>No</a:t>
            </a:r>
          </a:p>
        </p:txBody>
      </p:sp>
      <p:sp>
        <p:nvSpPr>
          <p:cNvPr id="42" name="TextBox 41"/>
          <p:cNvSpPr txBox="1"/>
          <p:nvPr/>
        </p:nvSpPr>
        <p:spPr>
          <a:xfrm>
            <a:off x="5257800" y="4892040"/>
            <a:ext cx="2011680" cy="548640"/>
          </a:xfrm>
          <a:prstGeom prst="rect">
            <a:avLst/>
          </a:prstGeom>
          <a:noFill/>
        </p:spPr>
        <p:txBody>
          <a:bodyPr wrap="square" anchor="ctr" lIns="45720" rIns="45720" tIns="27432" bIns="27432">
            <a:spAutoFit/>
          </a:bodyPr>
          <a:lstStyle/>
          <a:p>
            <a:pPr algn="l"/>
            <a:r>
              <a:rPr sz="1050" b="0" i="0">
                <a:solidFill>
                  <a:srgbClr val="141B2D"/>
                </a:solidFill>
                <a:latin typeface="Calibri"/>
              </a:rPr>
              <a:t>No</a:t>
            </a:r>
          </a:p>
        </p:txBody>
      </p:sp>
      <p:sp>
        <p:nvSpPr>
          <p:cNvPr id="43" name="TextBox 42"/>
          <p:cNvSpPr txBox="1"/>
          <p:nvPr/>
        </p:nvSpPr>
        <p:spPr>
          <a:xfrm>
            <a:off x="7406640" y="4892040"/>
            <a:ext cx="2011680" cy="548640"/>
          </a:xfrm>
          <a:prstGeom prst="rect">
            <a:avLst/>
          </a:prstGeom>
          <a:noFill/>
        </p:spPr>
        <p:txBody>
          <a:bodyPr wrap="square" anchor="ctr" lIns="45720" rIns="45720" tIns="27432" bIns="27432">
            <a:spAutoFit/>
          </a:bodyPr>
          <a:lstStyle/>
          <a:p>
            <a:pPr algn="l"/>
            <a:r>
              <a:rPr sz="1050" b="0" i="0">
                <a:solidFill>
                  <a:srgbClr val="141B2D"/>
                </a:solidFill>
                <a:latin typeface="Calibri"/>
              </a:rPr>
              <a:t>Scriptable by you</a:t>
            </a:r>
          </a:p>
        </p:txBody>
      </p:sp>
      <p:sp>
        <p:nvSpPr>
          <p:cNvPr id="44" name="TextBox 43"/>
          <p:cNvSpPr txBox="1"/>
          <p:nvPr/>
        </p:nvSpPr>
        <p:spPr>
          <a:xfrm>
            <a:off x="9555480" y="4892040"/>
            <a:ext cx="2057400" cy="548640"/>
          </a:xfrm>
          <a:prstGeom prst="rect">
            <a:avLst/>
          </a:prstGeom>
          <a:noFill/>
        </p:spPr>
        <p:txBody>
          <a:bodyPr wrap="square" anchor="ctr" lIns="45720" rIns="45720" tIns="27432" bIns="27432">
            <a:spAutoFit/>
          </a:bodyPr>
          <a:lstStyle/>
          <a:p>
            <a:pPr algn="l"/>
            <a:r>
              <a:rPr sz="1050" b="0" i="0">
                <a:solidFill>
                  <a:srgbClr val="3B82F6"/>
                </a:solidFill>
                <a:latin typeface="Calibri"/>
              </a:rPr>
              <a:t>Automations built in; Slack/Jira/GitHub triggers</a:t>
            </a:r>
          </a:p>
        </p:txBody>
      </p:sp>
      <p:sp>
        <p:nvSpPr>
          <p:cNvPr id="45" name="Rectangle 44"/>
          <p:cNvSpPr/>
          <p:nvPr/>
        </p:nvSpPr>
        <p:spPr>
          <a:xfrm>
            <a:off x="548640" y="5440680"/>
            <a:ext cx="11109960" cy="548640"/>
          </a:xfrm>
          <a:prstGeom prst="rect">
            <a:avLst/>
          </a:prstGeom>
          <a:solidFill>
            <a:srgbClr val="F4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40080" y="5440680"/>
            <a:ext cx="2331720" cy="548640"/>
          </a:xfrm>
          <a:prstGeom prst="rect">
            <a:avLst/>
          </a:prstGeom>
          <a:noFill/>
        </p:spPr>
        <p:txBody>
          <a:bodyPr wrap="square" anchor="ctr" lIns="45720" rIns="45720" tIns="27432" bIns="27432">
            <a:spAutoFit/>
          </a:bodyPr>
          <a:lstStyle/>
          <a:p>
            <a:pPr algn="l"/>
            <a:r>
              <a:rPr sz="1050" b="1" i="0">
                <a:solidFill>
                  <a:srgbClr val="141B2D"/>
                </a:solidFill>
                <a:latin typeface="Calibri"/>
              </a:rPr>
              <a:t>Security posture</a:t>
            </a:r>
          </a:p>
        </p:txBody>
      </p:sp>
      <p:sp>
        <p:nvSpPr>
          <p:cNvPr id="47" name="TextBox 46"/>
          <p:cNvSpPr txBox="1"/>
          <p:nvPr/>
        </p:nvSpPr>
        <p:spPr>
          <a:xfrm>
            <a:off x="3108960" y="5440680"/>
            <a:ext cx="2011680" cy="548640"/>
          </a:xfrm>
          <a:prstGeom prst="rect">
            <a:avLst/>
          </a:prstGeom>
          <a:noFill/>
        </p:spPr>
        <p:txBody>
          <a:bodyPr wrap="square" anchor="ctr" lIns="45720" rIns="45720" tIns="27432" bIns="27432">
            <a:spAutoFit/>
          </a:bodyPr>
          <a:lstStyle/>
          <a:p>
            <a:pPr algn="l"/>
            <a:r>
              <a:rPr sz="1050" b="0" i="0">
                <a:solidFill>
                  <a:srgbClr val="141B2D"/>
                </a:solidFill>
                <a:latin typeface="Calibri"/>
              </a:rPr>
              <a:t>GitHub enterprise controls</a:t>
            </a:r>
          </a:p>
        </p:txBody>
      </p:sp>
      <p:sp>
        <p:nvSpPr>
          <p:cNvPr id="48" name="TextBox 47"/>
          <p:cNvSpPr txBox="1"/>
          <p:nvPr/>
        </p:nvSpPr>
        <p:spPr>
          <a:xfrm>
            <a:off x="5257800" y="5440680"/>
            <a:ext cx="2011680" cy="548640"/>
          </a:xfrm>
          <a:prstGeom prst="rect">
            <a:avLst/>
          </a:prstGeom>
          <a:noFill/>
        </p:spPr>
        <p:txBody>
          <a:bodyPr wrap="square" anchor="ctr" lIns="45720" rIns="45720" tIns="27432" bIns="27432">
            <a:spAutoFit/>
          </a:bodyPr>
          <a:lstStyle/>
          <a:p>
            <a:pPr algn="l"/>
            <a:r>
              <a:rPr sz="1050" b="0" i="0">
                <a:solidFill>
                  <a:srgbClr val="141B2D"/>
                </a:solidFill>
                <a:latin typeface="Calibri"/>
              </a:rPr>
              <a:t>Privacy mode, SOC 2</a:t>
            </a:r>
          </a:p>
        </p:txBody>
      </p:sp>
      <p:sp>
        <p:nvSpPr>
          <p:cNvPr id="49" name="TextBox 48"/>
          <p:cNvSpPr txBox="1"/>
          <p:nvPr/>
        </p:nvSpPr>
        <p:spPr>
          <a:xfrm>
            <a:off x="7406640" y="5440680"/>
            <a:ext cx="2011680" cy="548640"/>
          </a:xfrm>
          <a:prstGeom prst="rect">
            <a:avLst/>
          </a:prstGeom>
          <a:noFill/>
        </p:spPr>
        <p:txBody>
          <a:bodyPr wrap="square" anchor="ctr" lIns="45720" rIns="45720" tIns="27432" bIns="27432">
            <a:spAutoFit/>
          </a:bodyPr>
          <a:lstStyle/>
          <a:p>
            <a:pPr algn="l"/>
            <a:r>
              <a:rPr sz="1050" b="0" i="0">
                <a:solidFill>
                  <a:srgbClr val="141B2D"/>
                </a:solidFill>
                <a:latin typeface="Calibri"/>
              </a:rPr>
              <a:t>Runs with the dev's local access</a:t>
            </a:r>
          </a:p>
        </p:txBody>
      </p:sp>
      <p:sp>
        <p:nvSpPr>
          <p:cNvPr id="50" name="TextBox 49"/>
          <p:cNvSpPr txBox="1"/>
          <p:nvPr/>
        </p:nvSpPr>
        <p:spPr>
          <a:xfrm>
            <a:off x="9555480" y="5440680"/>
            <a:ext cx="2057400" cy="548640"/>
          </a:xfrm>
          <a:prstGeom prst="rect">
            <a:avLst/>
          </a:prstGeom>
          <a:noFill/>
        </p:spPr>
        <p:txBody>
          <a:bodyPr wrap="square" anchor="ctr" lIns="45720" rIns="45720" tIns="27432" bIns="27432">
            <a:spAutoFit/>
          </a:bodyPr>
          <a:lstStyle/>
          <a:p>
            <a:pPr algn="l"/>
            <a:r>
              <a:rPr sz="1050" b="0" i="0">
                <a:solidFill>
                  <a:srgbClr val="3B82F6"/>
                </a:solidFill>
                <a:latin typeface="Calibri"/>
              </a:rPr>
              <a:t>VPC option, SSO/SCIM, scoped GitHub App, secrets vault, SOC 2</a:t>
            </a:r>
          </a:p>
        </p:txBody>
      </p:sp>
      <p:sp>
        <p:nvSpPr>
          <p:cNvPr id="51" name="TextBox 50"/>
          <p:cNvSpPr txBox="1"/>
          <p:nvPr/>
        </p:nvSpPr>
        <p:spPr>
          <a:xfrm>
            <a:off x="548640" y="6035040"/>
            <a:ext cx="10972800" cy="365760"/>
          </a:xfrm>
          <a:prstGeom prst="rect">
            <a:avLst/>
          </a:prstGeom>
          <a:noFill/>
        </p:spPr>
        <p:txBody>
          <a:bodyPr wrap="square" anchor="t" lIns="45720" rIns="45720" tIns="27432" bIns="27432">
            <a:spAutoFit/>
          </a:bodyPr>
          <a:lstStyle/>
          <a:p>
            <a:pPr algn="l"/>
            <a:r>
              <a:rPr sz="1200" b="0" i="1">
                <a:solidFill>
                  <a:srgbClr val="6B7280"/>
                </a:solidFill>
                <a:latin typeface="Calibri"/>
              </a:rPr>
              <a:t>Position: keep Cursor/Copilot for the engineer in the loop. Devin is for the work you want off the engineer's plate.</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cp:coreProperties>
</file>